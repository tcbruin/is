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64549"/>
                </a:solidFill>
                <a:latin typeface="Epilogue"/>
              </a:defRPr>
            </a:pPr>
            <a:r>
              <a:rPr sz="1400" b="0" i="0" u="none" strike="noStrike">
                <a:solidFill>
                  <a:srgbClr val="264549"/>
                </a:solidFill>
                <a:latin typeface="Epilogue"/>
              </a:rPr>
              <a:t>Active minutes per lead</a:t>
            </a:r>
          </a:p>
        </c:rich>
      </c:tx>
      <c:layout/>
      <c:overlay val="0"/>
    </c:title>
    <c:autoTitleDeleted val="0"/>
    <c:plotArea>
      <c:layout/>
      <c:barChart>
        <c:barDir val="col"/>
        <c:grouping val="clustered"/>
        <c:varyColors val="0"/>
        <c:ser>
          <c:idx val="0"/>
          <c:order val="0"/>
          <c:tx>
            <c:strRef>
              <c:f>Sheet1!$B$1</c:f>
              <c:strCache>
                <c:ptCount val="1"/>
                <c:pt idx="0">
                  <c:v>Active minutes per lead</c:v>
                </c:pt>
              </c:strCache>
            </c:strRef>
          </c:tx>
          <c:spPr>
            <a:solidFill>
              <a:srgbClr val="B7C4C2"/>
            </a:solidFill>
            <a:effectLst/>
          </c:spPr>
          <c:invertIfNegative val="0"/>
          <c:dLbls>
            <c:numFmt formatCode="#,##0" sourceLinked="0"/>
            <c:txPr>
              <a:bodyPr/>
              <a:lstStyle/>
              <a:p>
                <a:pPr>
                  <a:defRPr b="0" i="0" strike="noStrike" sz="1200" u="none">
                    <a:solidFill>
                      <a:srgbClr val="264549"/>
                    </a:solidFill>
                    <a:latin typeface="Arial"/>
                  </a:defRPr>
                </a:pPr>
              </a:p>
            </c:txPr>
            <c:showLegendKey val="0"/>
            <c:showVal val="1"/>
            <c:showCatName val="0"/>
            <c:showSerName val="0"/>
            <c:showPercent val="0"/>
            <c:showBubbleSize val="0"/>
            <c:showLeaderLines val="0"/>
          </c:dLbls>
          <c:dPt>
            <c:idx val="0"/>
            <c:invertIfNegative val="0"/>
            <c:bubble3D val="0"/>
            <c:spPr>
              <a:solidFill>
                <a:srgbClr val="B7C4C2"/>
              </a:solidFill>
              <a:effectLst/>
            </c:spPr>
          </c:dPt>
          <c:dPt>
            <c:idx val="1"/>
            <c:invertIfNegative val="0"/>
            <c:bubble3D val="0"/>
            <c:spPr>
              <a:solidFill>
                <a:srgbClr val="FF5713"/>
              </a:solidFill>
              <a:effectLst/>
            </c:spPr>
          </c:dPt>
          <c:cat>
            <c:multiLvlStrRef>
              <c:f>Sheet1!$A$2:$A$3</c:f>
              <c:multiLvlStrCache>
                <c:ptCount val="2"/>
                <c:lvl>
                  <c:pt idx="0">
                    <c:v>Manual</c:v>
                  </c:pt>
                  <c:pt idx="1">
                    <c:v>With product</c:v>
                  </c:pt>
                </c:lvl>
              </c:multiLvlStrCache>
            </c:multiLvlStrRef>
          </c:cat>
          <c:val>
            <c:numRef>
              <c:f>Sheet1!$B$2:$B$3</c:f>
              <c:numCache>
                <c:formatCode>General</c:formatCode>
                <c:ptCount val="2"/>
                <c:pt idx="0">
                  <c:v>60</c:v>
                </c:pt>
                <c:pt idx="1">
                  <c:v>20</c:v>
                </c:pt>
              </c:numCache>
            </c:numRef>
          </c:val>
        </c:ser>
        <c:dLbls>
          <c:numFmt formatCode="#,##0" sourceLinked="0"/>
          <c:txPr>
            <a:bodyPr/>
            <a:lstStyle/>
            <a:p>
              <a:pPr>
                <a:defRPr b="0" i="0" strike="noStrike" sz="1200" u="none">
                  <a:solidFill>
                    <a:srgbClr val="264549"/>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E5559"/>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A     RUBRIC: Communication (5%)     LAB PHASE: — (opening)
WHAT THIS SLIDE DOES: Tells the audience in one sentence what problem we solve, for whom, and what the promise is.
WHAT MUST BE ON IT:
- Title = the promise (sales call → tailored proposal + PoC, same day)
- One subtitle: GenAI replaces manual work, consultant keeps the decisions
- Team names, course, date, Track A
- One real screenshot of the product (dashboard)
STILL TO FILL IN:
- [Team names] · [Course code] · [Date]
COURSE CONCEPT: None on this slide — keep it clean.
PREP QUESTION ANSWERED: —
SCORE A 5: The title already states the value, not the technology ('AI tool'). Technology is a means, not the goal.
SAY (≈1 min): Datavance is a small BI consultancy for Dutch SMEs. Today every sales call turns into days of manual work before the client sees anything. We built and tested a way to go from call to a tailored proposal and a working PoC dashboard the same day — with the consultant in control at every step.
TRANSITION: 'Let's start with how pre-sales works today — and why that is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A     RUBRIC: Problem &amp; Opportunity (15%)     LAB PHASE: DISRUPT, Session 1
WHAT THIS SLIDE DOES: Proves there is a real, important problem at Datavance and states our disruption hypothesis.
WHAT MUST BE ON IT:
- How it works by hand today (notes → Word → demo on sample data)
- The pain in numbers: hours per lead, days of delay
- Evidence: one real consultant quote + one measured number
- Who benefits (consultant, SME client, Datavance)
- The S1 hypothesis sentence: 'GenAI creates an opportunity to … because …'
STILL TO FILL IN:
- [x] hours per lead — ask 2–3 consultants how long one proposal + demo takes (median)
- [Quote] + [Name, role] — from the consultant interview in week 1
- Optional: number of leads per month (also needed on slide 8)
COURSE CONCEPT: Iansiti &amp; Lakhani (2020): AI changes scale, scope and learning → our pain is exactly a scale problem (every lead = manual work). S1 hypothesis template.
PREP QUESTION ANSWERED: S1 Q5: 'Identify one strategically important problem an appropriate emerging technology could change. Complete: GenAI creates an opportunity to ___ because ___.'
SCORE A 5: Real evidence from Datavance (interview + measured hours), not only claims. The problem is stated without mentioning the tool first.
SAY (≈1 min): Today a consultant takes notes during the sales call, then spends hours writing a Word proposal and building a demo on sample data. The client waits days and then sees a generic demo. [Quote]. Our hypothesis: GenAI can turn every call into a tailored proposal and PoC the same day, because it can read the needs from a transcript — while code keeps the numbers trustworthy.
TRANSITION: 'Why is this urgent now? Because GenAI changes the competitive forces in our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A     RUBRIC: Problem &amp; Opportunity (15%) + Application of Course Concepts (20%)     LAB PHASE: DISRUPT, Session 1
WHAT THIS SLIDE DOES: Shows why GenAI makes this problem strategic now, and what Datavance can still defend.
WHAT MUST BE ON IT:
- Only the 1–2 forces that change most, each with its mechanism (S1 says 1–2, not all five)
- Newly-vulnerable test: easy to enter, attractive to attack, hard to defend
- Access to AI is no moat (Barney &amp; Reeves)
- What stays scarce = our defensible complements
- The choice this leads to
STILL TO FILL IN:
- Optional: one example of a competitor / freelancer already offering AI dashboards
COURSE CONCEPT: Session 1: Five Forces + 'newly vulnerable market' framework; Barney &amp; Reeves (2024) 'AI Won't Give You a New Sustainable Advantage' → choice: augment with AI now, defend with complements.
PREP QUESTION ANSWERED: S1 Q1–Q3: 'Which one or two competitive forces change most, and through what mechanism? … Who becomes newly vulnerable? … What complementary assets could remain defensible?'
SCORE A 5: The analysis leads to a decision (adopt now, defend with complements) instead of listing all five forces.
SAY (≈1 min): Two forces change most. Buyers can compare faster and now expect a tailored PoC for free. And the barrier to making a first demo has collapsed. That makes small consultancies like us newly vulnerable. But the AI itself is available to everyone — so our edge must come from what stays scarce: source-system know-how, relationships and our own playbook.
TRANSITION: 'So how does that change our business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B     RUBRIC: Business Model &amp; Strategic Design (20%) + Application of Course Concepts (20%)     LAB PHASE: DESIGN, Session 2
WHAT THIS SLIDE DOES: Shows how value creation, delivery and capture change — and which strategic position we choose.
WHAT MUST BE ON IT:
- Current vs proposed value-logic map (create / deliver / capture) — S2 asks for exactly this
- Weill &amp; Woerner position: supplier → toward omnichannel
- Classification: sustaining vs disruptive vs decoupling (and name the decoupling threat)
- Cook et al. ladder: where we are, where we go
- Eastwood agentic model: Existing+
- One rejected alternative with its trade-off
- Two critical assumptions (say them; they are tested on slide 11)
STILL TO FILL IN:
- [win rate] today and expected — ask Datavance or mark as assumption
- Critical assumptions to say out loud: A1 consultants edit &lt; [x]% and save ≥ [y] h per lead; A2 a tailored PoC wins more than a generic demo
COURSE CONCEPT: Session 2: Weill &amp; Woerner (2013) 'Optimizing Your Digital Business Model'; Cook, Hagiu &amp; Wright (2024) public tools → proprietary customization → feedback loops; Eastwood (2026) Existing+ / Customer Proxy / Modular Creator / Orchestrator → choice: stay in the value chain, own the PoC step, build toward level 3.
PREP QUESTION ANSWERED: S2 Q1–Q4: Weill-Woerner classification; 'disruptive, sustaining, or decoupling?'; 'what proprietary data and natural customer-feedback signal could create a self-reinforcing advantage?'; which agentic model fits.
SCORE A 5: Frameworks make a decision (value chain, own the PoC, level 3) and one alternative is explicitly rejected with a trade-off.
SAY (≈1 min): Datavance stays a supplier in the value chain, but the product gives us knowledge of the client from the very first call — moving us toward omnichannel. It is a sustaining innovation of our own process; the threat is that AI tools decouple the first PoC from consultancies, so we own that step. We rejected selling it as SaaS. Our real advantage grows when we climb the ladder: from a public LLM, to our own templates, to a feedback loop on edits and won deals.
TRANSITION: 'What does this look like in the daily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C     RUBRIC: Prototype, Experimentation &amp; Evidence (20%) + Application of Course Concepts (20%)     LAB PHASE: BUILD, Session 3
WHAT THIS SLIDE DOES: Shows exactly what changes in the workflow and why this technology fits better than simpler options.
WHAT MUST BE ON IT:
- Current vs proposed workflow (S3 asks for both)
- Where the technology changes information, decisions, interactions or actions
- Per step: augment / automate / reinvent (Wilson &amp; Daugherty)
- Where the consultant decides
- Why this fits better than alternatives, including a simpler solution (templates)
STILL TO FILL IN:
- Check the 4 steps match the demo exactly
- Optional: time per step by hand, if you have it from the interviews
COURSE CONCEPT: Session 3: Wilson &amp; Daugherty (2024) augment / automate / reinvent; task–technology fit; Mantia, Chatterjee &amp; Lee (2025) explicit operating controls → choice: split architecture with human decision points.
PREP QUESTION ANSWERED: S3 Q2–Q3: 'Why is your chosen technology a better fit than plausible alternatives? What changes in the workflow, information flow, or user interaction?'
SCORE A 5: The simpler alternative (templates) is compared honestly and the choice for the hybrid is argued, not assumed.
SAY (≈1 min): Top: today, everything is manual. Bottom: with the product. The AI extracts the needs from the transcript, asks a few short questions, drafts the proposal and designs a dashboard for this client's problem. The consultant decides at every step. A template tool can't adapt to the client, a pure LLM invents numbers — so we split it: AI for language and design, code for every number.
TRANSITION: 'Let me show you —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C     RUBRIC: Prototype, Experimentation &amp; Evidence (20%) + Communication (5%)     LAB PHASE: BUILD, Session 3
WHAT THIS SLIDE DOES: Makes the value mechanism observable: the audience sees the product work, then the live demo starts.
WHAT MUST BE ON IT:
- 3 screenshots: questions, Word proposal, dashboard — one caption each
- One tech line only (technology is a means)
- Switch to the live demo (≈2 min)
- Backup: demo recording ready in case the internet or API fails
STILL TO FILL IN:
- Replace screenshots if the UI changes before the presentation
- Pick the demo scenario (Verkerk recommended) and rehearse in 'snel' (replay) mode
COURSE CONCEPT: Session 3: a working prototype 'where feasible' that makes the proposed value mechanism observable.
PREP QUESTION ANSWERED: S3 Lab: 'Develop a working prototype where feasible, or a credible simulation or mock-up.'
SCORE A 5: The demo shows the user's work (what the consultant does and decides), not the code. Keep it under 2 minutes and rehearsed.
SAY (≈1 min): Here are the three outputs. [Switch to demo] I paste the transcript, the AI asks four short questions — I answer two and let it estimate the rest. The proposal appears as Word pages I can edit. Then the dashboard: designed for this client's problem, with every number computed by code, labelled as illustrative data.
TRANSITION: 'But will a prospect trust this? That is the market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C     RUBRIC: Application of Course Concepts (20%) + Critical Evaluation &amp; Recommendation (20%)     LAB PHASE: MARKET TEST, Session 7
WHAT THIS SLIDE DOES: Explains why a prospect can trust the output, and stress-tests one gaming risk — then shows how we revised the design.
WHAT MUST BE ON IT:
- Split description, performance and fit uncertainty (Dimoka et al.) + seller uncertainty
- Per uncertainty: the mechanism (signaling, screening, verification, reputation)
- One strategic behaviour / gaming risk (free-riding on the PoC)
- The revision it caused
- The contrast with the manual process: a generic demo reduces none of these uncertainties
STILL TO FILL IN:
- Optional: a real prospect reaction to a PoC, if the pilot produced one
COURSE CONCEPT: Session 7: Dimoka, Hong &amp; Pavlou (2012) product vs seller uncertainty (description, performance, fit); signaling, screening, reputation, verification, guarantees → choice: PoC as trust mechanism, real data only after signing.
PREP QUESTION ANSWERED: S7 Q3: 'In your team project, what information, trust, or incentive problem could limit adoption or exchange, and what mechanism could address it?'
SCORE A 5: The stress test actually changes the design (revision), instead of only naming the risk.
SAY (≈1 min): A prospect faces three uncertainties. Is the proposal what we discussed? Will BI deliver? Does it fit our data? The manual generic demo answers none of these. Our PoC is a signal and a verification: built from their own words, with checked quotes and code-computed numbers. We stress-tested one gaming risk — a prospect shopping our free PoC to a cheaper rival — and revised: real data only after signing.
TRANSITION: 'What does this cost — and what is it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B     RUBRIC: Business Model &amp; Strategic Design (20%) + Application of Course Concepts (20%)     LAB PHASE: MONETIZE, Session 4
WHAT THIS SLIDE DOES: Shows the cost model and value logic in numbers, and the pricing architecture with one rejected alternative.
WHAT MUST BE ON IT:
- Fixed setup cost vs variable cost per meaningful unit (lead)
- Manual cost per lead as the baseline
- Savings per month
- Meter choice (job) + credible alternatives rejected (seat, outcome)
- Versioning Basic / Premium and why it is incentive compatible
- The weakest assumption
STILL TO FILL IN:
- [hourly rate] and [leads per month] — ask Datavance
- [hours] manual per lead — from slide 2 interviews
- [review minutes] per lead — from the pilot (evaluation page)
- Verify €0.005 against DeepSeek's current price list before presenting
COURSE CONCEPT: Session 4: Shapiro &amp; Varian 'Versioning Information Goods' (self-selection, incentive compatibility); Smith &amp; Telang (bundling); BCG (2025) seat compression, usage/job/outcome meters → choice: job meter + Basic/Premium.
PREP QUESTION ANSWERED: S4 Q5: 'For an AI product, choose a seat, usage, job, outcome or hybrid meter. What can both buyer and seller actually measure and verify?' and Q3 on Basic/Premium.
SCORE A 5: Only validated numbers or clearly marked assumptions, a compared alternative, and the weakest assumption named out loud.
SAY (≈1 min): The AI costs about half a cent and twenty seconds per lead. The real cost is consultant time: [x] euro per lead by hand. That makes the savings [€ per month]. If we offer it to clients, we price per job — one pre-sales package — because both sides can count it. Per seat fails because AI shrinks seats, per outcome fails because nobody can prove who won the deal. Our weakest assumption is [lead volume].
TRANSITION: 'Where does this tool sit in the wider ecosystem — and who could squeeze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A     RUBRIC: Business Model &amp; Strategic Design (20%) + Application of Course Concepts (20%)     LAB PHASE: MAP, Session 5
WHAT THIS SLIDE DOES: Positions the product in its ecosystem, states clearly it is not a platform, and names the biggest envelopment threat.
WHAT MUST BE ON IT:
- Ecosystem map: users, complementors, suppliers/infrastructure, competitors
- The core interaction
- 'If the solution is not a platform, state this clearly' (S5 literally asks this)
- Network effects diagnosis with mechanism (and the negative one)
- One envelopment scenario + its type
- The defensibility choice that follows
STILL TO FILL IN:
- Check the list of complementors with Datavance (which source systems matter most?)
COURSE CONCEPT: Session 5: Van Alstyne, Parker &amp; Choudary (2016) pipelines vs platforms; Eisenmann, Parker &amp; Van Alstyne (2006) two-sided markets; envelopment of complements / weak substitutes / unrelated platforms → choice: build on M365, defend with Datavance-specific assets.
PREP QUESTION ANSWERED: S5 Q5: 'How could another platform envelop the focal platform? Classify the move as envelopment of complements, weak substitutes, or unrelated platforms.'
SCORE A 5: Saying honestly that it is not a platform (and why) scores higher than forcing platform language onto it.
SAY (≈1 min): Our tool is a pipeline, not a platform: it sits between the consultant and the prospect, on top of Microsoft 365, Power BI and the client's source systems. There are no real network effects — only a learning effect from edits and outcomes. The biggest threat is Microsoft: Copilot already owns the transcript, Word and Power BI. So we build on top of it and defend with what Microsoft doesn't have: our templates, source-system know-how and verified numbers.
TRANSITION: 'Let's zoom into the decision the AI supports — with the AI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C     RUBRIC: Application of Course Concepts (20%)     LAB PHASE: TEST, Session 6
WHAT THIS SLIDE DOES: Decomposes the AI-supported decision and identifies which element limits value creation.
WHAT MUST BE ON IT:
- The focal decision in one sentence
- All 7 elements: prediction, judgment, action, outcome, input, training, feedback
- Which element limits value (feedback) and why
- How this connects to the recommendation (slide 15)
STILL TO FILL IN:
- Check the 7 boxes against what the product really does today
COURSE CONCEPT: Session 6: Agrawal, Gans &amp; Goldfarb (2018) 'A Simple Tool to Start Making Decisions with the Help of AI' (AI Canvas) → choice: humans keep judgment; fix the feedback element first.
PREP QUESTION ANSWERED: S6 Q1: 'Choose one decision in your project. Complete the seven elements of the AI Canvas and identify which element currently limits value creation.'
SCORE A 5: The canvas is used to find a weakness that changes the recommendation — not just filled in.
SAY (≈1 min): The decision: which scope and PoC fit this prospect. The AI predicts the problem and designs the dashboard; the consultant judges scope, price and risk. The weak link is feedback: we log every edit, but we don't yet know which proposals won. Without that, the system can't learn what works — so that is the first thing we fix.
TRANSITION: 'Does it actually work better than the manual process? Here is how we test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D     RUBRIC: Prototype, Experimentation &amp; Evidence (20%)     LAB PHASE: TEST, Session 6
WHAT THIS SLIDE DOES: Specifies the causal test that compares the product with the manual baseline.
WHAT MUST BE ON IT:
- Treatment and comparison condition (product vs manual)
- Unit of randomization
- Primary outcome / overall evaluation criterion (OEC)
- Guardrail metrics
- Sample or task set
- Main source of bias and how you handle it
- Decision rule fixed before seeing the data
STILL TO FILL IN:
- [n] transcripts and [k] consultants — plan in week 2 (e.g. 6 transcripts × 3 consultants, each does 3 manual + 3 with product)
- [x]% threshold — agree as a team before the pilot
- [how handled] — e.g. counterbalanced order, a rater who doesn't know which version is which
COURSE CONCEPT: Session 6: Kohavi &amp; Thomke (2017) 'The Surprising Power of Online Experiments' — intuition is unreliable, randomization identifies causal effects; OEC + guardrails → choice: decide by rule, not by gut.
PREP QUESTION ANSWERED: S6 Q2–Q3: 'Specify the treatment, control condition, unit of randomization, and primary outcome … Which guardrail metric could reveal that an apparent improvement creates harm elsewhere?'
SCORE A 5: A clear manual baseline, honest bias handling and a decision rule written down before the results.
SAY (≈1 min): We compare each consultant with themselves: some leads by hand, some with the product, in random order. The main outcome is active minutes to a send-ready package — the app measures this automatically. Guardrails make sure faster doesn't mean worse: a blind quality score and zero invented figures. And we fixed the decision rule before we saw any data.
TRANSITION: 'So — what did we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D     RUBRIC: Prototype, Experimentation &amp; Evidence (20%)     LAB PHASE: TEST, Session 6
WHAT THIS SLIDE DOES: Shows real results against the manual baseline — including what did not work and what we changed.
WHAT MUST BE ON IT:
- Pilot result vs manual baseline: active time, quality, % edited
- Product measurements: ≈20 s, ≈€0.005, 16/21 figures verified (3 misquotes rejected, 2 misuses caught)
- What we learned and what we changed (learning &amp; iteration)
- Honest framing: small n = indicative, not proof
- Verdict against the decision rule of slide 11
STILL TO FILL IN:
- Title: replace with the real main result
- All [ ] numbers — export the CSV from /evaluatie after the pilot
- [learning → change] — two concrete changes after the pilot
- Chart on the right: right-click → Edit Data and enter the real manual vs product minutes (60 / 20 are placeholders!)
COURSE CONCEPT: Session 6: causal vs correlational evidence; OEC + guardrails; scale only if evidence justifies it.
PREP QUESTION ANSWERED: S6 Lab: 'establish causal value and decide whether to scale.'
SCORE A 5: Real numbers from real users, including failures and what they changed — no cherry-picking.
SAY (≈1 min): In the pilot, active time per lead went from [x] to [y] minutes, with quality [not lower]. The AI part itself takes 20 seconds and half a cent. Of 21 figures the AI wanted to use, 16 were verified; 3 misquotes were rejected automatically. We learned [..] and changed [..]. With n = [ ], this is indicative — and it [meets] our decision rule.
TRANSITION: 'Of course, things can go wrong. Here is what we saw and how we guard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D     RUBRIC: Critical Evaluation &amp; Recommendation (20%)     LAB PHASE: TEST, Session 6
WHAT THIS SLIDE DOES: Shows honest failure analysis, the ethical/regulatory risk, and the safeguards that must hold before scaling.
WHAT MUST BE ON IT:
- Failures seen in testing: invented norm, misquote, over-reliance
- One ethical/regulatory risk (privacy/GDPR), who is affected
- One safeguard or monitoring metric that must be satisfied before scaling
- Operating controls: human checkpoints, nothing auto-sent
- Limitations of our own test
- Adoption barriers
STILL TO FILL IN:
- [over-reliance example] — from pilot observations
- Check: does Datavance already have a DPA / consent practice for call recordings?
COURSE CONCEPT: Session 6: ethics, transparency, accountability + 'one safeguard before scaling'; Mantia, Chatterjee &amp; Lee (2025) explicit operating controls; Session 1 Smart Card case (adoption barriers) → choice: human approval always, privacy gate before scaling.
PREP QUESTION ANSWERED: S6 Q4: 'How should a firm balance the business value created by AI … against potential risks involving manipulation, discrimination, privacy, transparency, and regulatory compliance?'
SCORE A 5: Real failures shown openly with their fixes; hiding failures costs more points than showing them.
SAY (≈1 min): We saw real failures: the AI proposed a norm nobody mentioned, and three quotes didn't match the transcript — both are now caught automatically. The biggest open risk is privacy: transcripts go to DeepSeek outside the EU. So before scaling there is a hard gate: EU-hosted model, recording consent and a PII check. And nothing ever leaves Datavance without a consultant's decision.
TRANSITION: 'Now let's look further ahead: what if everyone has AI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B     RUBRIC: Critical Evaluation &amp; Recommendation (20%)     LAB PHASE: REIMAGINE, Session 8
WHAT THIS SLIDE DOES: Stress-tests our strategy in a world where everyone has capable agents: which advantage disappears, which stays.
WHAT MUST BE ON IT:
- Scenario: customers, competitors and platforms all deploy agents (S8 literally asks this)
- Which current advantage disappears (our speed advantage!)
- The scarce complement that remains defensible
- Which agentic rails matter and our move there
- Path from Existing+ toward Orchestrator
STILL TO FILL IN:
- Optional: a real example of a procurement / RFP agent in B2B
COURSE CONCEPT: Session 8: Yerramilli-Rao, Corwin, Li &amp; Lakhani (2025) 'Strategy in an Era of Abundant Expertise' (what becomes abundant vs scarce); Walsh (2026) 'Who Will Own the AI Agent Economy?' (identity, discovery, verification, interoperability, marketplaces, payments); Eastwood (2026) → choice: invest in context, verifiability.
PREP QUESTION ANSWERED: S8 Q2: 'If AI makes … expertise widely available, what capabilities or assets will continue to differentiate firms?'
SCORE A 5: Admit that our own current advantage (speed) disappears — don't only list opportunities.
SAY (≈1 min): Imagine every prospect has a buying agent and every rival has our pipeline. Then fast, polished proposals are worth nothing — including ours. What stays scarce is context, trust and delivery. So our move is to make proposals machine-readable and verifiable, so a buyer's agent can check them — and to invest in our own context layer, not in the model.
TRANSITION: 'So what do we recommend Datavance does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Person D presents; written together in the week-3 team session     RUBRIC: Critical Evaluation &amp; Recommendation (20%)     LAB PHASE: TEST → decision, Session 6 (+ S1, S8)
WHAT THIS SLIDE DOES: Gives a clear, evidence-based recommendation: what to implement, change, scale, stop and test next.
WHAT MUST BE ON IT:
- Implement / change / scale / stop / test next
- Each point traceable to slides 10–13 (canvas weak link, test, evidence, risks)
- The decision rule restated
- Why adaptation instead of reinvention
STILL TO FILL IN:
- [k] consultants, [8] weeks, [x]% — must match slide 11
- If the pilot result does NOT meet the rule: change 'Scale' into 'Adjust [..] and retest' — the rubric rewards honesty
COURSE CONCEPT: Furr &amp; Shipilov (2019) 'Digital Doesn't Have to Be Disruptive' (S1) — adapt rather than reinvent; Session 6: scale only when evidence justifies it.
PREP QUESTION ANSWERED: S6 central question: '… decide whether the evidence justifies scaling.'
SCORE A 5: Every recommendation follows from our own evidence and risks — if the data says otherwise, the recommendation changes.
SAY (≈1 min): Our recommendation: start an internal pilot, fix privacy first with an EU-hosted model, and start logging win/loss so the system can learn. Scale only when the decision rule is met. Stop the idea of selling it as SaaS. Next, test whether a tailored PoC really wins more deals. We don't reinvent Datavance — we remove the manual work so consultants can do what stays scarce.
TRANSITION: 'Thank you — happy to take your questions.' (Keep the demo open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4549"/>
        </a:solidFill>
      </p:bgPr>
    </p:bg>
    <p:spTree>
      <p:nvGrpSpPr>
        <p:cNvPr id="1" name=""/>
        <p:cNvGrpSpPr/>
        <p:nvPr/>
      </p:nvGrpSpPr>
      <p:grpSpPr>
        <a:xfrm>
          <a:off x="0" y="0"/>
          <a:ext cx="0" cy="0"/>
          <a:chOff x="0" y="0"/>
          <a:chExt cx="0" cy="0"/>
        </a:xfrm>
      </p:grpSpPr>
      <p:sp>
        <p:nvSpPr>
          <p:cNvPr id="2" name="Text 0"/>
          <p:cNvSpPr txBox="1"/>
          <p:nvPr/>
        </p:nvSpPr>
        <p:spPr>
          <a:xfrm>
            <a:off x="548640" y="822960"/>
            <a:ext cx="5852160" cy="274320"/>
          </a:xfrm>
          <a:prstGeom prst="rect">
            <a:avLst/>
          </a:prstGeom>
          <a:noFill/>
          <a:ln/>
        </p:spPr>
        <p:txBody>
          <a:bodyPr wrap="square" lIns="0" tIns="0" rIns="0" bIns="0" rtlCol="0" anchor="t"/>
          <a:lstStyle/>
          <a:p>
            <a:pPr indent="0" marL="0">
              <a:buNone/>
            </a:pPr>
            <a:r>
              <a:rPr lang="en-US" sz="1200" b="1" spc="200" kern="0" dirty="0">
                <a:solidFill>
                  <a:srgbClr val="FF9100"/>
                </a:solidFill>
                <a:latin typeface="Manrope" pitchFamily="34" charset="0"/>
                <a:ea typeface="Manrope" pitchFamily="34" charset="-122"/>
                <a:cs typeface="Manrope" pitchFamily="34" charset="-120"/>
              </a:rPr>
              <a:t>AI STRATEGY LAB · FINAL PRESENTATION · TRACK A</a:t>
            </a:r>
            <a:endParaRPr lang="en-US" sz="1200" dirty="0"/>
          </a:p>
        </p:txBody>
      </p:sp>
      <p:sp>
        <p:nvSpPr>
          <p:cNvPr id="3" name="Text 1"/>
          <p:cNvSpPr txBox="1"/>
          <p:nvPr/>
        </p:nvSpPr>
        <p:spPr>
          <a:xfrm>
            <a:off x="548640" y="1280160"/>
            <a:ext cx="5760720" cy="2377440"/>
          </a:xfrm>
          <a:prstGeom prst="rect">
            <a:avLst/>
          </a:prstGeom>
          <a:noFill/>
          <a:ln/>
        </p:spPr>
        <p:txBody>
          <a:bodyPr wrap="square" lIns="0" tIns="0" rIns="0" bIns="0" rtlCol="0" anchor="t"/>
          <a:lstStyle/>
          <a:p>
            <a:pPr indent="0" marL="0">
              <a:buNone/>
            </a:pPr>
            <a:r>
              <a:rPr lang="en-US" sz="3800" b="1" dirty="0">
                <a:solidFill>
                  <a:srgbClr val="FFFAF5"/>
                </a:solidFill>
                <a:latin typeface="Epilogue" pitchFamily="34" charset="0"/>
                <a:ea typeface="Epilogue" pitchFamily="34" charset="-122"/>
                <a:cs typeface="Epilogue" pitchFamily="34" charset="-120"/>
              </a:rPr>
              <a:t>From sales call to a tailored proposal and PoC dashboard — the same day</a:t>
            </a:r>
            <a:endParaRPr lang="en-US" sz="3800" dirty="0"/>
          </a:p>
        </p:txBody>
      </p:sp>
      <p:sp>
        <p:nvSpPr>
          <p:cNvPr id="4" name="Text 2"/>
          <p:cNvSpPr txBox="1"/>
          <p:nvPr/>
        </p:nvSpPr>
        <p:spPr>
          <a:xfrm>
            <a:off x="548640" y="3794760"/>
            <a:ext cx="5486400" cy="914400"/>
          </a:xfrm>
          <a:prstGeom prst="rect">
            <a:avLst/>
          </a:prstGeom>
          <a:noFill/>
          <a:ln/>
        </p:spPr>
        <p:txBody>
          <a:bodyPr wrap="square" lIns="0" tIns="0" rIns="0" bIns="0" rtlCol="0" anchor="t"/>
          <a:lstStyle/>
          <a:p>
            <a:pPr indent="0" marL="0">
              <a:buNone/>
            </a:pPr>
            <a:r>
              <a:rPr lang="en-US" sz="1600" dirty="0">
                <a:solidFill>
                  <a:srgbClr val="C9D8D6"/>
                </a:solidFill>
                <a:latin typeface="Manrope" pitchFamily="34" charset="0"/>
                <a:ea typeface="Manrope" pitchFamily="34" charset="-122"/>
                <a:cs typeface="Manrope" pitchFamily="34" charset="-120"/>
              </a:rPr>
              <a:t>How Datavance uses GenAI to replace a fully manual pre-sales process, while consultants keep every decision.</a:t>
            </a:r>
            <a:endParaRPr lang="en-US" sz="1600" dirty="0"/>
          </a:p>
        </p:txBody>
      </p:sp>
      <p:sp>
        <p:nvSpPr>
          <p:cNvPr id="5" name="Text 3"/>
          <p:cNvSpPr txBox="1"/>
          <p:nvPr/>
        </p:nvSpPr>
        <p:spPr>
          <a:xfrm>
            <a:off x="548640" y="5212080"/>
            <a:ext cx="5486400" cy="320040"/>
          </a:xfrm>
          <a:prstGeom prst="rect">
            <a:avLst/>
          </a:prstGeom>
          <a:noFill/>
          <a:ln/>
        </p:spPr>
        <p:txBody>
          <a:bodyPr wrap="square" lIns="0" tIns="0" rIns="0" bIns="0" rtlCol="0" anchor="t"/>
          <a:lstStyle/>
          <a:p>
            <a:pPr indent="0" marL="0">
              <a:buNone/>
            </a:pPr>
            <a:r>
              <a:rPr lang="en-US" sz="1300" dirty="0">
                <a:solidFill>
                  <a:srgbClr val="FFFAF5"/>
                </a:solidFill>
                <a:latin typeface="Manrope" pitchFamily="34" charset="0"/>
                <a:ea typeface="Manrope" pitchFamily="34" charset="-122"/>
                <a:cs typeface="Manrope" pitchFamily="34" charset="-120"/>
              </a:rPr>
              <a:t>[Team names] · [Course code] · [Date]</a:t>
            </a:r>
            <a:endParaRPr lang="en-US" sz="1300" dirty="0"/>
          </a:p>
        </p:txBody>
      </p:sp>
      <p:sp>
        <p:nvSpPr>
          <p:cNvPr id="6" name="Text 4"/>
          <p:cNvSpPr txBox="1"/>
          <p:nvPr/>
        </p:nvSpPr>
        <p:spPr>
          <a:xfrm>
            <a:off x="548640" y="5577840"/>
            <a:ext cx="5486400" cy="274320"/>
          </a:xfrm>
          <a:prstGeom prst="rect">
            <a:avLst/>
          </a:prstGeom>
          <a:noFill/>
          <a:ln/>
        </p:spPr>
        <p:txBody>
          <a:bodyPr wrap="square" lIns="0" tIns="0" rIns="0" bIns="0" rtlCol="0" anchor="t"/>
          <a:lstStyle/>
          <a:p>
            <a:pPr indent="0" marL="0">
              <a:buNone/>
            </a:pPr>
            <a:r>
              <a:rPr lang="en-US" sz="1100" dirty="0">
                <a:solidFill>
                  <a:srgbClr val="A9BEBC"/>
                </a:solidFill>
                <a:latin typeface="Manrope" pitchFamily="34" charset="0"/>
                <a:ea typeface="Manrope" pitchFamily="34" charset="-122"/>
                <a:cs typeface="Manrope" pitchFamily="34" charset="-120"/>
              </a:rPr>
              <a:t>Datavance · BI consultancy for Dutch SMEs</a:t>
            </a:r>
            <a:endParaRPr lang="en-US" sz="1100" dirty="0"/>
          </a:p>
        </p:txBody>
      </p:sp>
      <p:pic>
        <p:nvPicPr>
          <p:cNvPr id="7" name="Image 0" descr="C:\Users\ThijsBruin\AppData\Local\Temp\claude\c--Users-ThijsBruin-OneDrive---DataVance-Desktop-IS\e42be56d-1f84-40d0-8ce8-0ab84bc65576\scratchpad\deck-img\dash-kramer.png">    </p:cNvPr>
          <p:cNvPicPr>
            <a:picLocks noChangeAspect="1"/>
          </p:cNvPicPr>
          <p:nvPr/>
        </p:nvPicPr>
        <p:blipFill>
          <a:blip r:embed="rId1"/>
          <a:stretch>
            <a:fillRect/>
          </a:stretch>
        </p:blipFill>
        <p:spPr>
          <a:xfrm>
            <a:off x="6675120" y="1737360"/>
            <a:ext cx="4965192" cy="2788920"/>
          </a:xfrm>
          <a:prstGeom prst="rect">
            <a:avLst/>
          </a:prstGeom>
        </p:spPr>
      </p:pic>
      <p:sp>
        <p:nvSpPr>
          <p:cNvPr id="8" name="Text 5"/>
          <p:cNvSpPr txBox="1"/>
          <p:nvPr/>
        </p:nvSpPr>
        <p:spPr>
          <a:xfrm>
            <a:off x="6675120" y="4617720"/>
            <a:ext cx="4965192" cy="274320"/>
          </a:xfrm>
          <a:prstGeom prst="rect">
            <a:avLst/>
          </a:prstGeom>
          <a:noFill/>
          <a:ln/>
        </p:spPr>
        <p:txBody>
          <a:bodyPr wrap="square" lIns="0" tIns="0" rIns="0" bIns="0" rtlCol="0" anchor="t"/>
          <a:lstStyle/>
          <a:p>
            <a:pPr indent="0" marL="0">
              <a:buNone/>
            </a:pPr>
            <a:r>
              <a:rPr lang="en-US" sz="1100" dirty="0">
                <a:solidFill>
                  <a:srgbClr val="A9BEBC"/>
                </a:solidFill>
                <a:latin typeface="Manrope" pitchFamily="34" charset="0"/>
                <a:ea typeface="Manrope" pitchFamily="34" charset="-122"/>
                <a:cs typeface="Manrope" pitchFamily="34" charset="-120"/>
              </a:rPr>
              <a:t>PoC dashboard generated for a demo client (illustrative data)</a:t>
            </a:r>
            <a:endParaRPr lang="en-US" sz="1100" dirty="0"/>
          </a:p>
        </p:txBody>
      </p:sp>
      <p:sp>
        <p:nvSpPr>
          <p:cNvPr id="9" name="Text 6"/>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A9BEBC"/>
                </a:solidFill>
                <a:latin typeface="Manrope" pitchFamily="34" charset="0"/>
                <a:ea typeface="Manrope" pitchFamily="34" charset="-122"/>
                <a:cs typeface="Manrope" pitchFamily="34" charset="-120"/>
              </a:rPr>
              <a:t>Person A · Cover</a:t>
            </a:r>
            <a:endParaRPr lang="en-US" sz="1000" dirty="0"/>
          </a:p>
        </p:txBody>
      </p:sp>
      <p:sp>
        <p:nvSpPr>
          <p:cNvPr id="10" name="Text 7"/>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A9BEBC"/>
                </a:solidFill>
                <a:latin typeface="Manrope" pitchFamily="34" charset="0"/>
                <a:ea typeface="Manrope" pitchFamily="34" charset="-122"/>
                <a:cs typeface="Manrope"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PROBLEM &amp; OPPORTUNITY</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Pre-sales at Datavance is fully manual: slow, generic and hard to scale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A · Lab: DISRUPT (S1)</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02</a:t>
            </a:r>
            <a:endParaRPr lang="en-US" sz="1000" dirty="0"/>
          </a:p>
        </p:txBody>
      </p:sp>
      <p:sp>
        <p:nvSpPr>
          <p:cNvPr id="6" name="Shape 4"/>
          <p:cNvSpPr/>
          <p:nvPr/>
        </p:nvSpPr>
        <p:spPr>
          <a:xfrm>
            <a:off x="548640" y="1783080"/>
            <a:ext cx="5852160" cy="914400"/>
          </a:xfrm>
          <a:prstGeom prst="rect">
            <a:avLst/>
          </a:prstGeom>
          <a:solidFill>
            <a:srgbClr val="FFFDFA"/>
          </a:solidFill>
          <a:ln w="12700">
            <a:solidFill>
              <a:srgbClr val="E6DDD1"/>
            </a:solidFill>
            <a:prstDash val="solid"/>
          </a:ln>
        </p:spPr>
      </p:sp>
      <p:sp>
        <p:nvSpPr>
          <p:cNvPr id="7" name="Text 5"/>
          <p:cNvSpPr txBox="1"/>
          <p:nvPr/>
        </p:nvSpPr>
        <p:spPr>
          <a:xfrm>
            <a:off x="777240" y="1920240"/>
            <a:ext cx="2011680" cy="640080"/>
          </a:xfrm>
          <a:prstGeom prst="rect">
            <a:avLst/>
          </a:prstGeom>
          <a:noFill/>
          <a:ln/>
        </p:spPr>
        <p:txBody>
          <a:bodyPr wrap="square" lIns="0" tIns="0" rIns="0" bIns="0" rtlCol="0" anchor="ctr"/>
          <a:lstStyle/>
          <a:p>
            <a:pPr indent="0" marL="0">
              <a:buNone/>
            </a:pPr>
            <a:r>
              <a:rPr lang="en-US" sz="1800" b="1" dirty="0">
                <a:solidFill>
                  <a:srgbClr val="FF5713"/>
                </a:solidFill>
                <a:latin typeface="Epilogue" pitchFamily="34" charset="0"/>
                <a:ea typeface="Epilogue" pitchFamily="34" charset="-122"/>
                <a:cs typeface="Epilogue" pitchFamily="34" charset="-120"/>
              </a:rPr>
              <a:t>Slow</a:t>
            </a:r>
            <a:endParaRPr lang="en-US" sz="1800" dirty="0"/>
          </a:p>
        </p:txBody>
      </p:sp>
      <p:sp>
        <p:nvSpPr>
          <p:cNvPr id="8" name="Text 6"/>
          <p:cNvSpPr txBox="1"/>
          <p:nvPr/>
        </p:nvSpPr>
        <p:spPr>
          <a:xfrm>
            <a:off x="2880360" y="1920240"/>
            <a:ext cx="3383280" cy="640080"/>
          </a:xfrm>
          <a:prstGeom prst="rect">
            <a:avLst/>
          </a:prstGeom>
          <a:noFill/>
          <a:ln/>
        </p:spPr>
        <p:txBody>
          <a:bodyPr wrap="square" lIns="0" tIns="0" rIns="0" bIns="0" rtlCol="0" anchor="ctr"/>
          <a:lstStyle/>
          <a:p>
            <a:pPr indent="0" marL="0">
              <a:buNone/>
            </a:pPr>
            <a:r>
              <a:rPr lang="en-US" sz="1400" dirty="0">
                <a:solidFill>
                  <a:srgbClr val="3E5559"/>
                </a:solidFill>
                <a:latin typeface="Manrope" pitchFamily="34" charset="0"/>
                <a:ea typeface="Manrope" pitchFamily="34" charset="-122"/>
                <a:cs typeface="Manrope" pitchFamily="34" charset="-120"/>
              </a:rPr>
              <a:t>[x] hours of consultant work per lead; the proposal arrives days after the call.</a:t>
            </a:r>
            <a:endParaRPr lang="en-US" sz="1400" dirty="0"/>
          </a:p>
        </p:txBody>
      </p:sp>
      <p:sp>
        <p:nvSpPr>
          <p:cNvPr id="9" name="Shape 7"/>
          <p:cNvSpPr/>
          <p:nvPr/>
        </p:nvSpPr>
        <p:spPr>
          <a:xfrm>
            <a:off x="548640" y="2807208"/>
            <a:ext cx="5852160" cy="914400"/>
          </a:xfrm>
          <a:prstGeom prst="rect">
            <a:avLst/>
          </a:prstGeom>
          <a:solidFill>
            <a:srgbClr val="FFFDFA"/>
          </a:solidFill>
          <a:ln w="12700">
            <a:solidFill>
              <a:srgbClr val="E6DDD1"/>
            </a:solidFill>
            <a:prstDash val="solid"/>
          </a:ln>
        </p:spPr>
      </p:sp>
      <p:sp>
        <p:nvSpPr>
          <p:cNvPr id="10" name="Text 8"/>
          <p:cNvSpPr txBox="1"/>
          <p:nvPr/>
        </p:nvSpPr>
        <p:spPr>
          <a:xfrm>
            <a:off x="777240" y="2944368"/>
            <a:ext cx="2011680" cy="640080"/>
          </a:xfrm>
          <a:prstGeom prst="rect">
            <a:avLst/>
          </a:prstGeom>
          <a:noFill/>
          <a:ln/>
        </p:spPr>
        <p:txBody>
          <a:bodyPr wrap="square" lIns="0" tIns="0" rIns="0" bIns="0" rtlCol="0" anchor="ctr"/>
          <a:lstStyle/>
          <a:p>
            <a:pPr indent="0" marL="0">
              <a:buNone/>
            </a:pPr>
            <a:r>
              <a:rPr lang="en-US" sz="1800" b="1" dirty="0">
                <a:solidFill>
                  <a:srgbClr val="FF5713"/>
                </a:solidFill>
                <a:latin typeface="Epilogue" pitchFamily="34" charset="0"/>
                <a:ea typeface="Epilogue" pitchFamily="34" charset="-122"/>
                <a:cs typeface="Epilogue" pitchFamily="34" charset="-120"/>
              </a:rPr>
              <a:t>Generic</a:t>
            </a:r>
            <a:endParaRPr lang="en-US" sz="1800" dirty="0"/>
          </a:p>
        </p:txBody>
      </p:sp>
      <p:sp>
        <p:nvSpPr>
          <p:cNvPr id="11" name="Text 9"/>
          <p:cNvSpPr txBox="1"/>
          <p:nvPr/>
        </p:nvSpPr>
        <p:spPr>
          <a:xfrm>
            <a:off x="2880360" y="2944368"/>
            <a:ext cx="3383280" cy="640080"/>
          </a:xfrm>
          <a:prstGeom prst="rect">
            <a:avLst/>
          </a:prstGeom>
          <a:noFill/>
          <a:ln/>
        </p:spPr>
        <p:txBody>
          <a:bodyPr wrap="square" lIns="0" tIns="0" rIns="0" bIns="0" rtlCol="0" anchor="ctr"/>
          <a:lstStyle/>
          <a:p>
            <a:pPr indent="0" marL="0">
              <a:buNone/>
            </a:pPr>
            <a:r>
              <a:rPr lang="en-US" sz="1400" dirty="0">
                <a:solidFill>
                  <a:srgbClr val="3E5559"/>
                </a:solidFill>
                <a:latin typeface="Manrope" pitchFamily="34" charset="0"/>
                <a:ea typeface="Manrope" pitchFamily="34" charset="-122"/>
                <a:cs typeface="Manrope" pitchFamily="34" charset="-120"/>
              </a:rPr>
              <a:t>The demo runs on sample data, not on the client's own problem.</a:t>
            </a:r>
            <a:endParaRPr lang="en-US" sz="1400" dirty="0"/>
          </a:p>
        </p:txBody>
      </p:sp>
      <p:sp>
        <p:nvSpPr>
          <p:cNvPr id="12" name="Shape 10"/>
          <p:cNvSpPr/>
          <p:nvPr/>
        </p:nvSpPr>
        <p:spPr>
          <a:xfrm>
            <a:off x="548640" y="3831336"/>
            <a:ext cx="5852160" cy="914400"/>
          </a:xfrm>
          <a:prstGeom prst="rect">
            <a:avLst/>
          </a:prstGeom>
          <a:solidFill>
            <a:srgbClr val="FFFDFA"/>
          </a:solidFill>
          <a:ln w="12700">
            <a:solidFill>
              <a:srgbClr val="E6DDD1"/>
            </a:solidFill>
            <a:prstDash val="solid"/>
          </a:ln>
        </p:spPr>
      </p:sp>
      <p:sp>
        <p:nvSpPr>
          <p:cNvPr id="13" name="Text 11"/>
          <p:cNvSpPr txBox="1"/>
          <p:nvPr/>
        </p:nvSpPr>
        <p:spPr>
          <a:xfrm>
            <a:off x="777240" y="3968496"/>
            <a:ext cx="2011680" cy="640080"/>
          </a:xfrm>
          <a:prstGeom prst="rect">
            <a:avLst/>
          </a:prstGeom>
          <a:noFill/>
          <a:ln/>
        </p:spPr>
        <p:txBody>
          <a:bodyPr wrap="square" lIns="0" tIns="0" rIns="0" bIns="0" rtlCol="0" anchor="ctr"/>
          <a:lstStyle/>
          <a:p>
            <a:pPr indent="0" marL="0">
              <a:buNone/>
            </a:pPr>
            <a:r>
              <a:rPr lang="en-US" sz="1800" b="1" dirty="0">
                <a:solidFill>
                  <a:srgbClr val="FF5713"/>
                </a:solidFill>
                <a:latin typeface="Epilogue" pitchFamily="34" charset="0"/>
                <a:ea typeface="Epilogue" pitchFamily="34" charset="-122"/>
                <a:cs typeface="Epilogue" pitchFamily="34" charset="-120"/>
              </a:rPr>
              <a:t>Hard to scale</a:t>
            </a:r>
            <a:endParaRPr lang="en-US" sz="1800" dirty="0"/>
          </a:p>
        </p:txBody>
      </p:sp>
      <p:sp>
        <p:nvSpPr>
          <p:cNvPr id="14" name="Text 12"/>
          <p:cNvSpPr txBox="1"/>
          <p:nvPr/>
        </p:nvSpPr>
        <p:spPr>
          <a:xfrm>
            <a:off x="2880360" y="3968496"/>
            <a:ext cx="3383280" cy="640080"/>
          </a:xfrm>
          <a:prstGeom prst="rect">
            <a:avLst/>
          </a:prstGeom>
          <a:noFill/>
          <a:ln/>
        </p:spPr>
        <p:txBody>
          <a:bodyPr wrap="square" lIns="0" tIns="0" rIns="0" bIns="0" rtlCol="0" anchor="ctr"/>
          <a:lstStyle/>
          <a:p>
            <a:pPr indent="0" marL="0">
              <a:buNone/>
            </a:pPr>
            <a:r>
              <a:rPr lang="en-US" sz="1400" dirty="0">
                <a:solidFill>
                  <a:srgbClr val="3E5559"/>
                </a:solidFill>
                <a:latin typeface="Manrope" pitchFamily="34" charset="0"/>
                <a:ea typeface="Manrope" pitchFamily="34" charset="-122"/>
                <a:cs typeface="Manrope" pitchFamily="34" charset="-120"/>
              </a:rPr>
              <a:t>Every new lead costs unpaid consultant time — more leads means more overtime.</a:t>
            </a:r>
            <a:endParaRPr lang="en-US" sz="1400" dirty="0"/>
          </a:p>
        </p:txBody>
      </p:sp>
      <p:sp>
        <p:nvSpPr>
          <p:cNvPr id="15" name="Shape 13"/>
          <p:cNvSpPr/>
          <p:nvPr/>
        </p:nvSpPr>
        <p:spPr>
          <a:xfrm>
            <a:off x="6720840" y="1783080"/>
            <a:ext cx="4919472" cy="1691640"/>
          </a:xfrm>
          <a:prstGeom prst="rect">
            <a:avLst/>
          </a:prstGeom>
          <a:solidFill>
            <a:srgbClr val="FAECD9"/>
          </a:solidFill>
          <a:ln/>
        </p:spPr>
      </p:sp>
      <p:sp>
        <p:nvSpPr>
          <p:cNvPr id="16" name="Text 14"/>
          <p:cNvSpPr txBox="1"/>
          <p:nvPr/>
        </p:nvSpPr>
        <p:spPr>
          <a:xfrm>
            <a:off x="6949440" y="1938528"/>
            <a:ext cx="4480560" cy="1051560"/>
          </a:xfrm>
          <a:prstGeom prst="rect">
            <a:avLst/>
          </a:prstGeom>
          <a:noFill/>
          <a:ln/>
        </p:spPr>
        <p:txBody>
          <a:bodyPr wrap="square" lIns="0" tIns="0" rIns="0" bIns="0" rtlCol="0" anchor="t"/>
          <a:lstStyle/>
          <a:p>
            <a:pPr indent="0" marL="0">
              <a:buNone/>
            </a:pPr>
            <a:r>
              <a:rPr lang="en-US" sz="1600" b="1" dirty="0">
                <a:solidFill>
                  <a:srgbClr val="264549"/>
                </a:solidFill>
                <a:latin typeface="Epilogue" pitchFamily="34" charset="0"/>
                <a:ea typeface="Epilogue" pitchFamily="34" charset="-122"/>
                <a:cs typeface="Epilogue" pitchFamily="34" charset="-120"/>
              </a:rPr>
              <a:t>“[Quote from a Datavance consultant about the manual process — from your interview]”</a:t>
            </a:r>
            <a:endParaRPr lang="en-US" sz="1600" dirty="0"/>
          </a:p>
        </p:txBody>
      </p:sp>
      <p:sp>
        <p:nvSpPr>
          <p:cNvPr id="17" name="Text 15"/>
          <p:cNvSpPr txBox="1"/>
          <p:nvPr/>
        </p:nvSpPr>
        <p:spPr>
          <a:xfrm>
            <a:off x="6949440" y="3017520"/>
            <a:ext cx="4480560" cy="274320"/>
          </a:xfrm>
          <a:prstGeom prst="rect">
            <a:avLst/>
          </a:prstGeom>
          <a:noFill/>
          <a:ln/>
        </p:spPr>
        <p:txBody>
          <a:bodyPr wrap="square" lIns="0" tIns="0" rIns="0" bIns="0" rtlCol="0" anchor="t"/>
          <a:lstStyle/>
          <a:p>
            <a:pPr indent="0" marL="0">
              <a:buNone/>
            </a:pPr>
            <a:r>
              <a:rPr lang="en-US" sz="1200" dirty="0">
                <a:solidFill>
                  <a:srgbClr val="5A6E71"/>
                </a:solidFill>
                <a:latin typeface="Manrope" pitchFamily="34" charset="0"/>
                <a:ea typeface="Manrope" pitchFamily="34" charset="-122"/>
                <a:cs typeface="Manrope" pitchFamily="34" charset="-120"/>
              </a:rPr>
              <a:t>— [Name, role, Datavance]</a:t>
            </a:r>
            <a:endParaRPr lang="en-US" sz="1200" dirty="0"/>
          </a:p>
        </p:txBody>
      </p:sp>
      <p:sp>
        <p:nvSpPr>
          <p:cNvPr id="18" name="Shape 16"/>
          <p:cNvSpPr/>
          <p:nvPr/>
        </p:nvSpPr>
        <p:spPr>
          <a:xfrm>
            <a:off x="6720840" y="3611880"/>
            <a:ext cx="4919472" cy="1280160"/>
          </a:xfrm>
          <a:prstGeom prst="rect">
            <a:avLst/>
          </a:prstGeom>
          <a:solidFill>
            <a:srgbClr val="FFFDFA"/>
          </a:solidFill>
          <a:ln w="12700">
            <a:solidFill>
              <a:srgbClr val="E6DDD1"/>
            </a:solidFill>
            <a:prstDash val="solid"/>
          </a:ln>
        </p:spPr>
      </p:sp>
      <p:sp>
        <p:nvSpPr>
          <p:cNvPr id="19" name="Text 17"/>
          <p:cNvSpPr txBox="1"/>
          <p:nvPr/>
        </p:nvSpPr>
        <p:spPr>
          <a:xfrm>
            <a:off x="6885432" y="3776472"/>
            <a:ext cx="4590288"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Who benefits</a:t>
            </a:r>
            <a:endParaRPr lang="en-US" sz="1500" dirty="0"/>
          </a:p>
        </p:txBody>
      </p:sp>
      <p:sp>
        <p:nvSpPr>
          <p:cNvPr id="20" name="Text 18"/>
          <p:cNvSpPr txBox="1"/>
          <p:nvPr/>
        </p:nvSpPr>
        <p:spPr>
          <a:xfrm>
            <a:off x="6885432" y="4142232"/>
            <a:ext cx="4590288" cy="651053"/>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3E5559"/>
                </a:solidFill>
                <a:latin typeface="Manrope" pitchFamily="34" charset="0"/>
                <a:ea typeface="Manrope" pitchFamily="34" charset="-122"/>
                <a:cs typeface="Manrope" pitchFamily="34" charset="-120"/>
              </a:rPr>
              <a:t>Consultants: less unpaid, repetitive work</a:t>
            </a:r>
            <a:endParaRPr lang="en-US" sz="1200" dirty="0"/>
          </a:p>
          <a:p>
            <a:pPr marL="177800" indent="-177800">
              <a:spcAft>
                <a:spcPts val="300"/>
              </a:spcAft>
              <a:buSzPct val="100000"/>
              <a:buChar char="•"/>
            </a:pPr>
            <a:r>
              <a:rPr lang="en-US" sz="1200" dirty="0">
                <a:solidFill>
                  <a:srgbClr val="3E5559"/>
                </a:solidFill>
                <a:latin typeface="Manrope" pitchFamily="34" charset="0"/>
                <a:ea typeface="Manrope" pitchFamily="34" charset="-122"/>
                <a:cs typeface="Manrope" pitchFamily="34" charset="-120"/>
              </a:rPr>
              <a:t>SME client: sees their own problem solved, faster</a:t>
            </a:r>
            <a:endParaRPr lang="en-US" sz="1200" dirty="0"/>
          </a:p>
          <a:p>
            <a:pPr marL="177800" indent="-177800">
              <a:spcAft>
                <a:spcPts val="300"/>
              </a:spcAft>
              <a:buSzPct val="100000"/>
              <a:buChar char="•"/>
            </a:pPr>
            <a:r>
              <a:rPr lang="en-US" sz="1200" dirty="0">
                <a:solidFill>
                  <a:srgbClr val="3E5559"/>
                </a:solidFill>
                <a:latin typeface="Manrope" pitchFamily="34" charset="0"/>
                <a:ea typeface="Manrope" pitchFamily="34" charset="-122"/>
                <a:cs typeface="Manrope" pitchFamily="34" charset="-120"/>
              </a:rPr>
              <a:t>Datavance: more leads per consultant</a:t>
            </a:r>
            <a:endParaRPr lang="en-US" sz="1200" dirty="0"/>
          </a:p>
        </p:txBody>
      </p:sp>
      <p:sp>
        <p:nvSpPr>
          <p:cNvPr id="21" name="Shape 19"/>
          <p:cNvSpPr/>
          <p:nvPr/>
        </p:nvSpPr>
        <p:spPr>
          <a:xfrm>
            <a:off x="548640" y="4983480"/>
            <a:ext cx="11094415" cy="566928"/>
          </a:xfrm>
          <a:prstGeom prst="rect">
            <a:avLst/>
          </a:prstGeom>
          <a:solidFill>
            <a:srgbClr val="264549"/>
          </a:solidFill>
          <a:ln/>
        </p:spPr>
      </p:sp>
      <p:sp>
        <p:nvSpPr>
          <p:cNvPr id="22" name="Text 20"/>
          <p:cNvSpPr txBox="1"/>
          <p:nvPr/>
        </p:nvSpPr>
        <p:spPr>
          <a:xfrm>
            <a:off x="731520" y="4983480"/>
            <a:ext cx="10728655" cy="566928"/>
          </a:xfrm>
          <a:prstGeom prst="rect">
            <a:avLst/>
          </a:prstGeom>
          <a:noFill/>
          <a:ln/>
        </p:spPr>
        <p:txBody>
          <a:bodyPr wrap="square" lIns="0" tIns="0" rIns="0" bIns="0" rtlCol="0" anchor="ctr"/>
          <a:lstStyle/>
          <a:p>
            <a:pPr indent="0" marL="0">
              <a:buNone/>
            </a:pPr>
            <a:r>
              <a:rPr lang="en-US" sz="1100" b="1" spc="200" kern="0" dirty="0">
                <a:solidFill>
                  <a:srgbClr val="FF9100"/>
                </a:solidFill>
                <a:latin typeface="Manrope" pitchFamily="34" charset="0"/>
                <a:ea typeface="Manrope" pitchFamily="34" charset="-122"/>
                <a:cs typeface="Manrope" pitchFamily="34" charset="-120"/>
              </a:rPr>
              <a:t>DISRUPTION HYPOTHESIS   </a:t>
            </a:r>
            <a:pPr indent="0" marL="0">
              <a:buNone/>
            </a:pPr>
            <a:r>
              <a:rPr lang="en-US" sz="1300" dirty="0">
                <a:solidFill>
                  <a:srgbClr val="FFFAF5"/>
                </a:solidFill>
                <a:latin typeface="Manrope" pitchFamily="34" charset="0"/>
                <a:ea typeface="Manrope" pitchFamily="34" charset="-122"/>
                <a:cs typeface="Manrope" pitchFamily="34" charset="-120"/>
              </a:rPr>
              <a:t>GenAI creates an opportunity to turn every sales call into a tailored proposal and PoC the same day, because LLMs can extract needs from a transcript while code keeps every number verifiable.</a:t>
            </a:r>
            <a:endParaRPr lang="en-US" sz="1100" dirty="0"/>
          </a:p>
        </p:txBody>
      </p:sp>
      <p:sp>
        <p:nvSpPr>
          <p:cNvPr id="23" name="Shape 21"/>
          <p:cNvSpPr/>
          <p:nvPr/>
        </p:nvSpPr>
        <p:spPr>
          <a:xfrm>
            <a:off x="548640" y="5687568"/>
            <a:ext cx="11094415" cy="512064"/>
          </a:xfrm>
          <a:prstGeom prst="rect">
            <a:avLst/>
          </a:prstGeom>
          <a:solidFill>
            <a:srgbClr val="E4EFD3"/>
          </a:solidFill>
          <a:ln/>
        </p:spPr>
      </p:sp>
      <p:sp>
        <p:nvSpPr>
          <p:cNvPr id="24" name="Text 22"/>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Start from the problem, not the tool: target the manual step between call and proposal.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FIVE FORCES &amp; DEFENSIBILITY</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GenAI raises buyer power and entry — access to AI itself is not the moat</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A · Lab: DISRUPT (S1)</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03</a:t>
            </a:r>
            <a:endParaRPr lang="en-US" sz="1000" dirty="0"/>
          </a:p>
        </p:txBody>
      </p:sp>
      <p:sp>
        <p:nvSpPr>
          <p:cNvPr id="6" name="Shape 4"/>
          <p:cNvSpPr/>
          <p:nvPr/>
        </p:nvSpPr>
        <p:spPr>
          <a:xfrm>
            <a:off x="548640" y="1783080"/>
            <a:ext cx="6309360" cy="1024128"/>
          </a:xfrm>
          <a:prstGeom prst="rect">
            <a:avLst/>
          </a:prstGeom>
          <a:solidFill>
            <a:srgbClr val="FFFDFA"/>
          </a:solidFill>
          <a:ln w="12700">
            <a:solidFill>
              <a:srgbClr val="E6DDD1"/>
            </a:solidFill>
            <a:prstDash val="solid"/>
          </a:ln>
        </p:spPr>
      </p:sp>
      <p:sp>
        <p:nvSpPr>
          <p:cNvPr id="7" name="Text 5"/>
          <p:cNvSpPr txBox="1"/>
          <p:nvPr/>
        </p:nvSpPr>
        <p:spPr>
          <a:xfrm>
            <a:off x="713232" y="1947672"/>
            <a:ext cx="5980176" cy="310896"/>
          </a:xfrm>
          <a:prstGeom prst="rect">
            <a:avLst/>
          </a:prstGeom>
          <a:noFill/>
          <a:ln/>
        </p:spPr>
        <p:txBody>
          <a:bodyPr wrap="square" lIns="0" tIns="0" rIns="0" bIns="0" rtlCol="0" anchor="t"/>
          <a:lstStyle/>
          <a:p>
            <a:pPr indent="0" marL="0">
              <a:buNone/>
            </a:pPr>
            <a:r>
              <a:rPr lang="en-US" sz="1700" b="1" dirty="0">
                <a:solidFill>
                  <a:srgbClr val="FF5713"/>
                </a:solidFill>
                <a:latin typeface="Epilogue" pitchFamily="34" charset="0"/>
                <a:ea typeface="Epilogue" pitchFamily="34" charset="-122"/>
                <a:cs typeface="Epilogue" pitchFamily="34" charset="-120"/>
              </a:rPr>
              <a:t>↑  Buyer power</a:t>
            </a:r>
            <a:endParaRPr lang="en-US" sz="1700" dirty="0"/>
          </a:p>
        </p:txBody>
      </p:sp>
      <p:sp>
        <p:nvSpPr>
          <p:cNvPr id="8" name="Text 6"/>
          <p:cNvSpPr txBox="1"/>
          <p:nvPr/>
        </p:nvSpPr>
        <p:spPr>
          <a:xfrm>
            <a:off x="713232" y="2313432"/>
            <a:ext cx="5980176" cy="395021"/>
          </a:xfrm>
          <a:prstGeom prst="rect">
            <a:avLst/>
          </a:prstGeom>
          <a:noFill/>
          <a:ln/>
        </p:spPr>
        <p:txBody>
          <a:bodyPr wrap="square" lIns="0" tIns="0" rIns="0" bIns="0" rtlCol="0" anchor="t"/>
          <a:lstStyle/>
          <a:p>
            <a:pPr indent="0" marL="0">
              <a:buNone/>
            </a:pPr>
            <a:r>
              <a:rPr lang="en-US" sz="1400" dirty="0">
                <a:solidFill>
                  <a:srgbClr val="3E5559"/>
                </a:solidFill>
                <a:latin typeface="Manrope" pitchFamily="34" charset="0"/>
                <a:ea typeface="Manrope" pitchFamily="34" charset="-122"/>
                <a:cs typeface="Manrope" pitchFamily="34" charset="-120"/>
              </a:rPr>
              <a:t>SME buyers compare quotes faster and now expect a free, tailored PoC before they sign.</a:t>
            </a:r>
            <a:endParaRPr lang="en-US" sz="1400" dirty="0"/>
          </a:p>
        </p:txBody>
      </p:sp>
      <p:sp>
        <p:nvSpPr>
          <p:cNvPr id="9" name="Shape 7"/>
          <p:cNvSpPr/>
          <p:nvPr/>
        </p:nvSpPr>
        <p:spPr>
          <a:xfrm>
            <a:off x="548640" y="2926080"/>
            <a:ext cx="6309360" cy="1024128"/>
          </a:xfrm>
          <a:prstGeom prst="rect">
            <a:avLst/>
          </a:prstGeom>
          <a:solidFill>
            <a:srgbClr val="FFFDFA"/>
          </a:solidFill>
          <a:ln w="12700">
            <a:solidFill>
              <a:srgbClr val="E6DDD1"/>
            </a:solidFill>
            <a:prstDash val="solid"/>
          </a:ln>
        </p:spPr>
      </p:sp>
      <p:sp>
        <p:nvSpPr>
          <p:cNvPr id="10" name="Text 8"/>
          <p:cNvSpPr txBox="1"/>
          <p:nvPr/>
        </p:nvSpPr>
        <p:spPr>
          <a:xfrm>
            <a:off x="713232" y="3090672"/>
            <a:ext cx="5980176" cy="310896"/>
          </a:xfrm>
          <a:prstGeom prst="rect">
            <a:avLst/>
          </a:prstGeom>
          <a:noFill/>
          <a:ln/>
        </p:spPr>
        <p:txBody>
          <a:bodyPr wrap="square" lIns="0" tIns="0" rIns="0" bIns="0" rtlCol="0" anchor="t"/>
          <a:lstStyle/>
          <a:p>
            <a:pPr indent="0" marL="0">
              <a:buNone/>
            </a:pPr>
            <a:r>
              <a:rPr lang="en-US" sz="1700" b="1" dirty="0">
                <a:solidFill>
                  <a:srgbClr val="FF5713"/>
                </a:solidFill>
                <a:latin typeface="Epilogue" pitchFamily="34" charset="0"/>
                <a:ea typeface="Epilogue" pitchFamily="34" charset="-122"/>
                <a:cs typeface="Epilogue" pitchFamily="34" charset="-120"/>
              </a:rPr>
              <a:t>↑  New entrants &amp; substitutes</a:t>
            </a:r>
            <a:endParaRPr lang="en-US" sz="1700" dirty="0"/>
          </a:p>
        </p:txBody>
      </p:sp>
      <p:sp>
        <p:nvSpPr>
          <p:cNvPr id="11" name="Text 9"/>
          <p:cNvSpPr txBox="1"/>
          <p:nvPr/>
        </p:nvSpPr>
        <p:spPr>
          <a:xfrm>
            <a:off x="713232" y="3456432"/>
            <a:ext cx="5980176" cy="395021"/>
          </a:xfrm>
          <a:prstGeom prst="rect">
            <a:avLst/>
          </a:prstGeom>
          <a:noFill/>
          <a:ln/>
        </p:spPr>
        <p:txBody>
          <a:bodyPr wrap="square" lIns="0" tIns="0" rIns="0" bIns="0" rtlCol="0" anchor="t"/>
          <a:lstStyle/>
          <a:p>
            <a:pPr indent="0" marL="0">
              <a:buNone/>
            </a:pPr>
            <a:r>
              <a:rPr lang="en-US" sz="1400" dirty="0">
                <a:solidFill>
                  <a:srgbClr val="3E5559"/>
                </a:solidFill>
                <a:latin typeface="Manrope" pitchFamily="34" charset="0"/>
                <a:ea typeface="Manrope" pitchFamily="34" charset="-122"/>
                <a:cs typeface="Manrope" pitchFamily="34" charset="-120"/>
              </a:rPr>
              <a:t>Freelancers and 'ChatGPT builds my dashboard' make a first BI demo cheap for anyone.</a:t>
            </a:r>
            <a:endParaRPr lang="en-US" sz="1400" dirty="0"/>
          </a:p>
        </p:txBody>
      </p:sp>
      <p:sp>
        <p:nvSpPr>
          <p:cNvPr id="12" name="Text 10"/>
          <p:cNvSpPr txBox="1"/>
          <p:nvPr/>
        </p:nvSpPr>
        <p:spPr>
          <a:xfrm>
            <a:off x="548640" y="4160520"/>
            <a:ext cx="6309360" cy="292608"/>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Newly vulnerable market? (S1 test)</a:t>
            </a:r>
            <a:endParaRPr lang="en-US" sz="1500" dirty="0"/>
          </a:p>
        </p:txBody>
      </p:sp>
      <p:sp>
        <p:nvSpPr>
          <p:cNvPr id="13" name="Shape 11"/>
          <p:cNvSpPr/>
          <p:nvPr/>
        </p:nvSpPr>
        <p:spPr>
          <a:xfrm>
            <a:off x="548640" y="4526280"/>
            <a:ext cx="2011680" cy="502920"/>
          </a:xfrm>
          <a:prstGeom prst="rect">
            <a:avLst/>
          </a:prstGeom>
          <a:solidFill>
            <a:srgbClr val="E4EFD3"/>
          </a:solidFill>
          <a:ln/>
        </p:spPr>
      </p:sp>
      <p:sp>
        <p:nvSpPr>
          <p:cNvPr id="14" name="Text 12"/>
          <p:cNvSpPr txBox="1"/>
          <p:nvPr/>
        </p:nvSpPr>
        <p:spPr>
          <a:xfrm>
            <a:off x="548640" y="4526280"/>
            <a:ext cx="2011680" cy="502920"/>
          </a:xfrm>
          <a:prstGeom prst="rect">
            <a:avLst/>
          </a:prstGeom>
          <a:noFill/>
          <a:ln/>
        </p:spPr>
        <p:txBody>
          <a:bodyPr wrap="square" lIns="0" tIns="0" rIns="0" bIns="0" rtlCol="0" anchor="ctr"/>
          <a:lstStyle/>
          <a:p>
            <a:pPr algn="ctr" indent="0" marL="0">
              <a:buNone/>
            </a:pPr>
            <a:r>
              <a:rPr lang="en-US" sz="1300" b="1" dirty="0">
                <a:solidFill>
                  <a:srgbClr val="3F6B4E"/>
                </a:solidFill>
                <a:latin typeface="Manrope" pitchFamily="34" charset="0"/>
                <a:ea typeface="Manrope" pitchFamily="34" charset="-122"/>
                <a:cs typeface="Manrope" pitchFamily="34" charset="-120"/>
              </a:rPr>
              <a:t>Easy to enter  ✓</a:t>
            </a:r>
            <a:endParaRPr lang="en-US" sz="1300" dirty="0"/>
          </a:p>
        </p:txBody>
      </p:sp>
      <p:sp>
        <p:nvSpPr>
          <p:cNvPr id="15" name="Shape 13"/>
          <p:cNvSpPr/>
          <p:nvPr/>
        </p:nvSpPr>
        <p:spPr>
          <a:xfrm>
            <a:off x="2679192" y="4526280"/>
            <a:ext cx="2011680" cy="502920"/>
          </a:xfrm>
          <a:prstGeom prst="rect">
            <a:avLst/>
          </a:prstGeom>
          <a:solidFill>
            <a:srgbClr val="E4EFD3"/>
          </a:solidFill>
          <a:ln/>
        </p:spPr>
      </p:sp>
      <p:sp>
        <p:nvSpPr>
          <p:cNvPr id="16" name="Text 14"/>
          <p:cNvSpPr txBox="1"/>
          <p:nvPr/>
        </p:nvSpPr>
        <p:spPr>
          <a:xfrm>
            <a:off x="2679192" y="4526280"/>
            <a:ext cx="2011680" cy="502920"/>
          </a:xfrm>
          <a:prstGeom prst="rect">
            <a:avLst/>
          </a:prstGeom>
          <a:noFill/>
          <a:ln/>
        </p:spPr>
        <p:txBody>
          <a:bodyPr wrap="square" lIns="0" tIns="0" rIns="0" bIns="0" rtlCol="0" anchor="ctr"/>
          <a:lstStyle/>
          <a:p>
            <a:pPr algn="ctr" indent="0" marL="0">
              <a:buNone/>
            </a:pPr>
            <a:r>
              <a:rPr lang="en-US" sz="1300" b="1" dirty="0">
                <a:solidFill>
                  <a:srgbClr val="3F6B4E"/>
                </a:solidFill>
                <a:latin typeface="Manrope" pitchFamily="34" charset="0"/>
                <a:ea typeface="Manrope" pitchFamily="34" charset="-122"/>
                <a:cs typeface="Manrope" pitchFamily="34" charset="-120"/>
              </a:rPr>
              <a:t>Attractive to attack  ✓</a:t>
            </a:r>
            <a:endParaRPr lang="en-US" sz="1300" dirty="0"/>
          </a:p>
        </p:txBody>
      </p:sp>
      <p:sp>
        <p:nvSpPr>
          <p:cNvPr id="17" name="Shape 15"/>
          <p:cNvSpPr/>
          <p:nvPr/>
        </p:nvSpPr>
        <p:spPr>
          <a:xfrm>
            <a:off x="4809744" y="4526280"/>
            <a:ext cx="2011680" cy="502920"/>
          </a:xfrm>
          <a:prstGeom prst="rect">
            <a:avLst/>
          </a:prstGeom>
          <a:solidFill>
            <a:srgbClr val="E4EFD3"/>
          </a:solidFill>
          <a:ln/>
        </p:spPr>
      </p:sp>
      <p:sp>
        <p:nvSpPr>
          <p:cNvPr id="18" name="Text 16"/>
          <p:cNvSpPr txBox="1"/>
          <p:nvPr/>
        </p:nvSpPr>
        <p:spPr>
          <a:xfrm>
            <a:off x="4809744" y="4526280"/>
            <a:ext cx="2011680" cy="502920"/>
          </a:xfrm>
          <a:prstGeom prst="rect">
            <a:avLst/>
          </a:prstGeom>
          <a:noFill/>
          <a:ln/>
        </p:spPr>
        <p:txBody>
          <a:bodyPr wrap="square" lIns="0" tIns="0" rIns="0" bIns="0" rtlCol="0" anchor="ctr"/>
          <a:lstStyle/>
          <a:p>
            <a:pPr algn="ctr" indent="0" marL="0">
              <a:buNone/>
            </a:pPr>
            <a:r>
              <a:rPr lang="en-US" sz="1300" b="1" dirty="0">
                <a:solidFill>
                  <a:srgbClr val="3F6B4E"/>
                </a:solidFill>
                <a:latin typeface="Manrope" pitchFamily="34" charset="0"/>
                <a:ea typeface="Manrope" pitchFamily="34" charset="-122"/>
                <a:cs typeface="Manrope" pitchFamily="34" charset="-120"/>
              </a:rPr>
              <a:t>Hard to defend  ✓</a:t>
            </a:r>
            <a:endParaRPr lang="en-US" sz="1300" dirty="0"/>
          </a:p>
        </p:txBody>
      </p:sp>
      <p:sp>
        <p:nvSpPr>
          <p:cNvPr id="19" name="Text 17"/>
          <p:cNvSpPr txBox="1"/>
          <p:nvPr/>
        </p:nvSpPr>
        <p:spPr>
          <a:xfrm>
            <a:off x="548640" y="5120640"/>
            <a:ext cx="6309360" cy="320040"/>
          </a:xfrm>
          <a:prstGeom prst="rect">
            <a:avLst/>
          </a:prstGeom>
          <a:noFill/>
          <a:ln/>
        </p:spPr>
        <p:txBody>
          <a:bodyPr wrap="square" lIns="0" tIns="0" rIns="0" bIns="0" rtlCol="0" anchor="t"/>
          <a:lstStyle/>
          <a:p>
            <a:pPr indent="0" marL="0">
              <a:buNone/>
            </a:pPr>
            <a:r>
              <a:rPr lang="en-US" sz="1300" dirty="0">
                <a:solidFill>
                  <a:srgbClr val="3E5559"/>
                </a:solidFill>
                <a:latin typeface="Manrope" pitchFamily="34" charset="0"/>
                <a:ea typeface="Manrope" pitchFamily="34" charset="-122"/>
                <a:cs typeface="Manrope" pitchFamily="34" charset="-120"/>
              </a:rPr>
              <a:t>→ Small BI consultancies like Datavance are newly vulnerable.</a:t>
            </a:r>
            <a:endParaRPr lang="en-US" sz="1300" dirty="0"/>
          </a:p>
        </p:txBody>
      </p:sp>
      <p:sp>
        <p:nvSpPr>
          <p:cNvPr id="20" name="Shape 18"/>
          <p:cNvSpPr/>
          <p:nvPr/>
        </p:nvSpPr>
        <p:spPr>
          <a:xfrm>
            <a:off x="7178040" y="1783080"/>
            <a:ext cx="4462272" cy="3657600"/>
          </a:xfrm>
          <a:prstGeom prst="rect">
            <a:avLst/>
          </a:prstGeom>
          <a:solidFill>
            <a:srgbClr val="264549"/>
          </a:solidFill>
          <a:ln/>
        </p:spPr>
      </p:sp>
      <p:sp>
        <p:nvSpPr>
          <p:cNvPr id="21" name="Text 19"/>
          <p:cNvSpPr txBox="1"/>
          <p:nvPr/>
        </p:nvSpPr>
        <p:spPr>
          <a:xfrm>
            <a:off x="7406640" y="1965960"/>
            <a:ext cx="4023360" cy="365760"/>
          </a:xfrm>
          <a:prstGeom prst="rect">
            <a:avLst/>
          </a:prstGeom>
          <a:noFill/>
          <a:ln/>
        </p:spPr>
        <p:txBody>
          <a:bodyPr wrap="square" lIns="0" tIns="0" rIns="0" bIns="0" rtlCol="0" anchor="t"/>
          <a:lstStyle/>
          <a:p>
            <a:pPr indent="0" marL="0">
              <a:buNone/>
            </a:pPr>
            <a:r>
              <a:rPr lang="en-US" sz="1800" b="1" dirty="0">
                <a:solidFill>
                  <a:srgbClr val="FFFAF5"/>
                </a:solidFill>
                <a:latin typeface="Epilogue" pitchFamily="34" charset="0"/>
                <a:ea typeface="Epilogue" pitchFamily="34" charset="-122"/>
                <a:cs typeface="Epilogue" pitchFamily="34" charset="-120"/>
              </a:rPr>
              <a:t>What stays scarce</a:t>
            </a:r>
            <a:endParaRPr lang="en-US" sz="1800" dirty="0"/>
          </a:p>
        </p:txBody>
      </p:sp>
      <p:sp>
        <p:nvSpPr>
          <p:cNvPr id="22" name="Text 20"/>
          <p:cNvSpPr txBox="1"/>
          <p:nvPr/>
        </p:nvSpPr>
        <p:spPr>
          <a:xfrm>
            <a:off x="7406640" y="2377440"/>
            <a:ext cx="4023360" cy="640080"/>
          </a:xfrm>
          <a:prstGeom prst="rect">
            <a:avLst/>
          </a:prstGeom>
          <a:noFill/>
          <a:ln/>
        </p:spPr>
        <p:txBody>
          <a:bodyPr wrap="square" lIns="0" tIns="0" rIns="0" bIns="0" rtlCol="0" anchor="t"/>
          <a:lstStyle/>
          <a:p>
            <a:pPr indent="0" marL="0">
              <a:buNone/>
            </a:pPr>
            <a:r>
              <a:rPr lang="en-US" sz="1200" dirty="0">
                <a:solidFill>
                  <a:srgbClr val="C9D8D6"/>
                </a:solidFill>
                <a:latin typeface="Manrope" pitchFamily="34" charset="0"/>
                <a:ea typeface="Manrope" pitchFamily="34" charset="-122"/>
                <a:cs typeface="Manrope" pitchFamily="34" charset="-120"/>
              </a:rPr>
              <a:t>Barney &amp; Reeves (2024): everyone gets the same AI — advantage comes from complements.</a:t>
            </a:r>
            <a:endParaRPr lang="en-US" sz="1200" dirty="0"/>
          </a:p>
        </p:txBody>
      </p:sp>
      <p:sp>
        <p:nvSpPr>
          <p:cNvPr id="23" name="Text 21"/>
          <p:cNvSpPr txBox="1"/>
          <p:nvPr/>
        </p:nvSpPr>
        <p:spPr>
          <a:xfrm>
            <a:off x="7406640" y="3108960"/>
            <a:ext cx="4023360" cy="21945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FFFAF5"/>
                </a:solidFill>
                <a:latin typeface="Manrope" pitchFamily="34" charset="0"/>
                <a:ea typeface="Manrope" pitchFamily="34" charset="-122"/>
                <a:cs typeface="Manrope" pitchFamily="34" charset="-120"/>
              </a:rPr>
              <a:t>Knowledge of client source systems (Exact, AFAS, …)</a:t>
            </a:r>
            <a:endParaRPr lang="en-US" sz="1400" dirty="0"/>
          </a:p>
          <a:p>
            <a:pPr marL="177800" indent="-177800">
              <a:spcAft>
                <a:spcPts val="600"/>
              </a:spcAft>
              <a:buSzPct val="100000"/>
              <a:buChar char="•"/>
            </a:pPr>
            <a:r>
              <a:rPr lang="en-US" sz="1400" dirty="0">
                <a:solidFill>
                  <a:srgbClr val="FFFAF5"/>
                </a:solidFill>
                <a:latin typeface="Manrope" pitchFamily="34" charset="0"/>
                <a:ea typeface="Manrope" pitchFamily="34" charset="-122"/>
                <a:cs typeface="Manrope" pitchFamily="34" charset="-120"/>
              </a:rPr>
              <a:t>Client relationships and trust</a:t>
            </a:r>
            <a:endParaRPr lang="en-US" sz="1400" dirty="0"/>
          </a:p>
          <a:p>
            <a:pPr marL="177800" indent="-177800">
              <a:spcAft>
                <a:spcPts val="600"/>
              </a:spcAft>
              <a:buSzPct val="100000"/>
              <a:buChar char="•"/>
            </a:pPr>
            <a:r>
              <a:rPr lang="en-US" sz="1400" dirty="0">
                <a:solidFill>
                  <a:srgbClr val="FFFAF5"/>
                </a:solidFill>
                <a:latin typeface="Manrope" pitchFamily="34" charset="0"/>
                <a:ea typeface="Manrope" pitchFamily="34" charset="-122"/>
                <a:cs typeface="Manrope" pitchFamily="34" charset="-120"/>
              </a:rPr>
              <a:t>Workflow integration and delivery</a:t>
            </a:r>
            <a:endParaRPr lang="en-US" sz="1400" dirty="0"/>
          </a:p>
          <a:p>
            <a:pPr marL="177800" indent="-177800">
              <a:buSzPct val="100000"/>
              <a:buChar char="•"/>
            </a:pPr>
            <a:r>
              <a:rPr lang="en-US" sz="1400" dirty="0">
                <a:solidFill>
                  <a:srgbClr val="FFFAF5"/>
                </a:solidFill>
                <a:latin typeface="Manrope" pitchFamily="34" charset="0"/>
                <a:ea typeface="Manrope" pitchFamily="34" charset="-122"/>
                <a:cs typeface="Manrope" pitchFamily="34" charset="-120"/>
              </a:rPr>
              <a:t>Own playbook: past proposals and outcomes</a:t>
            </a:r>
            <a:endParaRPr lang="en-US" sz="1400" dirty="0"/>
          </a:p>
        </p:txBody>
      </p:sp>
      <p:sp>
        <p:nvSpPr>
          <p:cNvPr id="24" name="Shape 22"/>
          <p:cNvSpPr/>
          <p:nvPr/>
        </p:nvSpPr>
        <p:spPr>
          <a:xfrm>
            <a:off x="548640" y="5687568"/>
            <a:ext cx="11094415" cy="512064"/>
          </a:xfrm>
          <a:prstGeom prst="rect">
            <a:avLst/>
          </a:prstGeom>
          <a:solidFill>
            <a:srgbClr val="E4EFD3"/>
          </a:solidFill>
          <a:ln/>
        </p:spPr>
      </p:sp>
      <p:sp>
        <p:nvSpPr>
          <p:cNvPr id="25" name="Text 23"/>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Adopt before we are disrupted — compete on speed and specificity, defend with what stays scarce.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BUSINESS MODEL</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Same business, stronger value logic: from supplier toward omnichannel</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B · Lab: DESIGN (S2)</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04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675120" cy="914400"/>
        </p:xfrm>
        <a:graphic>
          <a:graphicData uri="http://schemas.openxmlformats.org/drawingml/2006/table">
            <a:tbl>
              <a:tblPr/>
              <a:tblGrid>
                <a:gridCol w="1188720"/>
                <a:gridCol w="2651760"/>
                <a:gridCol w="2834640"/>
              </a:tblGrid>
              <a:tr h="566928">
                <a:tc>
                  <a:txBody>
                    <a:bodyPr/>
                    <a:lstStyle/>
                    <a:p>
                      <a:pPr indent="0" marL="0">
                        <a:buNone/>
                      </a:pP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c>
                  <a:txBody>
                    <a:bodyPr/>
                    <a:lstStyle/>
                    <a:p>
                      <a:pPr indent="0" marL="0">
                        <a:buNone/>
                      </a:pPr>
                      <a:r>
                        <a:rPr lang="en-US" sz="1300" b="1" dirty="0">
                          <a:solidFill>
                            <a:srgbClr val="FFFAF5"/>
                          </a:solidFill>
                          <a:latin typeface="Manrope" pitchFamily="34" charset="0"/>
                          <a:ea typeface="Manrope" pitchFamily="34" charset="-122"/>
                          <a:cs typeface="Manrope" pitchFamily="34" charset="-120"/>
                        </a:rPr>
                        <a:t>Manual today</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c>
                  <a:txBody>
                    <a:bodyPr/>
                    <a:lstStyle/>
                    <a:p>
                      <a:pPr indent="0" marL="0">
                        <a:buNone/>
                      </a:pPr>
                      <a:r>
                        <a:rPr lang="en-US" sz="1300" b="1" dirty="0">
                          <a:solidFill>
                            <a:srgbClr val="FFFAF5"/>
                          </a:solidFill>
                          <a:latin typeface="Manrope" pitchFamily="34" charset="0"/>
                          <a:ea typeface="Manrope" pitchFamily="34" charset="-122"/>
                          <a:cs typeface="Manrope" pitchFamily="34" charset="-120"/>
                        </a:rPr>
                        <a:t>With the product</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r>
              <a:tr h="566928">
                <a:tc>
                  <a:txBody>
                    <a:bodyPr/>
                    <a:lstStyle/>
                    <a:p>
                      <a:pPr indent="0" marL="0">
                        <a:buNone/>
                      </a:pPr>
                      <a:r>
                        <a:rPr lang="en-US" sz="1300" b="1" dirty="0">
                          <a:solidFill>
                            <a:srgbClr val="264549"/>
                          </a:solidFill>
                          <a:latin typeface="Manrope" pitchFamily="34" charset="0"/>
                          <a:ea typeface="Manrope" pitchFamily="34" charset="-122"/>
                          <a:cs typeface="Manrope" pitchFamily="34" charset="-120"/>
                        </a:rPr>
                        <a:t>Create</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300" dirty="0">
                          <a:solidFill>
                            <a:srgbClr val="3E5559"/>
                          </a:solidFill>
                          <a:latin typeface="Manrope" pitchFamily="34" charset="0"/>
                          <a:ea typeface="Manrope" pitchFamily="34" charset="-122"/>
                          <a:cs typeface="Manrope" pitchFamily="34" charset="-120"/>
                        </a:rPr>
                        <a:t>Insight only after the contract</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300" dirty="0">
                          <a:solidFill>
                            <a:srgbClr val="3E5559"/>
                          </a:solidFill>
                          <a:latin typeface="Manrope" pitchFamily="34" charset="0"/>
                          <a:ea typeface="Manrope" pitchFamily="34" charset="-122"/>
                          <a:cs typeface="Manrope" pitchFamily="34" charset="-120"/>
                        </a:rPr>
                        <a:t>Tailored insight before the contract</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r>
              <a:tr h="566928">
                <a:tc>
                  <a:txBody>
                    <a:bodyPr/>
                    <a:lstStyle/>
                    <a:p>
                      <a:pPr indent="0" marL="0">
                        <a:buNone/>
                      </a:pPr>
                      <a:r>
                        <a:rPr lang="en-US" sz="1300" b="1" dirty="0">
                          <a:solidFill>
                            <a:srgbClr val="264549"/>
                          </a:solidFill>
                          <a:latin typeface="Manrope" pitchFamily="34" charset="0"/>
                          <a:ea typeface="Manrope" pitchFamily="34" charset="-122"/>
                          <a:cs typeface="Manrope" pitchFamily="34" charset="-120"/>
                        </a:rPr>
                        <a:t>Deliver</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300" dirty="0">
                          <a:solidFill>
                            <a:srgbClr val="3E5559"/>
                          </a:solidFill>
                          <a:latin typeface="Manrope" pitchFamily="34" charset="0"/>
                          <a:ea typeface="Manrope" pitchFamily="34" charset="-122"/>
                          <a:cs typeface="Manrope" pitchFamily="34" charset="-120"/>
                        </a:rPr>
                        <a:t>Proposal days later, generic demo</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300" dirty="0">
                          <a:solidFill>
                            <a:srgbClr val="3E5559"/>
                          </a:solidFill>
                          <a:latin typeface="Manrope" pitchFamily="34" charset="0"/>
                          <a:ea typeface="Manrope" pitchFamily="34" charset="-122"/>
                          <a:cs typeface="Manrope" pitchFamily="34" charset="-120"/>
                        </a:rPr>
                        <a:t>Proposal + client-specific PoC the same day</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r>
              <a:tr h="566928">
                <a:tc>
                  <a:txBody>
                    <a:bodyPr/>
                    <a:lstStyle/>
                    <a:p>
                      <a:pPr indent="0" marL="0">
                        <a:buNone/>
                      </a:pPr>
                      <a:r>
                        <a:rPr lang="en-US" sz="1300" b="1" dirty="0">
                          <a:solidFill>
                            <a:srgbClr val="264549"/>
                          </a:solidFill>
                          <a:latin typeface="Manrope" pitchFamily="34" charset="0"/>
                          <a:ea typeface="Manrope" pitchFamily="34" charset="-122"/>
                          <a:cs typeface="Manrope" pitchFamily="34" charset="-120"/>
                        </a:rPr>
                        <a:t>Capture</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300" dirty="0">
                          <a:solidFill>
                            <a:srgbClr val="3E5559"/>
                          </a:solidFill>
                          <a:latin typeface="Manrope" pitchFamily="34" charset="0"/>
                          <a:ea typeface="Manrope" pitchFamily="34" charset="-122"/>
                          <a:cs typeface="Manrope" pitchFamily="34" charset="-120"/>
                        </a:rPr>
                        <a:t>Unpaid pre-sales hours, [win rate]</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300" dirty="0">
                          <a:solidFill>
                            <a:srgbClr val="3E5559"/>
                          </a:solidFill>
                          <a:latin typeface="Manrope" pitchFamily="34" charset="0"/>
                          <a:ea typeface="Manrope" pitchFamily="34" charset="-122"/>
                          <a:cs typeface="Manrope" pitchFamily="34" charset="-120"/>
                        </a:rPr>
                        <a:t>Fewer unpaid hours, [higher win rate]</a:t>
                      </a:r>
                      <a:endParaRPr lang="en-US" sz="13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r>
            </a:tbl>
          </a:graphicData>
        </a:graphic>
      </p:graphicFrame>
      <p:sp>
        <p:nvSpPr>
          <p:cNvPr id="7" name="Shape 4"/>
          <p:cNvSpPr/>
          <p:nvPr/>
        </p:nvSpPr>
        <p:spPr>
          <a:xfrm>
            <a:off x="548640" y="4251960"/>
            <a:ext cx="3246120" cy="1280160"/>
          </a:xfrm>
          <a:prstGeom prst="rect">
            <a:avLst/>
          </a:prstGeom>
          <a:solidFill>
            <a:srgbClr val="FFFDFA"/>
          </a:solidFill>
          <a:ln w="12700">
            <a:solidFill>
              <a:srgbClr val="E6DDD1"/>
            </a:solidFill>
            <a:prstDash val="solid"/>
          </a:ln>
        </p:spPr>
      </p:sp>
      <p:sp>
        <p:nvSpPr>
          <p:cNvPr id="8" name="Text 5"/>
          <p:cNvSpPr txBox="1"/>
          <p:nvPr/>
        </p:nvSpPr>
        <p:spPr>
          <a:xfrm>
            <a:off x="713232" y="4416552"/>
            <a:ext cx="2916936" cy="310896"/>
          </a:xfrm>
          <a:prstGeom prst="rect">
            <a:avLst/>
          </a:prstGeom>
          <a:noFill/>
          <a:ln/>
        </p:spPr>
        <p:txBody>
          <a:bodyPr wrap="square" lIns="0" tIns="0" rIns="0" bIns="0" rtlCol="0" anchor="t"/>
          <a:lstStyle/>
          <a:p>
            <a:pPr indent="0" marL="0">
              <a:buNone/>
            </a:pPr>
            <a:r>
              <a:rPr lang="en-US" sz="1400" b="1" dirty="0">
                <a:solidFill>
                  <a:srgbClr val="264549"/>
                </a:solidFill>
                <a:latin typeface="Epilogue" pitchFamily="34" charset="0"/>
                <a:ea typeface="Epilogue" pitchFamily="34" charset="-122"/>
                <a:cs typeface="Epilogue" pitchFamily="34" charset="-120"/>
              </a:rPr>
              <a:t>Classification</a:t>
            </a:r>
            <a:endParaRPr lang="en-US" sz="1400" dirty="0"/>
          </a:p>
        </p:txBody>
      </p:sp>
      <p:sp>
        <p:nvSpPr>
          <p:cNvPr id="9" name="Text 6"/>
          <p:cNvSpPr txBox="1"/>
          <p:nvPr/>
        </p:nvSpPr>
        <p:spPr>
          <a:xfrm>
            <a:off x="713232" y="4782312"/>
            <a:ext cx="2916936" cy="65105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Sustaining — Existing+ (Eastwood). Threat: decoupling of the 'first PoC' by AI tools.</a:t>
            </a:r>
            <a:endParaRPr lang="en-US" sz="1200" dirty="0"/>
          </a:p>
        </p:txBody>
      </p:sp>
      <p:sp>
        <p:nvSpPr>
          <p:cNvPr id="10" name="Shape 7"/>
          <p:cNvSpPr/>
          <p:nvPr/>
        </p:nvSpPr>
        <p:spPr>
          <a:xfrm>
            <a:off x="3977640" y="4251960"/>
            <a:ext cx="3246120" cy="1280160"/>
          </a:xfrm>
          <a:prstGeom prst="rect">
            <a:avLst/>
          </a:prstGeom>
          <a:solidFill>
            <a:srgbClr val="FFFDFA"/>
          </a:solidFill>
          <a:ln w="12700">
            <a:solidFill>
              <a:srgbClr val="E6DDD1"/>
            </a:solidFill>
            <a:prstDash val="solid"/>
          </a:ln>
        </p:spPr>
      </p:sp>
      <p:sp>
        <p:nvSpPr>
          <p:cNvPr id="11" name="Text 8"/>
          <p:cNvSpPr txBox="1"/>
          <p:nvPr/>
        </p:nvSpPr>
        <p:spPr>
          <a:xfrm>
            <a:off x="4142232" y="4416552"/>
            <a:ext cx="2916936" cy="310896"/>
          </a:xfrm>
          <a:prstGeom prst="rect">
            <a:avLst/>
          </a:prstGeom>
          <a:noFill/>
          <a:ln/>
        </p:spPr>
        <p:txBody>
          <a:bodyPr wrap="square" lIns="0" tIns="0" rIns="0" bIns="0" rtlCol="0" anchor="t"/>
          <a:lstStyle/>
          <a:p>
            <a:pPr indent="0" marL="0">
              <a:buNone/>
            </a:pPr>
            <a:r>
              <a:rPr lang="en-US" sz="1400" b="1" dirty="0">
                <a:solidFill>
                  <a:srgbClr val="B8430F"/>
                </a:solidFill>
                <a:latin typeface="Epilogue" pitchFamily="34" charset="0"/>
                <a:ea typeface="Epilogue" pitchFamily="34" charset="-122"/>
                <a:cs typeface="Epilogue" pitchFamily="34" charset="-120"/>
              </a:rPr>
              <a:t>Rejected alternative</a:t>
            </a:r>
            <a:endParaRPr lang="en-US" sz="1400" dirty="0"/>
          </a:p>
        </p:txBody>
      </p:sp>
      <p:sp>
        <p:nvSpPr>
          <p:cNvPr id="12" name="Text 9"/>
          <p:cNvSpPr txBox="1"/>
          <p:nvPr/>
        </p:nvSpPr>
        <p:spPr>
          <a:xfrm>
            <a:off x="4142232" y="4782312"/>
            <a:ext cx="2916936" cy="65105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Sell it as SaaS to other BI firms: bigger market, but gives away our edge and needs a platform we can't win.</a:t>
            </a:r>
            <a:endParaRPr lang="en-US" sz="1200" dirty="0"/>
          </a:p>
        </p:txBody>
      </p:sp>
      <p:sp>
        <p:nvSpPr>
          <p:cNvPr id="13" name="Text 10"/>
          <p:cNvSpPr txBox="1"/>
          <p:nvPr/>
        </p:nvSpPr>
        <p:spPr>
          <a:xfrm>
            <a:off x="7543800" y="1783080"/>
            <a:ext cx="4023360" cy="274320"/>
          </a:xfrm>
          <a:prstGeom prst="rect">
            <a:avLst/>
          </a:prstGeom>
          <a:noFill/>
          <a:ln/>
        </p:spPr>
        <p:txBody>
          <a:bodyPr wrap="square" lIns="0" tIns="0" rIns="0" bIns="0" rtlCol="0" anchor="t"/>
          <a:lstStyle/>
          <a:p>
            <a:pPr indent="0" marL="0">
              <a:buNone/>
            </a:pPr>
            <a:r>
              <a:rPr lang="en-US" sz="1300" b="1" dirty="0">
                <a:solidFill>
                  <a:srgbClr val="264549"/>
                </a:solidFill>
                <a:latin typeface="Epilogue" pitchFamily="34" charset="0"/>
                <a:ea typeface="Epilogue" pitchFamily="34" charset="-122"/>
                <a:cs typeface="Epilogue" pitchFamily="34" charset="-120"/>
              </a:rPr>
              <a:t>Weill &amp; Woerner (2013)</a:t>
            </a:r>
            <a:endParaRPr lang="en-US" sz="1300" dirty="0"/>
          </a:p>
        </p:txBody>
      </p:sp>
      <p:sp>
        <p:nvSpPr>
          <p:cNvPr id="14" name="Shape 11"/>
          <p:cNvSpPr/>
          <p:nvPr/>
        </p:nvSpPr>
        <p:spPr>
          <a:xfrm>
            <a:off x="7543800" y="2103120"/>
            <a:ext cx="2011680" cy="868680"/>
          </a:xfrm>
          <a:prstGeom prst="rect">
            <a:avLst/>
          </a:prstGeom>
          <a:solidFill>
            <a:srgbClr val="E4EFD3"/>
          </a:solidFill>
          <a:ln/>
        </p:spPr>
      </p:sp>
      <p:sp>
        <p:nvSpPr>
          <p:cNvPr id="15" name="Text 12"/>
          <p:cNvSpPr txBox="1"/>
          <p:nvPr/>
        </p:nvSpPr>
        <p:spPr>
          <a:xfrm>
            <a:off x="7635240" y="2176272"/>
            <a:ext cx="1828800" cy="274320"/>
          </a:xfrm>
          <a:prstGeom prst="rect">
            <a:avLst/>
          </a:prstGeom>
          <a:noFill/>
          <a:ln/>
        </p:spPr>
        <p:txBody>
          <a:bodyPr wrap="square" lIns="0" tIns="0" rIns="0" bIns="0" rtlCol="0" anchor="t"/>
          <a:lstStyle/>
          <a:p>
            <a:pPr indent="0" marL="0">
              <a:buNone/>
            </a:pPr>
            <a:r>
              <a:rPr lang="en-US" sz="1200" b="1" dirty="0">
                <a:solidFill>
                  <a:srgbClr val="264549"/>
                </a:solidFill>
                <a:latin typeface="Manrope" pitchFamily="34" charset="0"/>
                <a:ea typeface="Manrope" pitchFamily="34" charset="-122"/>
                <a:cs typeface="Manrope" pitchFamily="34" charset="-120"/>
              </a:rPr>
              <a:t>Omnichannel</a:t>
            </a:r>
            <a:endParaRPr lang="en-US" sz="1200" dirty="0"/>
          </a:p>
        </p:txBody>
      </p:sp>
      <p:sp>
        <p:nvSpPr>
          <p:cNvPr id="16" name="Shape 13"/>
          <p:cNvSpPr/>
          <p:nvPr/>
        </p:nvSpPr>
        <p:spPr>
          <a:xfrm>
            <a:off x="9610344" y="2103120"/>
            <a:ext cx="2011680" cy="868680"/>
          </a:xfrm>
          <a:prstGeom prst="rect">
            <a:avLst/>
          </a:prstGeom>
          <a:solidFill>
            <a:srgbClr val="EFE9E1"/>
          </a:solidFill>
          <a:ln/>
        </p:spPr>
      </p:sp>
      <p:sp>
        <p:nvSpPr>
          <p:cNvPr id="17" name="Text 14"/>
          <p:cNvSpPr txBox="1"/>
          <p:nvPr/>
        </p:nvSpPr>
        <p:spPr>
          <a:xfrm>
            <a:off x="9701784" y="2176272"/>
            <a:ext cx="1828800" cy="274320"/>
          </a:xfrm>
          <a:prstGeom prst="rect">
            <a:avLst/>
          </a:prstGeom>
          <a:noFill/>
          <a:ln/>
        </p:spPr>
        <p:txBody>
          <a:bodyPr wrap="square" lIns="0" tIns="0" rIns="0" bIns="0" rtlCol="0" anchor="t"/>
          <a:lstStyle/>
          <a:p>
            <a:pPr indent="0" marL="0">
              <a:buNone/>
            </a:pPr>
            <a:r>
              <a:rPr lang="en-US" sz="1200" b="1" dirty="0">
                <a:solidFill>
                  <a:srgbClr val="264549"/>
                </a:solidFill>
                <a:latin typeface="Manrope" pitchFamily="34" charset="0"/>
                <a:ea typeface="Manrope" pitchFamily="34" charset="-122"/>
                <a:cs typeface="Manrope" pitchFamily="34" charset="-120"/>
              </a:rPr>
              <a:t>Ecosystem driver</a:t>
            </a:r>
            <a:endParaRPr lang="en-US" sz="1200" dirty="0"/>
          </a:p>
        </p:txBody>
      </p:sp>
      <p:sp>
        <p:nvSpPr>
          <p:cNvPr id="18" name="Shape 15"/>
          <p:cNvSpPr/>
          <p:nvPr/>
        </p:nvSpPr>
        <p:spPr>
          <a:xfrm>
            <a:off x="7543800" y="3026664"/>
            <a:ext cx="2011680" cy="868680"/>
          </a:xfrm>
          <a:prstGeom prst="rect">
            <a:avLst/>
          </a:prstGeom>
          <a:solidFill>
            <a:srgbClr val="FAECD9"/>
          </a:solidFill>
          <a:ln/>
        </p:spPr>
      </p:sp>
      <p:sp>
        <p:nvSpPr>
          <p:cNvPr id="19" name="Text 16"/>
          <p:cNvSpPr txBox="1"/>
          <p:nvPr/>
        </p:nvSpPr>
        <p:spPr>
          <a:xfrm>
            <a:off x="7635240" y="3099816"/>
            <a:ext cx="1828800" cy="274320"/>
          </a:xfrm>
          <a:prstGeom prst="rect">
            <a:avLst/>
          </a:prstGeom>
          <a:noFill/>
          <a:ln/>
        </p:spPr>
        <p:txBody>
          <a:bodyPr wrap="square" lIns="0" tIns="0" rIns="0" bIns="0" rtlCol="0" anchor="t"/>
          <a:lstStyle/>
          <a:p>
            <a:pPr indent="0" marL="0">
              <a:buNone/>
            </a:pPr>
            <a:r>
              <a:rPr lang="en-US" sz="1200" b="1" dirty="0">
                <a:solidFill>
                  <a:srgbClr val="264549"/>
                </a:solidFill>
                <a:latin typeface="Manrope" pitchFamily="34" charset="0"/>
                <a:ea typeface="Manrope" pitchFamily="34" charset="-122"/>
                <a:cs typeface="Manrope" pitchFamily="34" charset="-120"/>
              </a:rPr>
              <a:t>Supplier</a:t>
            </a:r>
            <a:endParaRPr lang="en-US" sz="1200" dirty="0"/>
          </a:p>
        </p:txBody>
      </p:sp>
      <p:sp>
        <p:nvSpPr>
          <p:cNvPr id="20" name="Shape 17"/>
          <p:cNvSpPr/>
          <p:nvPr/>
        </p:nvSpPr>
        <p:spPr>
          <a:xfrm>
            <a:off x="9610344" y="3026664"/>
            <a:ext cx="2011680" cy="868680"/>
          </a:xfrm>
          <a:prstGeom prst="rect">
            <a:avLst/>
          </a:prstGeom>
          <a:solidFill>
            <a:srgbClr val="EFE9E1"/>
          </a:solidFill>
          <a:ln/>
        </p:spPr>
      </p:sp>
      <p:sp>
        <p:nvSpPr>
          <p:cNvPr id="21" name="Text 18"/>
          <p:cNvSpPr txBox="1"/>
          <p:nvPr/>
        </p:nvSpPr>
        <p:spPr>
          <a:xfrm>
            <a:off x="9701784" y="3099816"/>
            <a:ext cx="1828800" cy="274320"/>
          </a:xfrm>
          <a:prstGeom prst="rect">
            <a:avLst/>
          </a:prstGeom>
          <a:noFill/>
          <a:ln/>
        </p:spPr>
        <p:txBody>
          <a:bodyPr wrap="square" lIns="0" tIns="0" rIns="0" bIns="0" rtlCol="0" anchor="t"/>
          <a:lstStyle/>
          <a:p>
            <a:pPr indent="0" marL="0">
              <a:buNone/>
            </a:pPr>
            <a:r>
              <a:rPr lang="en-US" sz="1200" b="1" dirty="0">
                <a:solidFill>
                  <a:srgbClr val="264549"/>
                </a:solidFill>
                <a:latin typeface="Manrope" pitchFamily="34" charset="0"/>
                <a:ea typeface="Manrope" pitchFamily="34" charset="-122"/>
                <a:cs typeface="Manrope" pitchFamily="34" charset="-120"/>
              </a:rPr>
              <a:t>Modular producer</a:t>
            </a:r>
            <a:endParaRPr lang="en-US" sz="1200" dirty="0"/>
          </a:p>
        </p:txBody>
      </p:sp>
      <p:sp>
        <p:nvSpPr>
          <p:cNvPr id="22" name="Text 19"/>
          <p:cNvSpPr txBox="1"/>
          <p:nvPr/>
        </p:nvSpPr>
        <p:spPr>
          <a:xfrm>
            <a:off x="7680960" y="3483864"/>
            <a:ext cx="1097280" cy="274320"/>
          </a:xfrm>
          <a:prstGeom prst="rect">
            <a:avLst/>
          </a:prstGeom>
          <a:noFill/>
          <a:ln/>
        </p:spPr>
        <p:txBody>
          <a:bodyPr wrap="square" lIns="0" tIns="0" rIns="0" bIns="0" rtlCol="0" anchor="t"/>
          <a:lstStyle/>
          <a:p>
            <a:pPr indent="0" marL="0">
              <a:buNone/>
            </a:pPr>
            <a:r>
              <a:rPr lang="en-US" sz="1200" b="1" dirty="0">
                <a:solidFill>
                  <a:srgbClr val="FF5713"/>
                </a:solidFill>
                <a:latin typeface="Manrope" pitchFamily="34" charset="0"/>
                <a:ea typeface="Manrope" pitchFamily="34" charset="-122"/>
                <a:cs typeface="Manrope" pitchFamily="34" charset="-120"/>
              </a:rPr>
              <a:t>● now</a:t>
            </a:r>
            <a:endParaRPr lang="en-US" sz="1200" dirty="0"/>
          </a:p>
        </p:txBody>
      </p:sp>
      <p:sp>
        <p:nvSpPr>
          <p:cNvPr id="23" name="Text 20"/>
          <p:cNvSpPr txBox="1"/>
          <p:nvPr/>
        </p:nvSpPr>
        <p:spPr>
          <a:xfrm>
            <a:off x="7680960" y="2560320"/>
            <a:ext cx="1097280" cy="274320"/>
          </a:xfrm>
          <a:prstGeom prst="rect">
            <a:avLst/>
          </a:prstGeom>
          <a:noFill/>
          <a:ln/>
        </p:spPr>
        <p:txBody>
          <a:bodyPr wrap="square" lIns="0" tIns="0" rIns="0" bIns="0" rtlCol="0" anchor="t"/>
          <a:lstStyle/>
          <a:p>
            <a:pPr indent="0" marL="0">
              <a:buNone/>
            </a:pPr>
            <a:r>
              <a:rPr lang="en-US" sz="1200" b="1" dirty="0">
                <a:solidFill>
                  <a:srgbClr val="3F6B4E"/>
                </a:solidFill>
                <a:latin typeface="Manrope" pitchFamily="34" charset="0"/>
                <a:ea typeface="Manrope" pitchFamily="34" charset="-122"/>
                <a:cs typeface="Manrope" pitchFamily="34" charset="-120"/>
              </a:rPr>
              <a:t>▲ goal</a:t>
            </a:r>
            <a:endParaRPr lang="en-US" sz="1200" dirty="0"/>
          </a:p>
        </p:txBody>
      </p:sp>
      <p:sp>
        <p:nvSpPr>
          <p:cNvPr id="24" name="Text 21"/>
          <p:cNvSpPr txBox="1"/>
          <p:nvPr/>
        </p:nvSpPr>
        <p:spPr>
          <a:xfrm>
            <a:off x="7543800" y="3977640"/>
            <a:ext cx="41148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 more knowledge of the end client (from the call on)</a:t>
            </a:r>
            <a:endParaRPr lang="en-US" sz="1000" dirty="0"/>
          </a:p>
        </p:txBody>
      </p:sp>
      <p:sp>
        <p:nvSpPr>
          <p:cNvPr id="25" name="Text 22"/>
          <p:cNvSpPr txBox="1"/>
          <p:nvPr/>
        </p:nvSpPr>
        <p:spPr>
          <a:xfrm>
            <a:off x="7543800" y="4251960"/>
            <a:ext cx="4114800" cy="274320"/>
          </a:xfrm>
          <a:prstGeom prst="rect">
            <a:avLst/>
          </a:prstGeom>
          <a:noFill/>
          <a:ln/>
        </p:spPr>
        <p:txBody>
          <a:bodyPr wrap="square" lIns="0" tIns="0" rIns="0" bIns="0" rtlCol="0" anchor="t"/>
          <a:lstStyle/>
          <a:p>
            <a:pPr indent="0" marL="0">
              <a:buNone/>
            </a:pPr>
            <a:r>
              <a:rPr lang="en-US" sz="1300" b="1" dirty="0">
                <a:solidFill>
                  <a:srgbClr val="264549"/>
                </a:solidFill>
                <a:latin typeface="Epilogue" pitchFamily="34" charset="0"/>
                <a:ea typeface="Epilogue" pitchFamily="34" charset="-122"/>
                <a:cs typeface="Epilogue" pitchFamily="34" charset="-120"/>
              </a:rPr>
              <a:t>Cook, Hagiu &amp; Wright (2024) ladder</a:t>
            </a:r>
            <a:endParaRPr lang="en-US" sz="1300" dirty="0"/>
          </a:p>
        </p:txBody>
      </p:sp>
      <p:sp>
        <p:nvSpPr>
          <p:cNvPr id="26" name="Shape 23"/>
          <p:cNvSpPr/>
          <p:nvPr/>
        </p:nvSpPr>
        <p:spPr>
          <a:xfrm>
            <a:off x="7543800" y="4572000"/>
            <a:ext cx="4096512" cy="292608"/>
          </a:xfrm>
          <a:prstGeom prst="rect">
            <a:avLst/>
          </a:prstGeom>
          <a:solidFill>
            <a:srgbClr val="EFE9E1"/>
          </a:solidFill>
          <a:ln/>
        </p:spPr>
      </p:sp>
      <p:sp>
        <p:nvSpPr>
          <p:cNvPr id="27" name="Text 24"/>
          <p:cNvSpPr txBox="1"/>
          <p:nvPr/>
        </p:nvSpPr>
        <p:spPr>
          <a:xfrm>
            <a:off x="7635240" y="4572000"/>
            <a:ext cx="3840480" cy="292608"/>
          </a:xfrm>
          <a:prstGeom prst="rect">
            <a:avLst/>
          </a:prstGeom>
          <a:noFill/>
          <a:ln/>
        </p:spPr>
        <p:txBody>
          <a:bodyPr wrap="square" lIns="0" tIns="0" rIns="0" bIns="0" rtlCol="0" anchor="ctr"/>
          <a:lstStyle/>
          <a:p>
            <a:pPr indent="0" marL="0">
              <a:buNone/>
            </a:pPr>
            <a:r>
              <a:rPr lang="en-US" sz="1100" b="1" dirty="0">
                <a:solidFill>
                  <a:srgbClr val="3E5559"/>
                </a:solidFill>
                <a:latin typeface="Manrope" pitchFamily="34" charset="0"/>
                <a:ea typeface="Manrope" pitchFamily="34" charset="-122"/>
                <a:cs typeface="Manrope" pitchFamily="34" charset="-120"/>
              </a:rPr>
              <a:t>1  Public tool — any LLM</a:t>
            </a:r>
            <a:endParaRPr lang="en-US" sz="1100" dirty="0"/>
          </a:p>
        </p:txBody>
      </p:sp>
      <p:sp>
        <p:nvSpPr>
          <p:cNvPr id="28" name="Shape 25"/>
          <p:cNvSpPr/>
          <p:nvPr/>
        </p:nvSpPr>
        <p:spPr>
          <a:xfrm>
            <a:off x="7726680" y="4901184"/>
            <a:ext cx="3913632" cy="292608"/>
          </a:xfrm>
          <a:prstGeom prst="rect">
            <a:avLst/>
          </a:prstGeom>
          <a:solidFill>
            <a:srgbClr val="FAECD9"/>
          </a:solidFill>
          <a:ln/>
        </p:spPr>
      </p:sp>
      <p:sp>
        <p:nvSpPr>
          <p:cNvPr id="29" name="Text 26"/>
          <p:cNvSpPr txBox="1"/>
          <p:nvPr/>
        </p:nvSpPr>
        <p:spPr>
          <a:xfrm>
            <a:off x="7818120" y="4901184"/>
            <a:ext cx="3657600" cy="292608"/>
          </a:xfrm>
          <a:prstGeom prst="rect">
            <a:avLst/>
          </a:prstGeom>
          <a:noFill/>
          <a:ln/>
        </p:spPr>
        <p:txBody>
          <a:bodyPr wrap="square" lIns="0" tIns="0" rIns="0" bIns="0" rtlCol="0" anchor="ctr"/>
          <a:lstStyle/>
          <a:p>
            <a:pPr indent="0" marL="0">
              <a:buNone/>
            </a:pPr>
            <a:r>
              <a:rPr lang="en-US" sz="1100" b="1" dirty="0">
                <a:solidFill>
                  <a:srgbClr val="264549"/>
                </a:solidFill>
                <a:latin typeface="Manrope" pitchFamily="34" charset="0"/>
                <a:ea typeface="Manrope" pitchFamily="34" charset="-122"/>
                <a:cs typeface="Manrope" pitchFamily="34" charset="-120"/>
              </a:rPr>
              <a:t>2  Own templates + spec library — now</a:t>
            </a:r>
            <a:endParaRPr lang="en-US" sz="1100" dirty="0"/>
          </a:p>
        </p:txBody>
      </p:sp>
      <p:sp>
        <p:nvSpPr>
          <p:cNvPr id="30" name="Shape 27"/>
          <p:cNvSpPr/>
          <p:nvPr/>
        </p:nvSpPr>
        <p:spPr>
          <a:xfrm>
            <a:off x="7909560" y="5230368"/>
            <a:ext cx="3730752" cy="292608"/>
          </a:xfrm>
          <a:prstGeom prst="rect">
            <a:avLst/>
          </a:prstGeom>
          <a:solidFill>
            <a:srgbClr val="E4EFD3"/>
          </a:solidFill>
          <a:ln/>
        </p:spPr>
      </p:sp>
      <p:sp>
        <p:nvSpPr>
          <p:cNvPr id="31" name="Text 28"/>
          <p:cNvSpPr txBox="1"/>
          <p:nvPr/>
        </p:nvSpPr>
        <p:spPr>
          <a:xfrm>
            <a:off x="8001000" y="5230368"/>
            <a:ext cx="3474720" cy="292608"/>
          </a:xfrm>
          <a:prstGeom prst="rect">
            <a:avLst/>
          </a:prstGeom>
          <a:noFill/>
          <a:ln/>
        </p:spPr>
        <p:txBody>
          <a:bodyPr wrap="square" lIns="0" tIns="0" rIns="0" bIns="0" rtlCol="0" anchor="ctr"/>
          <a:lstStyle/>
          <a:p>
            <a:pPr indent="0" marL="0">
              <a:buNone/>
            </a:pPr>
            <a:r>
              <a:rPr lang="en-US" sz="1100" b="1" dirty="0">
                <a:solidFill>
                  <a:srgbClr val="3F6B4E"/>
                </a:solidFill>
                <a:latin typeface="Manrope" pitchFamily="34" charset="0"/>
                <a:ea typeface="Manrope" pitchFamily="34" charset="-122"/>
                <a:cs typeface="Manrope" pitchFamily="34" charset="-120"/>
              </a:rPr>
              <a:t>3  Feedback loop: edits + won deals — goal</a:t>
            </a:r>
            <a:endParaRPr lang="en-US" sz="1100" dirty="0"/>
          </a:p>
        </p:txBody>
      </p:sp>
      <p:sp>
        <p:nvSpPr>
          <p:cNvPr id="32" name="Shape 29"/>
          <p:cNvSpPr/>
          <p:nvPr/>
        </p:nvSpPr>
        <p:spPr>
          <a:xfrm>
            <a:off x="548640" y="5687568"/>
            <a:ext cx="11094415" cy="512064"/>
          </a:xfrm>
          <a:prstGeom prst="rect">
            <a:avLst/>
          </a:prstGeom>
          <a:solidFill>
            <a:srgbClr val="E4EFD3"/>
          </a:solidFill>
          <a:ln/>
        </p:spPr>
      </p:sp>
      <p:sp>
        <p:nvSpPr>
          <p:cNvPr id="33" name="Text 30"/>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Stay in the value chain, own the PoC step, and design for the feedback loop (level 3) from day one.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WORKFLOW: MANUAL VS PRODUCT</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Four steps: the AI drafts, code computes, the consultant decides</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C · Lab: BUILD (S3)</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05</a:t>
            </a:r>
            <a:endParaRPr lang="en-US" sz="1000" dirty="0"/>
          </a:p>
        </p:txBody>
      </p:sp>
      <p:sp>
        <p:nvSpPr>
          <p:cNvPr id="6" name="Text 4"/>
          <p:cNvSpPr txBox="1"/>
          <p:nvPr/>
        </p:nvSpPr>
        <p:spPr>
          <a:xfrm>
            <a:off x="548640" y="1783080"/>
            <a:ext cx="1325880" cy="777240"/>
          </a:xfrm>
          <a:prstGeom prst="rect">
            <a:avLst/>
          </a:prstGeom>
          <a:noFill/>
          <a:ln/>
        </p:spPr>
        <p:txBody>
          <a:bodyPr wrap="square" lIns="0" tIns="0" rIns="0" bIns="0" rtlCol="0" anchor="ctr"/>
          <a:lstStyle/>
          <a:p>
            <a:pPr indent="0" marL="0">
              <a:buNone/>
            </a:pPr>
            <a:r>
              <a:rPr lang="en-US" sz="1400" b="1" dirty="0">
                <a:solidFill>
                  <a:srgbClr val="5A6E71"/>
                </a:solidFill>
                <a:latin typeface="Epilogue" pitchFamily="34" charset="0"/>
                <a:ea typeface="Epilogue" pitchFamily="34" charset="-122"/>
                <a:cs typeface="Epilogue" pitchFamily="34" charset="-120"/>
              </a:rPr>
              <a:t>Manual today</a:t>
            </a:r>
            <a:endParaRPr lang="en-US" sz="1400" dirty="0"/>
          </a:p>
        </p:txBody>
      </p:sp>
      <p:sp>
        <p:nvSpPr>
          <p:cNvPr id="7" name="Shape 5"/>
          <p:cNvSpPr/>
          <p:nvPr/>
        </p:nvSpPr>
        <p:spPr>
          <a:xfrm>
            <a:off x="1965960" y="1783080"/>
            <a:ext cx="2350694" cy="777240"/>
          </a:xfrm>
          <a:prstGeom prst="rect">
            <a:avLst/>
          </a:prstGeom>
          <a:solidFill>
            <a:srgbClr val="EFE9E1"/>
          </a:solidFill>
          <a:ln/>
        </p:spPr>
      </p:sp>
      <p:sp>
        <p:nvSpPr>
          <p:cNvPr id="8" name="Text 6"/>
          <p:cNvSpPr txBox="1"/>
          <p:nvPr/>
        </p:nvSpPr>
        <p:spPr>
          <a:xfrm>
            <a:off x="2075688" y="1783080"/>
            <a:ext cx="2131238" cy="777240"/>
          </a:xfrm>
          <a:prstGeom prst="rect">
            <a:avLst/>
          </a:prstGeom>
          <a:noFill/>
          <a:ln/>
        </p:spPr>
        <p:txBody>
          <a:bodyPr wrap="square" lIns="0" tIns="0" rIns="0" bIns="0" rtlCol="0" anchor="ctr"/>
          <a:lstStyle/>
          <a:p>
            <a:pPr indent="0" marL="0">
              <a:buNone/>
            </a:pPr>
            <a:r>
              <a:rPr lang="en-US" sz="1300" dirty="0">
                <a:solidFill>
                  <a:srgbClr val="5A6E71"/>
                </a:solidFill>
                <a:latin typeface="Manrope" pitchFamily="34" charset="0"/>
                <a:ea typeface="Manrope" pitchFamily="34" charset="-122"/>
                <a:cs typeface="Manrope" pitchFamily="34" charset="-120"/>
              </a:rPr>
              <a:t>Call + handwritten notes</a:t>
            </a:r>
            <a:endParaRPr lang="en-US" sz="1300" dirty="0"/>
          </a:p>
        </p:txBody>
      </p:sp>
      <p:sp>
        <p:nvSpPr>
          <p:cNvPr id="9" name="Shape 7"/>
          <p:cNvSpPr/>
          <p:nvPr/>
        </p:nvSpPr>
        <p:spPr>
          <a:xfrm>
            <a:off x="4408094" y="1783080"/>
            <a:ext cx="2350694" cy="777240"/>
          </a:xfrm>
          <a:prstGeom prst="rect">
            <a:avLst/>
          </a:prstGeom>
          <a:solidFill>
            <a:srgbClr val="EFE9E1"/>
          </a:solidFill>
          <a:ln/>
        </p:spPr>
      </p:sp>
      <p:sp>
        <p:nvSpPr>
          <p:cNvPr id="10" name="Text 8"/>
          <p:cNvSpPr txBox="1"/>
          <p:nvPr/>
        </p:nvSpPr>
        <p:spPr>
          <a:xfrm>
            <a:off x="4517822" y="1783080"/>
            <a:ext cx="2131238" cy="777240"/>
          </a:xfrm>
          <a:prstGeom prst="rect">
            <a:avLst/>
          </a:prstGeom>
          <a:noFill/>
          <a:ln/>
        </p:spPr>
        <p:txBody>
          <a:bodyPr wrap="square" lIns="0" tIns="0" rIns="0" bIns="0" rtlCol="0" anchor="ctr"/>
          <a:lstStyle/>
          <a:p>
            <a:pPr indent="0" marL="0">
              <a:buNone/>
            </a:pPr>
            <a:r>
              <a:rPr lang="en-US" sz="1300" dirty="0">
                <a:solidFill>
                  <a:srgbClr val="5A6E71"/>
                </a:solidFill>
                <a:latin typeface="Manrope" pitchFamily="34" charset="0"/>
                <a:ea typeface="Manrope" pitchFamily="34" charset="-122"/>
                <a:cs typeface="Manrope" pitchFamily="34" charset="-120"/>
              </a:rPr>
              <a:t>Think up follow-up questions</a:t>
            </a:r>
            <a:endParaRPr lang="en-US" sz="1300" dirty="0"/>
          </a:p>
        </p:txBody>
      </p:sp>
      <p:sp>
        <p:nvSpPr>
          <p:cNvPr id="11" name="Shape 9"/>
          <p:cNvSpPr/>
          <p:nvPr/>
        </p:nvSpPr>
        <p:spPr>
          <a:xfrm>
            <a:off x="6850228" y="1783080"/>
            <a:ext cx="2350694" cy="777240"/>
          </a:xfrm>
          <a:prstGeom prst="rect">
            <a:avLst/>
          </a:prstGeom>
          <a:solidFill>
            <a:srgbClr val="EFE9E1"/>
          </a:solidFill>
          <a:ln/>
        </p:spPr>
      </p:sp>
      <p:sp>
        <p:nvSpPr>
          <p:cNvPr id="12" name="Text 10"/>
          <p:cNvSpPr txBox="1"/>
          <p:nvPr/>
        </p:nvSpPr>
        <p:spPr>
          <a:xfrm>
            <a:off x="6959956" y="1783080"/>
            <a:ext cx="2131238" cy="777240"/>
          </a:xfrm>
          <a:prstGeom prst="rect">
            <a:avLst/>
          </a:prstGeom>
          <a:noFill/>
          <a:ln/>
        </p:spPr>
        <p:txBody>
          <a:bodyPr wrap="square" lIns="0" tIns="0" rIns="0" bIns="0" rtlCol="0" anchor="ctr"/>
          <a:lstStyle/>
          <a:p>
            <a:pPr indent="0" marL="0">
              <a:buNone/>
            </a:pPr>
            <a:r>
              <a:rPr lang="en-US" sz="1300" dirty="0">
                <a:solidFill>
                  <a:srgbClr val="5A6E71"/>
                </a:solidFill>
                <a:latin typeface="Manrope" pitchFamily="34" charset="0"/>
                <a:ea typeface="Manrope" pitchFamily="34" charset="-122"/>
                <a:cs typeface="Manrope" pitchFamily="34" charset="-120"/>
              </a:rPr>
              <a:t>Write Word proposal (hours)</a:t>
            </a:r>
            <a:endParaRPr lang="en-US" sz="1300" dirty="0"/>
          </a:p>
        </p:txBody>
      </p:sp>
      <p:sp>
        <p:nvSpPr>
          <p:cNvPr id="13" name="Shape 11"/>
          <p:cNvSpPr/>
          <p:nvPr/>
        </p:nvSpPr>
        <p:spPr>
          <a:xfrm>
            <a:off x="9292361" y="1783080"/>
            <a:ext cx="2350694" cy="777240"/>
          </a:xfrm>
          <a:prstGeom prst="rect">
            <a:avLst/>
          </a:prstGeom>
          <a:solidFill>
            <a:srgbClr val="EFE9E1"/>
          </a:solidFill>
          <a:ln/>
        </p:spPr>
      </p:sp>
      <p:sp>
        <p:nvSpPr>
          <p:cNvPr id="14" name="Text 12"/>
          <p:cNvSpPr txBox="1"/>
          <p:nvPr/>
        </p:nvSpPr>
        <p:spPr>
          <a:xfrm>
            <a:off x="9402089" y="1783080"/>
            <a:ext cx="2131238" cy="777240"/>
          </a:xfrm>
          <a:prstGeom prst="rect">
            <a:avLst/>
          </a:prstGeom>
          <a:noFill/>
          <a:ln/>
        </p:spPr>
        <p:txBody>
          <a:bodyPr wrap="square" lIns="0" tIns="0" rIns="0" bIns="0" rtlCol="0" anchor="ctr"/>
          <a:lstStyle/>
          <a:p>
            <a:pPr indent="0" marL="0">
              <a:buNone/>
            </a:pPr>
            <a:r>
              <a:rPr lang="en-US" sz="1300" dirty="0">
                <a:solidFill>
                  <a:srgbClr val="5A6E71"/>
                </a:solidFill>
                <a:latin typeface="Manrope" pitchFamily="34" charset="0"/>
                <a:ea typeface="Manrope" pitchFamily="34" charset="-122"/>
                <a:cs typeface="Manrope" pitchFamily="34" charset="-120"/>
              </a:rPr>
              <a:t>Build demo on sample data (days)</a:t>
            </a:r>
            <a:endParaRPr lang="en-US" sz="1300" dirty="0"/>
          </a:p>
        </p:txBody>
      </p:sp>
      <p:sp>
        <p:nvSpPr>
          <p:cNvPr id="15" name="Text 13"/>
          <p:cNvSpPr txBox="1"/>
          <p:nvPr/>
        </p:nvSpPr>
        <p:spPr>
          <a:xfrm>
            <a:off x="548640" y="2697480"/>
            <a:ext cx="1325880" cy="1051560"/>
          </a:xfrm>
          <a:prstGeom prst="rect">
            <a:avLst/>
          </a:prstGeom>
          <a:noFill/>
          <a:ln/>
        </p:spPr>
        <p:txBody>
          <a:bodyPr wrap="square" lIns="0" tIns="0" rIns="0" bIns="0" rtlCol="0" anchor="ctr"/>
          <a:lstStyle/>
          <a:p>
            <a:pPr indent="0" marL="0">
              <a:buNone/>
            </a:pPr>
            <a:r>
              <a:rPr lang="en-US" sz="1400" b="1" dirty="0">
                <a:solidFill>
                  <a:srgbClr val="264549"/>
                </a:solidFill>
                <a:latin typeface="Epilogue" pitchFamily="34" charset="0"/>
                <a:ea typeface="Epilogue" pitchFamily="34" charset="-122"/>
                <a:cs typeface="Epilogue" pitchFamily="34" charset="-120"/>
              </a:rPr>
              <a:t>With the product</a:t>
            </a:r>
            <a:endParaRPr lang="en-US" sz="1400" dirty="0"/>
          </a:p>
        </p:txBody>
      </p:sp>
      <p:sp>
        <p:nvSpPr>
          <p:cNvPr id="16" name="Shape 14"/>
          <p:cNvSpPr/>
          <p:nvPr/>
        </p:nvSpPr>
        <p:spPr>
          <a:xfrm>
            <a:off x="1965960" y="2697480"/>
            <a:ext cx="2350694" cy="1051560"/>
          </a:xfrm>
          <a:prstGeom prst="rect">
            <a:avLst/>
          </a:prstGeom>
          <a:solidFill>
            <a:srgbClr val="FFFDFA"/>
          </a:solidFill>
          <a:ln w="12700">
            <a:solidFill>
              <a:srgbClr val="264549"/>
            </a:solidFill>
            <a:prstDash val="solid"/>
          </a:ln>
        </p:spPr>
      </p:sp>
      <p:sp>
        <p:nvSpPr>
          <p:cNvPr id="17" name="Text 15"/>
          <p:cNvSpPr txBox="1"/>
          <p:nvPr/>
        </p:nvSpPr>
        <p:spPr>
          <a:xfrm>
            <a:off x="2075688" y="2761488"/>
            <a:ext cx="2131238" cy="566928"/>
          </a:xfrm>
          <a:prstGeom prst="rect">
            <a:avLst/>
          </a:prstGeom>
          <a:noFill/>
          <a:ln/>
        </p:spPr>
        <p:txBody>
          <a:bodyPr wrap="square" lIns="0" tIns="0" rIns="0" bIns="0" rtlCol="0" anchor="ctr"/>
          <a:lstStyle/>
          <a:p>
            <a:pPr indent="0" marL="0">
              <a:buNone/>
            </a:pPr>
            <a:r>
              <a:rPr lang="en-US" sz="1300" b="1" dirty="0">
                <a:solidFill>
                  <a:srgbClr val="264549"/>
                </a:solidFill>
                <a:latin typeface="Manrope" pitchFamily="34" charset="0"/>
                <a:ea typeface="Manrope" pitchFamily="34" charset="-122"/>
                <a:cs typeface="Manrope" pitchFamily="34" charset="-120"/>
              </a:rPr>
              <a:t>Transcript + notes → AI extracts needs</a:t>
            </a:r>
            <a:endParaRPr lang="en-US" sz="1300" dirty="0"/>
          </a:p>
        </p:txBody>
      </p:sp>
      <p:sp>
        <p:nvSpPr>
          <p:cNvPr id="18" name="Text 16"/>
          <p:cNvSpPr txBox="1"/>
          <p:nvPr/>
        </p:nvSpPr>
        <p:spPr>
          <a:xfrm>
            <a:off x="2075688" y="3364992"/>
            <a:ext cx="2131238" cy="292608"/>
          </a:xfrm>
          <a:prstGeom prst="rect">
            <a:avLst/>
          </a:prstGeom>
          <a:noFill/>
          <a:ln/>
        </p:spPr>
        <p:txBody>
          <a:bodyPr wrap="square" lIns="0" tIns="0" rIns="0" bIns="0" rtlCol="0" anchor="t"/>
          <a:lstStyle/>
          <a:p>
            <a:pPr indent="0" marL="0">
              <a:buNone/>
            </a:pPr>
            <a:r>
              <a:rPr lang="en-US" sz="1100" b="1" dirty="0">
                <a:solidFill>
                  <a:srgbClr val="B8430F"/>
                </a:solidFill>
                <a:latin typeface="Manrope" pitchFamily="34" charset="0"/>
                <a:ea typeface="Manrope" pitchFamily="34" charset="-122"/>
                <a:cs typeface="Manrope" pitchFamily="34" charset="-120"/>
              </a:rPr>
              <a:t>Information</a:t>
            </a:r>
            <a:endParaRPr lang="en-US" sz="1100" dirty="0"/>
          </a:p>
        </p:txBody>
      </p:sp>
      <p:sp>
        <p:nvSpPr>
          <p:cNvPr id="19" name="Shape 17"/>
          <p:cNvSpPr/>
          <p:nvPr/>
        </p:nvSpPr>
        <p:spPr>
          <a:xfrm>
            <a:off x="4408094" y="2697480"/>
            <a:ext cx="2350694" cy="1051560"/>
          </a:xfrm>
          <a:prstGeom prst="rect">
            <a:avLst/>
          </a:prstGeom>
          <a:solidFill>
            <a:srgbClr val="FFFDFA"/>
          </a:solidFill>
          <a:ln w="12700">
            <a:solidFill>
              <a:srgbClr val="264549"/>
            </a:solidFill>
            <a:prstDash val="solid"/>
          </a:ln>
        </p:spPr>
      </p:sp>
      <p:sp>
        <p:nvSpPr>
          <p:cNvPr id="20" name="Text 18"/>
          <p:cNvSpPr txBox="1"/>
          <p:nvPr/>
        </p:nvSpPr>
        <p:spPr>
          <a:xfrm>
            <a:off x="4517822" y="2761488"/>
            <a:ext cx="2131238" cy="566928"/>
          </a:xfrm>
          <a:prstGeom prst="rect">
            <a:avLst/>
          </a:prstGeom>
          <a:noFill/>
          <a:ln/>
        </p:spPr>
        <p:txBody>
          <a:bodyPr wrap="square" lIns="0" tIns="0" rIns="0" bIns="0" rtlCol="0" anchor="ctr"/>
          <a:lstStyle/>
          <a:p>
            <a:pPr indent="0" marL="0">
              <a:buNone/>
            </a:pPr>
            <a:r>
              <a:rPr lang="en-US" sz="1300" b="1" dirty="0">
                <a:solidFill>
                  <a:srgbClr val="264549"/>
                </a:solidFill>
                <a:latin typeface="Manrope" pitchFamily="34" charset="0"/>
                <a:ea typeface="Manrope" pitchFamily="34" charset="-122"/>
                <a:cs typeface="Manrope" pitchFamily="34" charset="-120"/>
              </a:rPr>
              <a:t>Short questions, 'let AI estimate'</a:t>
            </a:r>
            <a:endParaRPr lang="en-US" sz="1300" dirty="0"/>
          </a:p>
        </p:txBody>
      </p:sp>
      <p:sp>
        <p:nvSpPr>
          <p:cNvPr id="21" name="Text 19"/>
          <p:cNvSpPr txBox="1"/>
          <p:nvPr/>
        </p:nvSpPr>
        <p:spPr>
          <a:xfrm>
            <a:off x="4517822" y="3364992"/>
            <a:ext cx="2131238" cy="292608"/>
          </a:xfrm>
          <a:prstGeom prst="rect">
            <a:avLst/>
          </a:prstGeom>
          <a:noFill/>
          <a:ln/>
        </p:spPr>
        <p:txBody>
          <a:bodyPr wrap="square" lIns="0" tIns="0" rIns="0" bIns="0" rtlCol="0" anchor="t"/>
          <a:lstStyle/>
          <a:p>
            <a:pPr indent="0" marL="0">
              <a:buNone/>
            </a:pPr>
            <a:r>
              <a:rPr lang="en-US" sz="1100" b="1" dirty="0">
                <a:solidFill>
                  <a:srgbClr val="B8430F"/>
                </a:solidFill>
                <a:latin typeface="Manrope" pitchFamily="34" charset="0"/>
                <a:ea typeface="Manrope" pitchFamily="34" charset="-122"/>
                <a:cs typeface="Manrope" pitchFamily="34" charset="-120"/>
              </a:rPr>
              <a:t>Interaction · augment</a:t>
            </a:r>
            <a:endParaRPr lang="en-US" sz="1100" dirty="0"/>
          </a:p>
        </p:txBody>
      </p:sp>
      <p:sp>
        <p:nvSpPr>
          <p:cNvPr id="22" name="Shape 20"/>
          <p:cNvSpPr/>
          <p:nvPr/>
        </p:nvSpPr>
        <p:spPr>
          <a:xfrm>
            <a:off x="6850228" y="2697480"/>
            <a:ext cx="2350694" cy="1051560"/>
          </a:xfrm>
          <a:prstGeom prst="rect">
            <a:avLst/>
          </a:prstGeom>
          <a:solidFill>
            <a:srgbClr val="FFFDFA"/>
          </a:solidFill>
          <a:ln w="12700">
            <a:solidFill>
              <a:srgbClr val="264549"/>
            </a:solidFill>
            <a:prstDash val="solid"/>
          </a:ln>
        </p:spPr>
      </p:sp>
      <p:sp>
        <p:nvSpPr>
          <p:cNvPr id="23" name="Text 21"/>
          <p:cNvSpPr txBox="1"/>
          <p:nvPr/>
        </p:nvSpPr>
        <p:spPr>
          <a:xfrm>
            <a:off x="6959956" y="2761488"/>
            <a:ext cx="2131238" cy="566928"/>
          </a:xfrm>
          <a:prstGeom prst="rect">
            <a:avLst/>
          </a:prstGeom>
          <a:noFill/>
          <a:ln/>
        </p:spPr>
        <p:txBody>
          <a:bodyPr wrap="square" lIns="0" tIns="0" rIns="0" bIns="0" rtlCol="0" anchor="ctr"/>
          <a:lstStyle/>
          <a:p>
            <a:pPr indent="0" marL="0">
              <a:buNone/>
            </a:pPr>
            <a:r>
              <a:rPr lang="en-US" sz="1300" b="1" dirty="0">
                <a:solidFill>
                  <a:srgbClr val="264549"/>
                </a:solidFill>
                <a:latin typeface="Manrope" pitchFamily="34" charset="0"/>
                <a:ea typeface="Manrope" pitchFamily="34" charset="-122"/>
                <a:cs typeface="Manrope" pitchFamily="34" charset="-120"/>
              </a:rPr>
              <a:t>Editable AI proposal (Word)</a:t>
            </a:r>
            <a:endParaRPr lang="en-US" sz="1300" dirty="0"/>
          </a:p>
        </p:txBody>
      </p:sp>
      <p:sp>
        <p:nvSpPr>
          <p:cNvPr id="24" name="Text 22"/>
          <p:cNvSpPr txBox="1"/>
          <p:nvPr/>
        </p:nvSpPr>
        <p:spPr>
          <a:xfrm>
            <a:off x="6959956" y="3364992"/>
            <a:ext cx="2131238" cy="292608"/>
          </a:xfrm>
          <a:prstGeom prst="rect">
            <a:avLst/>
          </a:prstGeom>
          <a:noFill/>
          <a:ln/>
        </p:spPr>
        <p:txBody>
          <a:bodyPr wrap="square" lIns="0" tIns="0" rIns="0" bIns="0" rtlCol="0" anchor="t"/>
          <a:lstStyle/>
          <a:p>
            <a:pPr indent="0" marL="0">
              <a:buNone/>
            </a:pPr>
            <a:r>
              <a:rPr lang="en-US" sz="1100" b="1" dirty="0">
                <a:solidFill>
                  <a:srgbClr val="B8430F"/>
                </a:solidFill>
                <a:latin typeface="Manrope" pitchFamily="34" charset="0"/>
                <a:ea typeface="Manrope" pitchFamily="34" charset="-122"/>
                <a:cs typeface="Manrope" pitchFamily="34" charset="-120"/>
              </a:rPr>
              <a:t>Action · automate + edit</a:t>
            </a:r>
            <a:endParaRPr lang="en-US" sz="1100" dirty="0"/>
          </a:p>
        </p:txBody>
      </p:sp>
      <p:sp>
        <p:nvSpPr>
          <p:cNvPr id="25" name="Shape 23"/>
          <p:cNvSpPr/>
          <p:nvPr/>
        </p:nvSpPr>
        <p:spPr>
          <a:xfrm>
            <a:off x="9292361" y="2697480"/>
            <a:ext cx="2350694" cy="1051560"/>
          </a:xfrm>
          <a:prstGeom prst="rect">
            <a:avLst/>
          </a:prstGeom>
          <a:solidFill>
            <a:srgbClr val="FFFDFA"/>
          </a:solidFill>
          <a:ln w="12700">
            <a:solidFill>
              <a:srgbClr val="264549"/>
            </a:solidFill>
            <a:prstDash val="solid"/>
          </a:ln>
        </p:spPr>
      </p:sp>
      <p:sp>
        <p:nvSpPr>
          <p:cNvPr id="26" name="Text 24"/>
          <p:cNvSpPr txBox="1"/>
          <p:nvPr/>
        </p:nvSpPr>
        <p:spPr>
          <a:xfrm>
            <a:off x="9402089" y="2761488"/>
            <a:ext cx="2131238" cy="566928"/>
          </a:xfrm>
          <a:prstGeom prst="rect">
            <a:avLst/>
          </a:prstGeom>
          <a:noFill/>
          <a:ln/>
        </p:spPr>
        <p:txBody>
          <a:bodyPr wrap="square" lIns="0" tIns="0" rIns="0" bIns="0" rtlCol="0" anchor="ctr"/>
          <a:lstStyle/>
          <a:p>
            <a:pPr indent="0" marL="0">
              <a:buNone/>
            </a:pPr>
            <a:r>
              <a:rPr lang="en-US" sz="1300" b="1" dirty="0">
                <a:solidFill>
                  <a:srgbClr val="264549"/>
                </a:solidFill>
                <a:latin typeface="Manrope" pitchFamily="34" charset="0"/>
                <a:ea typeface="Manrope" pitchFamily="34" charset="-122"/>
                <a:cs typeface="Manrope" pitchFamily="34" charset="-120"/>
              </a:rPr>
              <a:t>Problem-specific PoC dashboard</a:t>
            </a:r>
            <a:endParaRPr lang="en-US" sz="1300" dirty="0"/>
          </a:p>
        </p:txBody>
      </p:sp>
      <p:sp>
        <p:nvSpPr>
          <p:cNvPr id="27" name="Text 25"/>
          <p:cNvSpPr txBox="1"/>
          <p:nvPr/>
        </p:nvSpPr>
        <p:spPr>
          <a:xfrm>
            <a:off x="9402089" y="3364992"/>
            <a:ext cx="2131238" cy="292608"/>
          </a:xfrm>
          <a:prstGeom prst="rect">
            <a:avLst/>
          </a:prstGeom>
          <a:noFill/>
          <a:ln/>
        </p:spPr>
        <p:txBody>
          <a:bodyPr wrap="square" lIns="0" tIns="0" rIns="0" bIns="0" rtlCol="0" anchor="t"/>
          <a:lstStyle/>
          <a:p>
            <a:pPr indent="0" marL="0">
              <a:buNone/>
            </a:pPr>
            <a:r>
              <a:rPr lang="en-US" sz="1100" b="1" dirty="0">
                <a:solidFill>
                  <a:srgbClr val="B8430F"/>
                </a:solidFill>
                <a:latin typeface="Manrope" pitchFamily="34" charset="0"/>
                <a:ea typeface="Manrope" pitchFamily="34" charset="-122"/>
                <a:cs typeface="Manrope" pitchFamily="34" charset="-120"/>
              </a:rPr>
              <a:t>Decision · reinvent</a:t>
            </a:r>
            <a:endParaRPr lang="en-US" sz="1100" dirty="0"/>
          </a:p>
        </p:txBody>
      </p:sp>
      <p:sp>
        <p:nvSpPr>
          <p:cNvPr id="28" name="Text 26"/>
          <p:cNvSpPr txBox="1"/>
          <p:nvPr/>
        </p:nvSpPr>
        <p:spPr>
          <a:xfrm>
            <a:off x="548640" y="3840480"/>
            <a:ext cx="1325880" cy="411480"/>
          </a:xfrm>
          <a:prstGeom prst="rect">
            <a:avLst/>
          </a:prstGeom>
          <a:noFill/>
          <a:ln/>
        </p:spPr>
        <p:txBody>
          <a:bodyPr wrap="square" lIns="0" tIns="0" rIns="0" bIns="0" rtlCol="0" anchor="ctr"/>
          <a:lstStyle/>
          <a:p>
            <a:pPr indent="0" marL="0">
              <a:buNone/>
            </a:pPr>
            <a:r>
              <a:rPr lang="en-US" sz="1400" b="1" dirty="0">
                <a:solidFill>
                  <a:srgbClr val="3F6B4E"/>
                </a:solidFill>
                <a:latin typeface="Epilogue" pitchFamily="34" charset="0"/>
                <a:ea typeface="Epilogue" pitchFamily="34" charset="-122"/>
                <a:cs typeface="Epilogue" pitchFamily="34" charset="-120"/>
              </a:rPr>
              <a:t>Consultant</a:t>
            </a:r>
            <a:endParaRPr lang="en-US" sz="1400" dirty="0"/>
          </a:p>
        </p:txBody>
      </p:sp>
      <p:sp>
        <p:nvSpPr>
          <p:cNvPr id="29" name="Shape 27"/>
          <p:cNvSpPr/>
          <p:nvPr/>
        </p:nvSpPr>
        <p:spPr>
          <a:xfrm>
            <a:off x="1965960" y="3840480"/>
            <a:ext cx="2350694" cy="411480"/>
          </a:xfrm>
          <a:prstGeom prst="rect">
            <a:avLst/>
          </a:prstGeom>
          <a:solidFill>
            <a:srgbClr val="E4EFD3"/>
          </a:solidFill>
          <a:ln/>
        </p:spPr>
      </p:sp>
      <p:sp>
        <p:nvSpPr>
          <p:cNvPr id="30" name="Text 28"/>
          <p:cNvSpPr txBox="1"/>
          <p:nvPr/>
        </p:nvSpPr>
        <p:spPr>
          <a:xfrm>
            <a:off x="2075688" y="3840480"/>
            <a:ext cx="2131238" cy="411480"/>
          </a:xfrm>
          <a:prstGeom prst="rect">
            <a:avLst/>
          </a:prstGeom>
          <a:noFill/>
          <a:ln/>
        </p:spPr>
        <p:txBody>
          <a:bodyPr wrap="square" lIns="0" tIns="0" rIns="0" bIns="0" rtlCol="0" anchor="ctr"/>
          <a:lstStyle/>
          <a:p>
            <a:pPr indent="0" marL="0">
              <a:buNone/>
            </a:pPr>
            <a:r>
              <a:rPr lang="en-US" sz="1200" b="1" dirty="0">
                <a:solidFill>
                  <a:srgbClr val="3F6B4E"/>
                </a:solidFill>
                <a:latin typeface="Manrope" pitchFamily="34" charset="0"/>
                <a:ea typeface="Manrope" pitchFamily="34" charset="-122"/>
                <a:cs typeface="Manrope" pitchFamily="34" charset="-120"/>
              </a:rPr>
              <a:t>✓ answers &amp; corrects</a:t>
            </a:r>
            <a:endParaRPr lang="en-US" sz="1200" dirty="0"/>
          </a:p>
        </p:txBody>
      </p:sp>
      <p:sp>
        <p:nvSpPr>
          <p:cNvPr id="31" name="Shape 29"/>
          <p:cNvSpPr/>
          <p:nvPr/>
        </p:nvSpPr>
        <p:spPr>
          <a:xfrm>
            <a:off x="4408094" y="3840480"/>
            <a:ext cx="2350694" cy="411480"/>
          </a:xfrm>
          <a:prstGeom prst="rect">
            <a:avLst/>
          </a:prstGeom>
          <a:solidFill>
            <a:srgbClr val="E4EFD3"/>
          </a:solidFill>
          <a:ln/>
        </p:spPr>
      </p:sp>
      <p:sp>
        <p:nvSpPr>
          <p:cNvPr id="32" name="Text 30"/>
          <p:cNvSpPr txBox="1"/>
          <p:nvPr/>
        </p:nvSpPr>
        <p:spPr>
          <a:xfrm>
            <a:off x="4517822" y="3840480"/>
            <a:ext cx="2131238" cy="411480"/>
          </a:xfrm>
          <a:prstGeom prst="rect">
            <a:avLst/>
          </a:prstGeom>
          <a:noFill/>
          <a:ln/>
        </p:spPr>
        <p:txBody>
          <a:bodyPr wrap="square" lIns="0" tIns="0" rIns="0" bIns="0" rtlCol="0" anchor="ctr"/>
          <a:lstStyle/>
          <a:p>
            <a:pPr indent="0" marL="0">
              <a:buNone/>
            </a:pPr>
            <a:r>
              <a:rPr lang="en-US" sz="1200" b="1" dirty="0">
                <a:solidFill>
                  <a:srgbClr val="3F6B4E"/>
                </a:solidFill>
                <a:latin typeface="Manrope" pitchFamily="34" charset="0"/>
                <a:ea typeface="Manrope" pitchFamily="34" charset="-122"/>
                <a:cs typeface="Manrope" pitchFamily="34" charset="-120"/>
              </a:rPr>
              <a:t>✓ reviews questions</a:t>
            </a:r>
            <a:endParaRPr lang="en-US" sz="1200" dirty="0"/>
          </a:p>
        </p:txBody>
      </p:sp>
      <p:sp>
        <p:nvSpPr>
          <p:cNvPr id="33" name="Shape 31"/>
          <p:cNvSpPr/>
          <p:nvPr/>
        </p:nvSpPr>
        <p:spPr>
          <a:xfrm>
            <a:off x="6850228" y="3840480"/>
            <a:ext cx="2350694" cy="411480"/>
          </a:xfrm>
          <a:prstGeom prst="rect">
            <a:avLst/>
          </a:prstGeom>
          <a:solidFill>
            <a:srgbClr val="E4EFD3"/>
          </a:solidFill>
          <a:ln/>
        </p:spPr>
      </p:sp>
      <p:sp>
        <p:nvSpPr>
          <p:cNvPr id="34" name="Text 32"/>
          <p:cNvSpPr txBox="1"/>
          <p:nvPr/>
        </p:nvSpPr>
        <p:spPr>
          <a:xfrm>
            <a:off x="6959956" y="3840480"/>
            <a:ext cx="2131238" cy="411480"/>
          </a:xfrm>
          <a:prstGeom prst="rect">
            <a:avLst/>
          </a:prstGeom>
          <a:noFill/>
          <a:ln/>
        </p:spPr>
        <p:txBody>
          <a:bodyPr wrap="square" lIns="0" tIns="0" rIns="0" bIns="0" rtlCol="0" anchor="ctr"/>
          <a:lstStyle/>
          <a:p>
            <a:pPr indent="0" marL="0">
              <a:buNone/>
            </a:pPr>
            <a:r>
              <a:rPr lang="en-US" sz="1200" b="1" dirty="0">
                <a:solidFill>
                  <a:srgbClr val="3F6B4E"/>
                </a:solidFill>
                <a:latin typeface="Manrope" pitchFamily="34" charset="0"/>
                <a:ea typeface="Manrope" pitchFamily="34" charset="-122"/>
                <a:cs typeface="Manrope" pitchFamily="34" charset="-120"/>
              </a:rPr>
              <a:t>✓ edits &amp; approves</a:t>
            </a:r>
            <a:endParaRPr lang="en-US" sz="1200" dirty="0"/>
          </a:p>
        </p:txBody>
      </p:sp>
      <p:sp>
        <p:nvSpPr>
          <p:cNvPr id="35" name="Shape 33"/>
          <p:cNvSpPr/>
          <p:nvPr/>
        </p:nvSpPr>
        <p:spPr>
          <a:xfrm>
            <a:off x="9292361" y="3840480"/>
            <a:ext cx="2350694" cy="411480"/>
          </a:xfrm>
          <a:prstGeom prst="rect">
            <a:avLst/>
          </a:prstGeom>
          <a:solidFill>
            <a:srgbClr val="E4EFD3"/>
          </a:solidFill>
          <a:ln/>
        </p:spPr>
      </p:sp>
      <p:sp>
        <p:nvSpPr>
          <p:cNvPr id="36" name="Text 34"/>
          <p:cNvSpPr txBox="1"/>
          <p:nvPr/>
        </p:nvSpPr>
        <p:spPr>
          <a:xfrm>
            <a:off x="9402089" y="3840480"/>
            <a:ext cx="2131238" cy="411480"/>
          </a:xfrm>
          <a:prstGeom prst="rect">
            <a:avLst/>
          </a:prstGeom>
          <a:noFill/>
          <a:ln/>
        </p:spPr>
        <p:txBody>
          <a:bodyPr wrap="square" lIns="0" tIns="0" rIns="0" bIns="0" rtlCol="0" anchor="ctr"/>
          <a:lstStyle/>
          <a:p>
            <a:pPr indent="0" marL="0">
              <a:buNone/>
            </a:pPr>
            <a:r>
              <a:rPr lang="en-US" sz="1200" b="1" dirty="0">
                <a:solidFill>
                  <a:srgbClr val="3F6B4E"/>
                </a:solidFill>
                <a:latin typeface="Manrope" pitchFamily="34" charset="0"/>
                <a:ea typeface="Manrope" pitchFamily="34" charset="-122"/>
                <a:cs typeface="Manrope" pitchFamily="34" charset="-120"/>
              </a:rPr>
              <a:t>✓ checks &amp; sends</a:t>
            </a:r>
            <a:endParaRPr lang="en-US" sz="1200" dirty="0"/>
          </a:p>
        </p:txBody>
      </p:sp>
      <p:sp>
        <p:nvSpPr>
          <p:cNvPr id="37" name="Text 35"/>
          <p:cNvSpPr txBox="1"/>
          <p:nvPr/>
        </p:nvSpPr>
        <p:spPr>
          <a:xfrm>
            <a:off x="548640" y="4407408"/>
            <a:ext cx="11094415" cy="274320"/>
          </a:xfrm>
          <a:prstGeom prst="rect">
            <a:avLst/>
          </a:prstGeom>
          <a:noFill/>
          <a:ln/>
        </p:spPr>
        <p:txBody>
          <a:bodyPr wrap="square" lIns="0" tIns="0" rIns="0" bIns="0" rtlCol="0" anchor="t"/>
          <a:lstStyle/>
          <a:p>
            <a:pPr indent="0" marL="0">
              <a:buNone/>
            </a:pPr>
            <a:r>
              <a:rPr lang="en-US" sz="1300" b="1" dirty="0">
                <a:solidFill>
                  <a:srgbClr val="264549"/>
                </a:solidFill>
                <a:latin typeface="Epilogue" pitchFamily="34" charset="0"/>
                <a:ea typeface="Epilogue" pitchFamily="34" charset="-122"/>
                <a:cs typeface="Epilogue" pitchFamily="34" charset="-120"/>
              </a:rPr>
              <a:t>Why this technology fits better than the alternatives (task–technology fit)</a:t>
            </a:r>
            <a:endParaRPr lang="en-US" sz="1300" dirty="0"/>
          </a:p>
        </p:txBody>
      </p:sp>
      <p:sp>
        <p:nvSpPr>
          <p:cNvPr id="38" name="Shape 36"/>
          <p:cNvSpPr/>
          <p:nvPr/>
        </p:nvSpPr>
        <p:spPr>
          <a:xfrm>
            <a:off x="548640" y="4727448"/>
            <a:ext cx="3606698" cy="804672"/>
          </a:xfrm>
          <a:prstGeom prst="rect">
            <a:avLst/>
          </a:prstGeom>
          <a:solidFill>
            <a:srgbClr val="FFFDFA"/>
          </a:solidFill>
          <a:ln w="12700">
            <a:solidFill>
              <a:srgbClr val="E6DDD1"/>
            </a:solidFill>
            <a:prstDash val="solid"/>
          </a:ln>
        </p:spPr>
      </p:sp>
      <p:sp>
        <p:nvSpPr>
          <p:cNvPr id="39" name="Text 37"/>
          <p:cNvSpPr txBox="1"/>
          <p:nvPr/>
        </p:nvSpPr>
        <p:spPr>
          <a:xfrm>
            <a:off x="685800" y="4773168"/>
            <a:ext cx="3332378" cy="274320"/>
          </a:xfrm>
          <a:prstGeom prst="rect">
            <a:avLst/>
          </a:prstGeom>
          <a:noFill/>
          <a:ln/>
        </p:spPr>
        <p:txBody>
          <a:bodyPr wrap="square" lIns="0" tIns="0" rIns="0" bIns="0" rtlCol="0" anchor="t"/>
          <a:lstStyle/>
          <a:p>
            <a:pPr indent="0" marL="0">
              <a:buNone/>
            </a:pPr>
            <a:r>
              <a:rPr lang="en-US" sz="1300" b="1" dirty="0">
                <a:solidFill>
                  <a:srgbClr val="5A6E71"/>
                </a:solidFill>
                <a:latin typeface="Manrope" pitchFamily="34" charset="0"/>
                <a:ea typeface="Manrope" pitchFamily="34" charset="-122"/>
                <a:cs typeface="Manrope" pitchFamily="34" charset="-120"/>
              </a:rPr>
              <a:t>Templates only</a:t>
            </a:r>
            <a:endParaRPr lang="en-US" sz="1300" dirty="0"/>
          </a:p>
        </p:txBody>
      </p:sp>
      <p:sp>
        <p:nvSpPr>
          <p:cNvPr id="40" name="Text 38"/>
          <p:cNvSpPr txBox="1"/>
          <p:nvPr/>
        </p:nvSpPr>
        <p:spPr>
          <a:xfrm>
            <a:off x="685800" y="5047488"/>
            <a:ext cx="3332378" cy="45720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Cheap, but cannot adapt to the client's specific problem.</a:t>
            </a:r>
            <a:endParaRPr lang="en-US" sz="1200" dirty="0"/>
          </a:p>
        </p:txBody>
      </p:sp>
      <p:sp>
        <p:nvSpPr>
          <p:cNvPr id="41" name="Shape 39"/>
          <p:cNvSpPr/>
          <p:nvPr/>
        </p:nvSpPr>
        <p:spPr>
          <a:xfrm>
            <a:off x="4292498" y="4727448"/>
            <a:ext cx="3606698" cy="804672"/>
          </a:xfrm>
          <a:prstGeom prst="rect">
            <a:avLst/>
          </a:prstGeom>
          <a:solidFill>
            <a:srgbClr val="FFFDFA"/>
          </a:solidFill>
          <a:ln w="12700">
            <a:solidFill>
              <a:srgbClr val="E6DDD1"/>
            </a:solidFill>
            <a:prstDash val="solid"/>
          </a:ln>
        </p:spPr>
      </p:sp>
      <p:sp>
        <p:nvSpPr>
          <p:cNvPr id="42" name="Text 40"/>
          <p:cNvSpPr txBox="1"/>
          <p:nvPr/>
        </p:nvSpPr>
        <p:spPr>
          <a:xfrm>
            <a:off x="4429658" y="4773168"/>
            <a:ext cx="3332378" cy="274320"/>
          </a:xfrm>
          <a:prstGeom prst="rect">
            <a:avLst/>
          </a:prstGeom>
          <a:noFill/>
          <a:ln/>
        </p:spPr>
        <p:txBody>
          <a:bodyPr wrap="square" lIns="0" tIns="0" rIns="0" bIns="0" rtlCol="0" anchor="t"/>
          <a:lstStyle/>
          <a:p>
            <a:pPr indent="0" marL="0">
              <a:buNone/>
            </a:pPr>
            <a:r>
              <a:rPr lang="en-US" sz="1300" b="1" dirty="0">
                <a:solidFill>
                  <a:srgbClr val="5A6E71"/>
                </a:solidFill>
                <a:latin typeface="Manrope" pitchFamily="34" charset="0"/>
                <a:ea typeface="Manrope" pitchFamily="34" charset="-122"/>
                <a:cs typeface="Manrope" pitchFamily="34" charset="-120"/>
              </a:rPr>
              <a:t>Pure LLM</a:t>
            </a:r>
            <a:endParaRPr lang="en-US" sz="1300" dirty="0"/>
          </a:p>
        </p:txBody>
      </p:sp>
      <p:sp>
        <p:nvSpPr>
          <p:cNvPr id="43" name="Text 41"/>
          <p:cNvSpPr txBox="1"/>
          <p:nvPr/>
        </p:nvSpPr>
        <p:spPr>
          <a:xfrm>
            <a:off x="4429658" y="5047488"/>
            <a:ext cx="3332378" cy="45720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Flexible, but invents numbers — unacceptable for a BI firm.</a:t>
            </a:r>
            <a:endParaRPr lang="en-US" sz="1200" dirty="0"/>
          </a:p>
        </p:txBody>
      </p:sp>
      <p:sp>
        <p:nvSpPr>
          <p:cNvPr id="44" name="Shape 42"/>
          <p:cNvSpPr/>
          <p:nvPr/>
        </p:nvSpPr>
        <p:spPr>
          <a:xfrm>
            <a:off x="8036357" y="4727448"/>
            <a:ext cx="3606698" cy="804672"/>
          </a:xfrm>
          <a:prstGeom prst="rect">
            <a:avLst/>
          </a:prstGeom>
          <a:solidFill>
            <a:srgbClr val="E4EFD3"/>
          </a:solidFill>
          <a:ln w="12700">
            <a:solidFill>
              <a:srgbClr val="E6DDD1"/>
            </a:solidFill>
            <a:prstDash val="solid"/>
          </a:ln>
        </p:spPr>
      </p:sp>
      <p:sp>
        <p:nvSpPr>
          <p:cNvPr id="45" name="Text 43"/>
          <p:cNvSpPr txBox="1"/>
          <p:nvPr/>
        </p:nvSpPr>
        <p:spPr>
          <a:xfrm>
            <a:off x="8173517" y="4773168"/>
            <a:ext cx="3332378" cy="274320"/>
          </a:xfrm>
          <a:prstGeom prst="rect">
            <a:avLst/>
          </a:prstGeom>
          <a:noFill/>
          <a:ln/>
        </p:spPr>
        <p:txBody>
          <a:bodyPr wrap="square" lIns="0" tIns="0" rIns="0" bIns="0" rtlCol="0" anchor="t"/>
          <a:lstStyle/>
          <a:p>
            <a:pPr indent="0" marL="0">
              <a:buNone/>
            </a:pPr>
            <a:r>
              <a:rPr lang="en-US" sz="1300" b="1" dirty="0">
                <a:solidFill>
                  <a:srgbClr val="3F6B4E"/>
                </a:solidFill>
                <a:latin typeface="Manrope" pitchFamily="34" charset="0"/>
                <a:ea typeface="Manrope" pitchFamily="34" charset="-122"/>
                <a:cs typeface="Manrope" pitchFamily="34" charset="-120"/>
              </a:rPr>
              <a:t>Our hybrid ✓</a:t>
            </a:r>
            <a:endParaRPr lang="en-US" sz="1300" dirty="0"/>
          </a:p>
        </p:txBody>
      </p:sp>
      <p:sp>
        <p:nvSpPr>
          <p:cNvPr id="46" name="Text 44"/>
          <p:cNvSpPr txBox="1"/>
          <p:nvPr/>
        </p:nvSpPr>
        <p:spPr>
          <a:xfrm>
            <a:off x="8173517" y="5047488"/>
            <a:ext cx="3332378" cy="45720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AI designs the spec; code computes every number; human decides.</a:t>
            </a:r>
            <a:endParaRPr lang="en-US" sz="1200" dirty="0"/>
          </a:p>
        </p:txBody>
      </p:sp>
      <p:sp>
        <p:nvSpPr>
          <p:cNvPr id="47" name="Shape 45"/>
          <p:cNvSpPr/>
          <p:nvPr/>
        </p:nvSpPr>
        <p:spPr>
          <a:xfrm>
            <a:off x="548640" y="5687568"/>
            <a:ext cx="11094415" cy="512064"/>
          </a:xfrm>
          <a:prstGeom prst="rect">
            <a:avLst/>
          </a:prstGeom>
          <a:solidFill>
            <a:srgbClr val="E4EFD3"/>
          </a:solidFill>
          <a:ln/>
        </p:spPr>
      </p:sp>
      <p:sp>
        <p:nvSpPr>
          <p:cNvPr id="48" name="Text 46"/>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Split architecture: AI where language matters, code for every number, a human at every decision.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PROTOTYPE</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A working prototype, tested end to end on sales-call transcripts</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C · Lab: BUILD (S3)</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06</a:t>
            </a:r>
            <a:endParaRPr lang="en-US" sz="1000" dirty="0"/>
          </a:p>
        </p:txBody>
      </p:sp>
      <p:sp>
        <p:nvSpPr>
          <p:cNvPr id="6" name="Shape 4"/>
          <p:cNvSpPr/>
          <p:nvPr/>
        </p:nvSpPr>
        <p:spPr>
          <a:xfrm>
            <a:off x="548640" y="1783080"/>
            <a:ext cx="3545738" cy="2514600"/>
          </a:xfrm>
          <a:prstGeom prst="rect">
            <a:avLst/>
          </a:prstGeom>
          <a:solidFill>
            <a:srgbClr val="EFE9E1"/>
          </a:solidFill>
          <a:ln/>
        </p:spPr>
      </p:sp>
      <p:pic>
        <p:nvPicPr>
          <p:cNvPr id="7" name="Image 0" descr="C:\Users\ThijsBruin\AppData\Local\Temp\claude\c--Users-ThijsBruin-OneDrive---DataVance-Desktop-IS\e42be56d-1f84-40d0-8ce8-0ab84bc65576\scratchpad\deck-img\questions.png">    </p:cNvPr>
          <p:cNvPicPr>
            <a:picLocks noChangeAspect="1"/>
          </p:cNvPicPr>
          <p:nvPr/>
        </p:nvPicPr>
        <p:blipFill>
          <a:blip r:embed="rId1"/>
          <a:srcRect l="0" r="0" t="0" b="0"/>
          <a:stretch/>
        </p:blipFill>
        <p:spPr>
          <a:xfrm>
            <a:off x="640080" y="1874520"/>
            <a:ext cx="3362858" cy="2331720"/>
          </a:xfrm>
          <a:prstGeom prst="rect">
            <a:avLst/>
          </a:prstGeom>
        </p:spPr>
      </p:pic>
      <p:sp>
        <p:nvSpPr>
          <p:cNvPr id="8" name="Text 5"/>
          <p:cNvSpPr txBox="1"/>
          <p:nvPr/>
        </p:nvSpPr>
        <p:spPr>
          <a:xfrm>
            <a:off x="548640" y="4407408"/>
            <a:ext cx="3545738"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1 · Short questions</a:t>
            </a:r>
            <a:endParaRPr lang="en-US" sz="1500" dirty="0"/>
          </a:p>
        </p:txBody>
      </p:sp>
      <p:sp>
        <p:nvSpPr>
          <p:cNvPr id="9" name="Text 6"/>
          <p:cNvSpPr txBox="1"/>
          <p:nvPr/>
        </p:nvSpPr>
        <p:spPr>
          <a:xfrm>
            <a:off x="548640" y="4736592"/>
            <a:ext cx="3545738" cy="64008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One topic per question; 'let the AI estimate' when the answer is unknown.</a:t>
            </a:r>
            <a:endParaRPr lang="en-US" sz="1200" dirty="0"/>
          </a:p>
        </p:txBody>
      </p:sp>
      <p:sp>
        <p:nvSpPr>
          <p:cNvPr id="10" name="Shape 7"/>
          <p:cNvSpPr/>
          <p:nvPr/>
        </p:nvSpPr>
        <p:spPr>
          <a:xfrm>
            <a:off x="4322978" y="1783080"/>
            <a:ext cx="3545738" cy="2514600"/>
          </a:xfrm>
          <a:prstGeom prst="rect">
            <a:avLst/>
          </a:prstGeom>
          <a:solidFill>
            <a:srgbClr val="EFE9E1"/>
          </a:solidFill>
          <a:ln/>
        </p:spPr>
      </p:sp>
      <p:pic>
        <p:nvPicPr>
          <p:cNvPr id="11" name="Image 1" descr="C:\Users\ThijsBruin\AppData\Local\Temp\claude\c--Users-ThijsBruin-OneDrive---DataVance-Desktop-IS\e42be56d-1f84-40d0-8ce8-0ab84bc65576\scratchpad\deck-img\proposal-word.png">    </p:cNvPr>
          <p:cNvPicPr>
            <a:picLocks noChangeAspect="1"/>
          </p:cNvPicPr>
          <p:nvPr/>
        </p:nvPicPr>
        <p:blipFill>
          <a:blip r:embed="rId2"/>
          <a:srcRect l="0" r="0" t="0" b="0"/>
          <a:stretch/>
        </p:blipFill>
        <p:spPr>
          <a:xfrm>
            <a:off x="4414418" y="1874520"/>
            <a:ext cx="3362858" cy="2331720"/>
          </a:xfrm>
          <a:prstGeom prst="rect">
            <a:avLst/>
          </a:prstGeom>
        </p:spPr>
      </p:pic>
      <p:sp>
        <p:nvSpPr>
          <p:cNvPr id="12" name="Text 8"/>
          <p:cNvSpPr txBox="1"/>
          <p:nvPr/>
        </p:nvSpPr>
        <p:spPr>
          <a:xfrm>
            <a:off x="4322978" y="4407408"/>
            <a:ext cx="3545738"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2 · Proposal as Word pages</a:t>
            </a:r>
            <a:endParaRPr lang="en-US" sz="1500" dirty="0"/>
          </a:p>
        </p:txBody>
      </p:sp>
      <p:sp>
        <p:nvSpPr>
          <p:cNvPr id="13" name="Text 9"/>
          <p:cNvSpPr txBox="1"/>
          <p:nvPr/>
        </p:nvSpPr>
        <p:spPr>
          <a:xfrm>
            <a:off x="4322978" y="4736592"/>
            <a:ext cx="3545738" cy="64008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Edit directly, comment per section, ask the AI to revise, export .docx.</a:t>
            </a:r>
            <a:endParaRPr lang="en-US" sz="1200" dirty="0"/>
          </a:p>
        </p:txBody>
      </p:sp>
      <p:sp>
        <p:nvSpPr>
          <p:cNvPr id="14" name="Shape 10"/>
          <p:cNvSpPr/>
          <p:nvPr/>
        </p:nvSpPr>
        <p:spPr>
          <a:xfrm>
            <a:off x="8097317" y="1783080"/>
            <a:ext cx="3545738" cy="2514600"/>
          </a:xfrm>
          <a:prstGeom prst="rect">
            <a:avLst/>
          </a:prstGeom>
          <a:solidFill>
            <a:srgbClr val="EFE9E1"/>
          </a:solidFill>
          <a:ln/>
        </p:spPr>
      </p:sp>
      <p:pic>
        <p:nvPicPr>
          <p:cNvPr id="15" name="Image 2" descr="C:\Users\ThijsBruin\AppData\Local\Temp\claude\c--Users-ThijsBruin-OneDrive---DataVance-Desktop-IS\e42be56d-1f84-40d0-8ce8-0ab84bc65576\scratchpad\deck-img\dash-verkerk.png">    </p:cNvPr>
          <p:cNvPicPr>
            <a:picLocks noChangeAspect="1"/>
          </p:cNvPicPr>
          <p:nvPr/>
        </p:nvPicPr>
        <p:blipFill>
          <a:blip r:embed="rId3"/>
          <a:srcRect l="0" r="0" t="0" b="0"/>
          <a:stretch/>
        </p:blipFill>
        <p:spPr>
          <a:xfrm>
            <a:off x="8188757" y="1874520"/>
            <a:ext cx="3362858" cy="2331720"/>
          </a:xfrm>
          <a:prstGeom prst="rect">
            <a:avLst/>
          </a:prstGeom>
        </p:spPr>
      </p:pic>
      <p:sp>
        <p:nvSpPr>
          <p:cNvPr id="16" name="Text 11"/>
          <p:cNvSpPr txBox="1"/>
          <p:nvPr/>
        </p:nvSpPr>
        <p:spPr>
          <a:xfrm>
            <a:off x="8097317" y="4407408"/>
            <a:ext cx="3545738"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3 · PoC dashboard</a:t>
            </a:r>
            <a:endParaRPr lang="en-US" sz="1500" dirty="0"/>
          </a:p>
        </p:txBody>
      </p:sp>
      <p:sp>
        <p:nvSpPr>
          <p:cNvPr id="17" name="Text 12"/>
          <p:cNvSpPr txBox="1"/>
          <p:nvPr/>
        </p:nvSpPr>
        <p:spPr>
          <a:xfrm>
            <a:off x="8097317" y="4736592"/>
            <a:ext cx="3545738" cy="64008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In the client's own terms; illustrative data, every number computed by code.</a:t>
            </a:r>
            <a:endParaRPr lang="en-US" sz="1200" dirty="0"/>
          </a:p>
        </p:txBody>
      </p:sp>
      <p:sp>
        <p:nvSpPr>
          <p:cNvPr id="18" name="Text 13"/>
          <p:cNvSpPr txBox="1"/>
          <p:nvPr/>
        </p:nvSpPr>
        <p:spPr>
          <a:xfrm>
            <a:off x="548640" y="5779008"/>
            <a:ext cx="7772400" cy="320040"/>
          </a:xfrm>
          <a:prstGeom prst="rect">
            <a:avLst/>
          </a:prstGeom>
          <a:noFill/>
          <a:ln/>
        </p:spPr>
        <p:txBody>
          <a:bodyPr wrap="square" lIns="0" tIns="0" rIns="0" bIns="0" rtlCol="0" anchor="ctr"/>
          <a:lstStyle/>
          <a:p>
            <a:pPr indent="0" marL="0">
              <a:buNone/>
            </a:pPr>
            <a:r>
              <a:rPr lang="en-US" sz="1200" dirty="0">
                <a:solidFill>
                  <a:srgbClr val="5A6E71"/>
                </a:solidFill>
                <a:latin typeface="Manrope" pitchFamily="34" charset="0"/>
                <a:ea typeface="Manrope" pitchFamily="34" charset="-122"/>
                <a:cs typeface="Manrope" pitchFamily="34" charset="-120"/>
              </a:rPr>
              <a:t>Next.js web app · DeepSeek LLM · deterministic dashboard engine · ≈20 s AI time per lead</a:t>
            </a:r>
            <a:endParaRPr lang="en-US" sz="1200" dirty="0"/>
          </a:p>
        </p:txBody>
      </p:sp>
      <p:sp>
        <p:nvSpPr>
          <p:cNvPr id="19" name="Shape 14"/>
          <p:cNvSpPr/>
          <p:nvPr/>
        </p:nvSpPr>
        <p:spPr>
          <a:xfrm>
            <a:off x="9265615" y="5687568"/>
            <a:ext cx="2377440" cy="512064"/>
          </a:xfrm>
          <a:prstGeom prst="rect">
            <a:avLst/>
          </a:prstGeom>
          <a:solidFill>
            <a:srgbClr val="FF5713"/>
          </a:solidFill>
          <a:ln/>
        </p:spPr>
      </p:sp>
      <p:sp>
        <p:nvSpPr>
          <p:cNvPr id="20" name="Text 15"/>
          <p:cNvSpPr txBox="1"/>
          <p:nvPr/>
        </p:nvSpPr>
        <p:spPr>
          <a:xfrm>
            <a:off x="9265615" y="5687568"/>
            <a:ext cx="237744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Epilogue" pitchFamily="34" charset="0"/>
                <a:ea typeface="Epilogue" pitchFamily="34" charset="-122"/>
                <a:cs typeface="Epilogue" pitchFamily="34" charset="-120"/>
              </a:rPr>
              <a:t>LIVE DEMO  →</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TRUST &amp; UNCERTAINTY</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The PoC works as a trust mechanism for the prospect</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C · Lab: MARKET TEST (S7)</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07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223760" cy="914400"/>
        </p:xfrm>
        <a:graphic>
          <a:graphicData uri="http://schemas.openxmlformats.org/drawingml/2006/table">
            <a:tbl>
              <a:tblPr/>
              <a:tblGrid>
                <a:gridCol w="1234440"/>
                <a:gridCol w="2057400"/>
                <a:gridCol w="2743200"/>
                <a:gridCol w="1188720"/>
              </a:tblGrid>
              <a:tr h="457200">
                <a:tc>
                  <a:txBody>
                    <a:bodyPr/>
                    <a:lstStyle/>
                    <a:p>
                      <a:pPr indent="0" marL="0">
                        <a:buNone/>
                      </a:pPr>
                      <a:r>
                        <a:rPr lang="en-US" sz="1100" b="1" dirty="0">
                          <a:solidFill>
                            <a:srgbClr val="FFFAF5"/>
                          </a:solidFill>
                          <a:latin typeface="Manrope" pitchFamily="34" charset="0"/>
                          <a:ea typeface="Manrope" pitchFamily="34" charset="-122"/>
                          <a:cs typeface="Manrope" pitchFamily="34" charset="-120"/>
                        </a:rPr>
                        <a:t>Uncertainty</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c>
                  <a:txBody>
                    <a:bodyPr/>
                    <a:lstStyle/>
                    <a:p>
                      <a:pPr indent="0" marL="0">
                        <a:buNone/>
                      </a:pPr>
                      <a:r>
                        <a:rPr lang="en-US" sz="1100" b="1" dirty="0">
                          <a:solidFill>
                            <a:srgbClr val="FFFAF5"/>
                          </a:solidFill>
                          <a:latin typeface="Manrope" pitchFamily="34" charset="0"/>
                          <a:ea typeface="Manrope" pitchFamily="34" charset="-122"/>
                          <a:cs typeface="Manrope" pitchFamily="34" charset="-120"/>
                        </a:rPr>
                        <a:t>Question in the prospect's head</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c>
                  <a:txBody>
                    <a:bodyPr/>
                    <a:lstStyle/>
                    <a:p>
                      <a:pPr indent="0" marL="0">
                        <a:buNone/>
                      </a:pPr>
                      <a:r>
                        <a:rPr lang="en-US" sz="1100" b="1" dirty="0">
                          <a:solidFill>
                            <a:srgbClr val="FFFAF5"/>
                          </a:solidFill>
                          <a:latin typeface="Manrope" pitchFamily="34" charset="0"/>
                          <a:ea typeface="Manrope" pitchFamily="34" charset="-122"/>
                          <a:cs typeface="Manrope" pitchFamily="34" charset="-120"/>
                        </a:rPr>
                        <a:t>Our mechanism</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c>
                  <a:txBody>
                    <a:bodyPr/>
                    <a:lstStyle/>
                    <a:p>
                      <a:pPr indent="0" marL="0">
                        <a:buNone/>
                      </a:pPr>
                      <a:r>
                        <a:rPr lang="en-US" sz="1100" b="1" dirty="0">
                          <a:solidFill>
                            <a:srgbClr val="FFFAF5"/>
                          </a:solidFill>
                          <a:latin typeface="Manrope" pitchFamily="34" charset="0"/>
                          <a:ea typeface="Manrope" pitchFamily="34" charset="-122"/>
                          <a:cs typeface="Manrope" pitchFamily="34" charset="-120"/>
                        </a:rPr>
                        <a:t>Type</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r>
              <a:tr h="457200">
                <a:tc>
                  <a:txBody>
                    <a:bodyPr/>
                    <a:lstStyle/>
                    <a:p>
                      <a:pPr indent="0" marL="0">
                        <a:buNone/>
                      </a:pPr>
                      <a:r>
                        <a:rPr lang="en-US" sz="1100" b="1" dirty="0">
                          <a:solidFill>
                            <a:srgbClr val="264549"/>
                          </a:solidFill>
                          <a:latin typeface="Manrope" pitchFamily="34" charset="0"/>
                          <a:ea typeface="Manrope" pitchFamily="34" charset="-122"/>
                          <a:cs typeface="Manrope" pitchFamily="34" charset="-120"/>
                        </a:rPr>
                        <a:t>Description</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Is this proposal what we discussed?</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Follow-up questions + editable proposal, quotes checked word-for-word</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Screening</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r>
              <a:tr h="457200">
                <a:tc>
                  <a:txBody>
                    <a:bodyPr/>
                    <a:lstStyle/>
                    <a:p>
                      <a:pPr indent="0" marL="0">
                        <a:buNone/>
                      </a:pPr>
                      <a:r>
                        <a:rPr lang="en-US" sz="1100" b="1" dirty="0">
                          <a:solidFill>
                            <a:srgbClr val="264549"/>
                          </a:solidFill>
                          <a:latin typeface="Manrope" pitchFamily="34" charset="0"/>
                          <a:ea typeface="Manrope" pitchFamily="34" charset="-122"/>
                          <a:cs typeface="Manrope" pitchFamily="34" charset="-120"/>
                        </a:rPr>
                        <a:t>Performance</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Will BI actually deliver value?</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A working PoC dashboard before signing</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Signal + verification</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r>
              <a:tr h="457200">
                <a:tc>
                  <a:txBody>
                    <a:bodyPr/>
                    <a:lstStyle/>
                    <a:p>
                      <a:pPr indent="0" marL="0">
                        <a:buNone/>
                      </a:pPr>
                      <a:r>
                        <a:rPr lang="en-US" sz="1100" b="1" dirty="0">
                          <a:solidFill>
                            <a:srgbClr val="264549"/>
                          </a:solidFill>
                          <a:latin typeface="Manrope" pitchFamily="34" charset="0"/>
                          <a:ea typeface="Manrope" pitchFamily="34" charset="-122"/>
                          <a:cs typeface="Manrope" pitchFamily="34" charset="-120"/>
                        </a:rPr>
                        <a:t>Fit</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Is this right for our data and process?</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Dashboard designed from their own transcript; 'illustrative data' label</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Verification</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r>
              <a:tr h="457200">
                <a:tc>
                  <a:txBody>
                    <a:bodyPr/>
                    <a:lstStyle/>
                    <a:p>
                      <a:pPr indent="0" marL="0">
                        <a:buNone/>
                      </a:pPr>
                      <a:r>
                        <a:rPr lang="en-US" sz="1100" b="1" dirty="0">
                          <a:solidFill>
                            <a:srgbClr val="264549"/>
                          </a:solidFill>
                          <a:latin typeface="Manrope" pitchFamily="34" charset="0"/>
                          <a:ea typeface="Manrope" pitchFamily="34" charset="-122"/>
                          <a:cs typeface="Manrope" pitchFamily="34" charset="-120"/>
                        </a:rPr>
                        <a:t>Seller</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Can Datavance deliver?</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Human-checked output; numbers computed by code</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100" dirty="0">
                          <a:solidFill>
                            <a:srgbClr val="3E5559"/>
                          </a:solidFill>
                          <a:latin typeface="Manrope" pitchFamily="34" charset="0"/>
                          <a:ea typeface="Manrope" pitchFamily="34" charset="-122"/>
                          <a:cs typeface="Manrope" pitchFamily="34" charset="-120"/>
                        </a:rPr>
                        <a:t>Reputation</a:t>
                      </a:r>
                      <a:endParaRPr lang="en-US" sz="11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r>
            </a:tbl>
          </a:graphicData>
        </a:graphic>
      </p:graphicFrame>
      <p:pic>
        <p:nvPicPr>
          <p:cNvPr id="7" name="Image 0" descr="C:\Users\ThijsBruin\AppData\Local\Temp\claude\c--Users-ThijsBruin-OneDrive---DataVance-Desktop-IS\e42be56d-1f84-40d0-8ce8-0ab84bc65576\scratchpad\deck-img\anchors.png">    </p:cNvPr>
          <p:cNvPicPr>
            <a:picLocks noChangeAspect="1"/>
          </p:cNvPicPr>
          <p:nvPr/>
        </p:nvPicPr>
        <p:blipFill>
          <a:blip r:embed="rId1"/>
          <a:stretch>
            <a:fillRect/>
          </a:stretch>
        </p:blipFill>
        <p:spPr>
          <a:xfrm>
            <a:off x="548640" y="4526280"/>
            <a:ext cx="4023360" cy="932688"/>
          </a:xfrm>
          <a:prstGeom prst="rect">
            <a:avLst/>
          </a:prstGeom>
        </p:spPr>
      </p:pic>
      <p:sp>
        <p:nvSpPr>
          <p:cNvPr id="8" name="Text 4"/>
          <p:cNvSpPr txBox="1"/>
          <p:nvPr/>
        </p:nvSpPr>
        <p:spPr>
          <a:xfrm>
            <a:off x="4709160" y="4617720"/>
            <a:ext cx="3063240" cy="731520"/>
          </a:xfrm>
          <a:prstGeom prst="rect">
            <a:avLst/>
          </a:prstGeom>
          <a:noFill/>
          <a:ln/>
        </p:spPr>
        <p:txBody>
          <a:bodyPr wrap="square" lIns="0" tIns="0" rIns="0" bIns="0" rtlCol="0" anchor="t"/>
          <a:lstStyle/>
          <a:p>
            <a:pPr indent="0" marL="0">
              <a:buNone/>
            </a:pPr>
            <a:r>
              <a:rPr lang="en-US" sz="1200" dirty="0">
                <a:solidFill>
                  <a:srgbClr val="5A6E71"/>
                </a:solidFill>
                <a:latin typeface="Manrope" pitchFamily="34" charset="0"/>
                <a:ea typeface="Manrope" pitchFamily="34" charset="-122"/>
                <a:cs typeface="Manrope" pitchFamily="34" charset="-120"/>
              </a:rPr>
              <a:t>Figures from the call are only used if they match a quote.</a:t>
            </a:r>
            <a:endParaRPr lang="en-US" sz="1200" dirty="0"/>
          </a:p>
        </p:txBody>
      </p:sp>
      <p:sp>
        <p:nvSpPr>
          <p:cNvPr id="9" name="Shape 5"/>
          <p:cNvSpPr/>
          <p:nvPr/>
        </p:nvSpPr>
        <p:spPr>
          <a:xfrm>
            <a:off x="8001000" y="1783080"/>
            <a:ext cx="3639312" cy="3749040"/>
          </a:xfrm>
          <a:prstGeom prst="rect">
            <a:avLst/>
          </a:prstGeom>
          <a:solidFill>
            <a:srgbClr val="264549"/>
          </a:solidFill>
          <a:ln/>
        </p:spPr>
      </p:sp>
      <p:sp>
        <p:nvSpPr>
          <p:cNvPr id="10" name="Text 6"/>
          <p:cNvSpPr txBox="1"/>
          <p:nvPr/>
        </p:nvSpPr>
        <p:spPr>
          <a:xfrm>
            <a:off x="8229600" y="1938528"/>
            <a:ext cx="3200400" cy="347472"/>
          </a:xfrm>
          <a:prstGeom prst="rect">
            <a:avLst/>
          </a:prstGeom>
          <a:noFill/>
          <a:ln/>
        </p:spPr>
        <p:txBody>
          <a:bodyPr wrap="square" lIns="0" tIns="0" rIns="0" bIns="0" rtlCol="0" anchor="t"/>
          <a:lstStyle/>
          <a:p>
            <a:pPr indent="0" marL="0">
              <a:buNone/>
            </a:pPr>
            <a:r>
              <a:rPr lang="en-US" sz="1600" b="1" dirty="0">
                <a:solidFill>
                  <a:srgbClr val="FF9100"/>
                </a:solidFill>
                <a:latin typeface="Epilogue" pitchFamily="34" charset="0"/>
                <a:ea typeface="Epilogue" pitchFamily="34" charset="-122"/>
                <a:cs typeface="Epilogue" pitchFamily="34" charset="-120"/>
              </a:rPr>
              <a:t>Stress test: gaming risk</a:t>
            </a:r>
            <a:endParaRPr lang="en-US" sz="1600" dirty="0"/>
          </a:p>
        </p:txBody>
      </p:sp>
      <p:sp>
        <p:nvSpPr>
          <p:cNvPr id="11" name="Text 7"/>
          <p:cNvSpPr txBox="1"/>
          <p:nvPr/>
        </p:nvSpPr>
        <p:spPr>
          <a:xfrm>
            <a:off x="8229600" y="2331720"/>
            <a:ext cx="3200400" cy="1188720"/>
          </a:xfrm>
          <a:prstGeom prst="rect">
            <a:avLst/>
          </a:prstGeom>
          <a:noFill/>
          <a:ln/>
        </p:spPr>
        <p:txBody>
          <a:bodyPr wrap="square" lIns="0" tIns="0" rIns="0" bIns="0" rtlCol="0" anchor="t"/>
          <a:lstStyle/>
          <a:p>
            <a:pPr indent="0" marL="0">
              <a:buNone/>
            </a:pPr>
            <a:r>
              <a:rPr lang="en-US" sz="1400" dirty="0">
                <a:solidFill>
                  <a:srgbClr val="FFFAF5"/>
                </a:solidFill>
                <a:latin typeface="Manrope" pitchFamily="34" charset="0"/>
                <a:ea typeface="Manrope" pitchFamily="34" charset="-122"/>
                <a:cs typeface="Manrope" pitchFamily="34" charset="-120"/>
              </a:rPr>
              <a:t>A prospect takes our free PoC and proposal to a cheaper competitor — free-riding on our signal.</a:t>
            </a:r>
            <a:endParaRPr lang="en-US" sz="1400" dirty="0"/>
          </a:p>
        </p:txBody>
      </p:sp>
      <p:sp>
        <p:nvSpPr>
          <p:cNvPr id="12" name="Text 8"/>
          <p:cNvSpPr txBox="1"/>
          <p:nvPr/>
        </p:nvSpPr>
        <p:spPr>
          <a:xfrm>
            <a:off x="8229600" y="3611880"/>
            <a:ext cx="3200400" cy="320040"/>
          </a:xfrm>
          <a:prstGeom prst="rect">
            <a:avLst/>
          </a:prstGeom>
          <a:noFill/>
          <a:ln/>
        </p:spPr>
        <p:txBody>
          <a:bodyPr wrap="square" lIns="0" tIns="0" rIns="0" bIns="0" rtlCol="0" anchor="t"/>
          <a:lstStyle/>
          <a:p>
            <a:pPr indent="0" marL="0">
              <a:buNone/>
            </a:pPr>
            <a:r>
              <a:rPr lang="en-US" sz="1600" b="1" dirty="0">
                <a:solidFill>
                  <a:srgbClr val="FF9100"/>
                </a:solidFill>
                <a:latin typeface="Epilogue" pitchFamily="34" charset="0"/>
                <a:ea typeface="Epilogue" pitchFamily="34" charset="-122"/>
                <a:cs typeface="Epilogue" pitchFamily="34" charset="-120"/>
              </a:rPr>
              <a:t>Revision</a:t>
            </a:r>
            <a:endParaRPr lang="en-US" sz="1600" dirty="0"/>
          </a:p>
        </p:txBody>
      </p:sp>
      <p:sp>
        <p:nvSpPr>
          <p:cNvPr id="13" name="Text 9"/>
          <p:cNvSpPr txBox="1"/>
          <p:nvPr/>
        </p:nvSpPr>
        <p:spPr>
          <a:xfrm>
            <a:off x="8229600" y="3977640"/>
            <a:ext cx="3200400" cy="1371600"/>
          </a:xfrm>
          <a:prstGeom prst="rect">
            <a:avLst/>
          </a:prstGeom>
          <a:noFill/>
          <a:ln/>
        </p:spPr>
        <p:txBody>
          <a:bodyPr wrap="square" lIns="0" tIns="0" rIns="0" bIns="0" rtlCol="0" anchor="t"/>
          <a:lstStyle/>
          <a:p>
            <a:pPr indent="0" marL="0">
              <a:buNone/>
            </a:pPr>
            <a:r>
              <a:rPr lang="en-US" sz="1400" dirty="0">
                <a:solidFill>
                  <a:srgbClr val="FFFAF5"/>
                </a:solidFill>
                <a:latin typeface="Manrope" pitchFamily="34" charset="0"/>
                <a:ea typeface="Manrope" pitchFamily="34" charset="-122"/>
                <a:cs typeface="Manrope" pitchFamily="34" charset="-120"/>
              </a:rPr>
              <a:t>The PoC stays on illustrative data; the real data connection and build start only after signing.</a:t>
            </a:r>
            <a:endParaRPr lang="en-US" sz="1400" dirty="0"/>
          </a:p>
        </p:txBody>
      </p:sp>
      <p:sp>
        <p:nvSpPr>
          <p:cNvPr id="14" name="Shape 10"/>
          <p:cNvSpPr/>
          <p:nvPr/>
        </p:nvSpPr>
        <p:spPr>
          <a:xfrm>
            <a:off x="548640" y="5687568"/>
            <a:ext cx="11094415" cy="512064"/>
          </a:xfrm>
          <a:prstGeom prst="rect">
            <a:avLst/>
          </a:prstGeom>
          <a:solidFill>
            <a:srgbClr val="E4EFD3"/>
          </a:solidFill>
          <a:ln/>
        </p:spPr>
      </p:sp>
      <p:sp>
        <p:nvSpPr>
          <p:cNvPr id="15" name="Text 11"/>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Use the PoC as a costly signal of fit, and limit free-riding by keeping real data behind the contract.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ECONOMICS &amp; PRICING</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AI costs cents per lead — consultant time is the cost that matters</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B · Lab: MONETIZE (S4)</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08</a:t>
            </a:r>
            <a:endParaRPr lang="en-US" sz="1000" dirty="0"/>
          </a:p>
        </p:txBody>
      </p:sp>
      <p:sp>
        <p:nvSpPr>
          <p:cNvPr id="6" name="Shape 4"/>
          <p:cNvSpPr/>
          <p:nvPr/>
        </p:nvSpPr>
        <p:spPr>
          <a:xfrm>
            <a:off x="548640" y="1783080"/>
            <a:ext cx="3545738" cy="1188720"/>
          </a:xfrm>
          <a:prstGeom prst="rect">
            <a:avLst/>
          </a:prstGeom>
          <a:solidFill>
            <a:srgbClr val="FFFDFA"/>
          </a:solidFill>
          <a:ln w="12700">
            <a:solidFill>
              <a:srgbClr val="E6DDD1"/>
            </a:solidFill>
            <a:prstDash val="solid"/>
          </a:ln>
        </p:spPr>
      </p:sp>
      <p:sp>
        <p:nvSpPr>
          <p:cNvPr id="7" name="Text 5"/>
          <p:cNvSpPr txBox="1"/>
          <p:nvPr/>
        </p:nvSpPr>
        <p:spPr>
          <a:xfrm>
            <a:off x="731520" y="1920240"/>
            <a:ext cx="3179978" cy="594360"/>
          </a:xfrm>
          <a:prstGeom prst="rect">
            <a:avLst/>
          </a:prstGeom>
          <a:noFill/>
          <a:ln/>
        </p:spPr>
        <p:txBody>
          <a:bodyPr wrap="square" lIns="0" tIns="0" rIns="0" bIns="0" rtlCol="0" anchor="t"/>
          <a:lstStyle/>
          <a:p>
            <a:pPr indent="0" marL="0">
              <a:buNone/>
            </a:pPr>
            <a:r>
              <a:rPr lang="en-US" sz="3400" b="1" dirty="0">
                <a:solidFill>
                  <a:srgbClr val="FF5713"/>
                </a:solidFill>
                <a:latin typeface="Epilogue" pitchFamily="34" charset="0"/>
                <a:ea typeface="Epilogue" pitchFamily="34" charset="-122"/>
                <a:cs typeface="Epilogue" pitchFamily="34" charset="-120"/>
              </a:rPr>
              <a:t>≈ €0.005</a:t>
            </a:r>
            <a:endParaRPr lang="en-US" sz="3400" dirty="0"/>
          </a:p>
        </p:txBody>
      </p:sp>
      <p:sp>
        <p:nvSpPr>
          <p:cNvPr id="8" name="Text 6"/>
          <p:cNvSpPr txBox="1"/>
          <p:nvPr/>
        </p:nvSpPr>
        <p:spPr>
          <a:xfrm>
            <a:off x="731520" y="2560320"/>
            <a:ext cx="3179978" cy="32004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AI cost per lead (measured; verify current DeepSeek prices)</a:t>
            </a:r>
            <a:endParaRPr lang="en-US" sz="1200" dirty="0"/>
          </a:p>
        </p:txBody>
      </p:sp>
      <p:sp>
        <p:nvSpPr>
          <p:cNvPr id="9" name="Shape 7"/>
          <p:cNvSpPr/>
          <p:nvPr/>
        </p:nvSpPr>
        <p:spPr>
          <a:xfrm>
            <a:off x="4322978" y="1783080"/>
            <a:ext cx="3545738" cy="1188720"/>
          </a:xfrm>
          <a:prstGeom prst="rect">
            <a:avLst/>
          </a:prstGeom>
          <a:solidFill>
            <a:srgbClr val="FFFDFA"/>
          </a:solidFill>
          <a:ln w="12700">
            <a:solidFill>
              <a:srgbClr val="E6DDD1"/>
            </a:solidFill>
            <a:prstDash val="solid"/>
          </a:ln>
        </p:spPr>
      </p:sp>
      <p:sp>
        <p:nvSpPr>
          <p:cNvPr id="10" name="Text 8"/>
          <p:cNvSpPr txBox="1"/>
          <p:nvPr/>
        </p:nvSpPr>
        <p:spPr>
          <a:xfrm>
            <a:off x="4505858" y="1920240"/>
            <a:ext cx="3179978" cy="594360"/>
          </a:xfrm>
          <a:prstGeom prst="rect">
            <a:avLst/>
          </a:prstGeom>
          <a:noFill/>
          <a:ln/>
        </p:spPr>
        <p:txBody>
          <a:bodyPr wrap="square" lIns="0" tIns="0" rIns="0" bIns="0" rtlCol="0" anchor="t"/>
          <a:lstStyle/>
          <a:p>
            <a:pPr indent="0" marL="0">
              <a:buNone/>
            </a:pPr>
            <a:r>
              <a:rPr lang="en-US" sz="3400" b="1" dirty="0">
                <a:solidFill>
                  <a:srgbClr val="FF5713"/>
                </a:solidFill>
                <a:latin typeface="Epilogue" pitchFamily="34" charset="0"/>
                <a:ea typeface="Epilogue" pitchFamily="34" charset="-122"/>
                <a:cs typeface="Epilogue" pitchFamily="34" charset="-120"/>
              </a:rPr>
              <a:t>≈ 20 s</a:t>
            </a:r>
            <a:endParaRPr lang="en-US" sz="3400" dirty="0"/>
          </a:p>
        </p:txBody>
      </p:sp>
      <p:sp>
        <p:nvSpPr>
          <p:cNvPr id="11" name="Text 9"/>
          <p:cNvSpPr txBox="1"/>
          <p:nvPr/>
        </p:nvSpPr>
        <p:spPr>
          <a:xfrm>
            <a:off x="4505858" y="2560320"/>
            <a:ext cx="3179978" cy="32004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AI processing time per lead (measured)</a:t>
            </a:r>
            <a:endParaRPr lang="en-US" sz="1200" dirty="0"/>
          </a:p>
        </p:txBody>
      </p:sp>
      <p:sp>
        <p:nvSpPr>
          <p:cNvPr id="12" name="Shape 10"/>
          <p:cNvSpPr/>
          <p:nvPr/>
        </p:nvSpPr>
        <p:spPr>
          <a:xfrm>
            <a:off x="8097317" y="1783080"/>
            <a:ext cx="3545738" cy="1188720"/>
          </a:xfrm>
          <a:prstGeom prst="rect">
            <a:avLst/>
          </a:prstGeom>
          <a:solidFill>
            <a:srgbClr val="FFFDFA"/>
          </a:solidFill>
          <a:ln w="12700">
            <a:solidFill>
              <a:srgbClr val="E6DDD1"/>
            </a:solidFill>
            <a:prstDash val="solid"/>
          </a:ln>
        </p:spPr>
      </p:sp>
      <p:sp>
        <p:nvSpPr>
          <p:cNvPr id="13" name="Text 11"/>
          <p:cNvSpPr txBox="1"/>
          <p:nvPr/>
        </p:nvSpPr>
        <p:spPr>
          <a:xfrm>
            <a:off x="8280197" y="1920240"/>
            <a:ext cx="3179978" cy="594360"/>
          </a:xfrm>
          <a:prstGeom prst="rect">
            <a:avLst/>
          </a:prstGeom>
          <a:noFill/>
          <a:ln/>
        </p:spPr>
        <p:txBody>
          <a:bodyPr wrap="square" lIns="0" tIns="0" rIns="0" bIns="0" rtlCol="0" anchor="t"/>
          <a:lstStyle/>
          <a:p>
            <a:pPr indent="0" marL="0">
              <a:buNone/>
            </a:pPr>
            <a:r>
              <a:rPr lang="en-US" sz="3400" b="1" dirty="0">
                <a:solidFill>
                  <a:srgbClr val="FF5713"/>
                </a:solidFill>
                <a:latin typeface="Epilogue" pitchFamily="34" charset="0"/>
                <a:ea typeface="Epilogue" pitchFamily="34" charset="-122"/>
                <a:cs typeface="Epilogue" pitchFamily="34" charset="-120"/>
              </a:rPr>
              <a:t>[€ x]</a:t>
            </a:r>
            <a:endParaRPr lang="en-US" sz="3400" dirty="0"/>
          </a:p>
        </p:txBody>
      </p:sp>
      <p:sp>
        <p:nvSpPr>
          <p:cNvPr id="14" name="Text 12"/>
          <p:cNvSpPr txBox="1"/>
          <p:nvPr/>
        </p:nvSpPr>
        <p:spPr>
          <a:xfrm>
            <a:off x="8280197" y="2560320"/>
            <a:ext cx="3179978" cy="32004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Manual cost per lead = [hours] × [hourly rate]</a:t>
            </a:r>
            <a:endParaRPr lang="en-US" sz="1200" dirty="0"/>
          </a:p>
        </p:txBody>
      </p:sp>
      <p:sp>
        <p:nvSpPr>
          <p:cNvPr id="15" name="Shape 13"/>
          <p:cNvSpPr/>
          <p:nvPr/>
        </p:nvSpPr>
        <p:spPr>
          <a:xfrm>
            <a:off x="548640" y="3154680"/>
            <a:ext cx="5394960" cy="2377440"/>
          </a:xfrm>
          <a:prstGeom prst="rect">
            <a:avLst/>
          </a:prstGeom>
          <a:solidFill>
            <a:srgbClr val="FFFDFA"/>
          </a:solidFill>
          <a:ln w="12700">
            <a:solidFill>
              <a:srgbClr val="E6DDD1"/>
            </a:solidFill>
            <a:prstDash val="solid"/>
          </a:ln>
        </p:spPr>
      </p:sp>
      <p:sp>
        <p:nvSpPr>
          <p:cNvPr id="16" name="Text 14"/>
          <p:cNvSpPr txBox="1"/>
          <p:nvPr/>
        </p:nvSpPr>
        <p:spPr>
          <a:xfrm>
            <a:off x="713232" y="3319272"/>
            <a:ext cx="5065776"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Cost structure</a:t>
            </a:r>
            <a:endParaRPr lang="en-US" sz="1500" dirty="0"/>
          </a:p>
        </p:txBody>
      </p:sp>
      <p:sp>
        <p:nvSpPr>
          <p:cNvPr id="17" name="Text 15"/>
          <p:cNvSpPr txBox="1"/>
          <p:nvPr/>
        </p:nvSpPr>
        <p:spPr>
          <a:xfrm>
            <a:off x="713232" y="3685032"/>
            <a:ext cx="5065776" cy="1748333"/>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rgbClr val="3E5559"/>
                </a:solidFill>
                <a:latin typeface="Manrope" pitchFamily="34" charset="0"/>
                <a:ea typeface="Manrope" pitchFamily="34" charset="-122"/>
                <a:cs typeface="Manrope" pitchFamily="34" charset="-120"/>
              </a:rPr>
              <a:t>Fixed: building the tool, prompts, dashboard engine, templates</a:t>
            </a:r>
            <a:endParaRPr lang="en-US" sz="1300" dirty="0"/>
          </a:p>
          <a:p>
            <a:pPr marL="177800" indent="-177800">
              <a:spcAft>
                <a:spcPts val="300"/>
              </a:spcAft>
              <a:buSzPct val="100000"/>
              <a:buChar char="•"/>
            </a:pPr>
            <a:r>
              <a:rPr lang="en-US" sz="1300" dirty="0">
                <a:solidFill>
                  <a:srgbClr val="3E5559"/>
                </a:solidFill>
                <a:latin typeface="Manrope" pitchFamily="34" charset="0"/>
                <a:ea typeface="Manrope" pitchFamily="34" charset="-122"/>
                <a:cs typeface="Manrope" pitchFamily="34" charset="-120"/>
              </a:rPr>
              <a:t>Variable: AI tokens + [review minutes] per lead → near-zero marginal cost</a:t>
            </a:r>
            <a:endParaRPr lang="en-US" sz="1300" dirty="0"/>
          </a:p>
          <a:p>
            <a:pPr marL="177800" indent="-177800">
              <a:spcAft>
                <a:spcPts val="300"/>
              </a:spcAft>
              <a:buSzPct val="100000"/>
              <a:buChar char="•"/>
            </a:pPr>
            <a:r>
              <a:rPr lang="en-US" sz="1300" dirty="0">
                <a:solidFill>
                  <a:srgbClr val="3E5559"/>
                </a:solidFill>
                <a:latin typeface="Manrope" pitchFamily="34" charset="0"/>
                <a:ea typeface="Manrope" pitchFamily="34" charset="-122"/>
                <a:cs typeface="Manrope" pitchFamily="34" charset="-120"/>
              </a:rPr>
              <a:t>Savings: [hours saved] × [leads per month] = [€ per month]</a:t>
            </a:r>
            <a:endParaRPr lang="en-US" sz="1300" dirty="0"/>
          </a:p>
          <a:p>
            <a:pPr marL="177800" indent="-177800">
              <a:spcAft>
                <a:spcPts val="300"/>
              </a:spcAft>
              <a:buSzPct val="100000"/>
              <a:buChar char="•"/>
            </a:pPr>
            <a:r>
              <a:rPr lang="en-US" sz="1300" dirty="0">
                <a:solidFill>
                  <a:srgbClr val="3E5559"/>
                </a:solidFill>
                <a:latin typeface="Manrope" pitchFamily="34" charset="0"/>
                <a:ea typeface="Manrope" pitchFamily="34" charset="-122"/>
                <a:cs typeface="Manrope" pitchFamily="34" charset="-120"/>
              </a:rPr>
              <a:t>Weakest assumption: [lead volume per month / attribution]</a:t>
            </a:r>
            <a:endParaRPr lang="en-US" sz="1300" dirty="0"/>
          </a:p>
        </p:txBody>
      </p:sp>
      <p:sp>
        <p:nvSpPr>
          <p:cNvPr id="18" name="Shape 16"/>
          <p:cNvSpPr/>
          <p:nvPr/>
        </p:nvSpPr>
        <p:spPr>
          <a:xfrm>
            <a:off x="6126480" y="3154680"/>
            <a:ext cx="5516575" cy="2377440"/>
          </a:xfrm>
          <a:prstGeom prst="rect">
            <a:avLst/>
          </a:prstGeom>
          <a:solidFill>
            <a:srgbClr val="FFFDFA"/>
          </a:solidFill>
          <a:ln w="12700">
            <a:solidFill>
              <a:srgbClr val="E6DDD1"/>
            </a:solidFill>
            <a:prstDash val="solid"/>
          </a:ln>
        </p:spPr>
      </p:sp>
      <p:sp>
        <p:nvSpPr>
          <p:cNvPr id="19" name="Text 17"/>
          <p:cNvSpPr txBox="1"/>
          <p:nvPr/>
        </p:nvSpPr>
        <p:spPr>
          <a:xfrm>
            <a:off x="6291072" y="3291840"/>
            <a:ext cx="5187391"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Pricing meter (if offered to clients)</a:t>
            </a:r>
            <a:endParaRPr lang="en-US" sz="1500" dirty="0"/>
          </a:p>
        </p:txBody>
      </p:sp>
      <p:sp>
        <p:nvSpPr>
          <p:cNvPr id="20" name="Shape 18"/>
          <p:cNvSpPr/>
          <p:nvPr/>
        </p:nvSpPr>
        <p:spPr>
          <a:xfrm>
            <a:off x="6291072" y="3703320"/>
            <a:ext cx="1228268" cy="411480"/>
          </a:xfrm>
          <a:prstGeom prst="rect">
            <a:avLst/>
          </a:prstGeom>
          <a:solidFill>
            <a:srgbClr val="EFE9E1"/>
          </a:solidFill>
          <a:ln/>
        </p:spPr>
      </p:sp>
      <p:sp>
        <p:nvSpPr>
          <p:cNvPr id="21" name="Text 19"/>
          <p:cNvSpPr txBox="1"/>
          <p:nvPr/>
        </p:nvSpPr>
        <p:spPr>
          <a:xfrm>
            <a:off x="6291072" y="3703320"/>
            <a:ext cx="1228268" cy="411480"/>
          </a:xfrm>
          <a:prstGeom prst="rect">
            <a:avLst/>
          </a:prstGeom>
          <a:noFill/>
          <a:ln/>
        </p:spPr>
        <p:txBody>
          <a:bodyPr wrap="square" lIns="0" tIns="0" rIns="0" bIns="0" rtlCol="0" anchor="ctr"/>
          <a:lstStyle/>
          <a:p>
            <a:pPr algn="ctr" indent="0" marL="0">
              <a:buNone/>
            </a:pPr>
            <a:r>
              <a:rPr lang="en-US" sz="1300" b="1" dirty="0">
                <a:solidFill>
                  <a:srgbClr val="5A6E71"/>
                </a:solidFill>
                <a:latin typeface="Manrope" pitchFamily="34" charset="0"/>
                <a:ea typeface="Manrope" pitchFamily="34" charset="-122"/>
                <a:cs typeface="Manrope" pitchFamily="34" charset="-120"/>
              </a:rPr>
              <a:t>Seat ✗</a:t>
            </a:r>
            <a:endParaRPr lang="en-US" sz="1300" dirty="0"/>
          </a:p>
        </p:txBody>
      </p:sp>
      <p:sp>
        <p:nvSpPr>
          <p:cNvPr id="22" name="Shape 20"/>
          <p:cNvSpPr/>
          <p:nvPr/>
        </p:nvSpPr>
        <p:spPr>
          <a:xfrm>
            <a:off x="7610780" y="3703320"/>
            <a:ext cx="1228268" cy="411480"/>
          </a:xfrm>
          <a:prstGeom prst="rect">
            <a:avLst/>
          </a:prstGeom>
          <a:solidFill>
            <a:srgbClr val="EFE9E1"/>
          </a:solidFill>
          <a:ln/>
        </p:spPr>
      </p:sp>
      <p:sp>
        <p:nvSpPr>
          <p:cNvPr id="23" name="Text 21"/>
          <p:cNvSpPr txBox="1"/>
          <p:nvPr/>
        </p:nvSpPr>
        <p:spPr>
          <a:xfrm>
            <a:off x="7610780" y="3703320"/>
            <a:ext cx="1228268" cy="411480"/>
          </a:xfrm>
          <a:prstGeom prst="rect">
            <a:avLst/>
          </a:prstGeom>
          <a:noFill/>
          <a:ln/>
        </p:spPr>
        <p:txBody>
          <a:bodyPr wrap="square" lIns="0" tIns="0" rIns="0" bIns="0" rtlCol="0" anchor="ctr"/>
          <a:lstStyle/>
          <a:p>
            <a:pPr algn="ctr" indent="0" marL="0">
              <a:buNone/>
            </a:pPr>
            <a:r>
              <a:rPr lang="en-US" sz="1300" b="1" dirty="0">
                <a:solidFill>
                  <a:srgbClr val="5A6E71"/>
                </a:solidFill>
                <a:latin typeface="Manrope" pitchFamily="34" charset="0"/>
                <a:ea typeface="Manrope" pitchFamily="34" charset="-122"/>
                <a:cs typeface="Manrope" pitchFamily="34" charset="-120"/>
              </a:rPr>
              <a:t>Usage</a:t>
            </a:r>
            <a:endParaRPr lang="en-US" sz="1300" dirty="0"/>
          </a:p>
        </p:txBody>
      </p:sp>
      <p:sp>
        <p:nvSpPr>
          <p:cNvPr id="24" name="Shape 22"/>
          <p:cNvSpPr/>
          <p:nvPr/>
        </p:nvSpPr>
        <p:spPr>
          <a:xfrm>
            <a:off x="8930488" y="3703320"/>
            <a:ext cx="1228268" cy="411480"/>
          </a:xfrm>
          <a:prstGeom prst="rect">
            <a:avLst/>
          </a:prstGeom>
          <a:solidFill>
            <a:srgbClr val="E4EFD3"/>
          </a:solidFill>
          <a:ln/>
        </p:spPr>
      </p:sp>
      <p:sp>
        <p:nvSpPr>
          <p:cNvPr id="25" name="Text 23"/>
          <p:cNvSpPr txBox="1"/>
          <p:nvPr/>
        </p:nvSpPr>
        <p:spPr>
          <a:xfrm>
            <a:off x="8930488" y="3703320"/>
            <a:ext cx="1228268" cy="411480"/>
          </a:xfrm>
          <a:prstGeom prst="rect">
            <a:avLst/>
          </a:prstGeom>
          <a:noFill/>
          <a:ln/>
        </p:spPr>
        <p:txBody>
          <a:bodyPr wrap="square" lIns="0" tIns="0" rIns="0" bIns="0" rtlCol="0" anchor="ctr"/>
          <a:lstStyle/>
          <a:p>
            <a:pPr algn="ctr" indent="0" marL="0">
              <a:buNone/>
            </a:pPr>
            <a:r>
              <a:rPr lang="en-US" sz="1300" b="1" dirty="0">
                <a:solidFill>
                  <a:srgbClr val="3F6B4E"/>
                </a:solidFill>
                <a:latin typeface="Manrope" pitchFamily="34" charset="0"/>
                <a:ea typeface="Manrope" pitchFamily="34" charset="-122"/>
                <a:cs typeface="Manrope" pitchFamily="34" charset="-120"/>
              </a:rPr>
              <a:t>Job ✓</a:t>
            </a:r>
            <a:endParaRPr lang="en-US" sz="1300" dirty="0"/>
          </a:p>
        </p:txBody>
      </p:sp>
      <p:sp>
        <p:nvSpPr>
          <p:cNvPr id="26" name="Shape 24"/>
          <p:cNvSpPr/>
          <p:nvPr/>
        </p:nvSpPr>
        <p:spPr>
          <a:xfrm>
            <a:off x="10250195" y="3703320"/>
            <a:ext cx="1228268" cy="411480"/>
          </a:xfrm>
          <a:prstGeom prst="rect">
            <a:avLst/>
          </a:prstGeom>
          <a:solidFill>
            <a:srgbClr val="EFE9E1"/>
          </a:solidFill>
          <a:ln/>
        </p:spPr>
      </p:sp>
      <p:sp>
        <p:nvSpPr>
          <p:cNvPr id="27" name="Text 25"/>
          <p:cNvSpPr txBox="1"/>
          <p:nvPr/>
        </p:nvSpPr>
        <p:spPr>
          <a:xfrm>
            <a:off x="10250195" y="3703320"/>
            <a:ext cx="1228268" cy="411480"/>
          </a:xfrm>
          <a:prstGeom prst="rect">
            <a:avLst/>
          </a:prstGeom>
          <a:noFill/>
          <a:ln/>
        </p:spPr>
        <p:txBody>
          <a:bodyPr wrap="square" lIns="0" tIns="0" rIns="0" bIns="0" rtlCol="0" anchor="ctr"/>
          <a:lstStyle/>
          <a:p>
            <a:pPr algn="ctr" indent="0" marL="0">
              <a:buNone/>
            </a:pPr>
            <a:r>
              <a:rPr lang="en-US" sz="1300" b="1" dirty="0">
                <a:solidFill>
                  <a:srgbClr val="5A6E71"/>
                </a:solidFill>
                <a:latin typeface="Manrope" pitchFamily="34" charset="0"/>
                <a:ea typeface="Manrope" pitchFamily="34" charset="-122"/>
                <a:cs typeface="Manrope" pitchFamily="34" charset="-120"/>
              </a:rPr>
              <a:t>Outcome ✗</a:t>
            </a:r>
            <a:endParaRPr lang="en-US" sz="1300" dirty="0"/>
          </a:p>
        </p:txBody>
      </p:sp>
      <p:sp>
        <p:nvSpPr>
          <p:cNvPr id="28" name="Text 26"/>
          <p:cNvSpPr txBox="1"/>
          <p:nvPr/>
        </p:nvSpPr>
        <p:spPr>
          <a:xfrm>
            <a:off x="6291072" y="4224528"/>
            <a:ext cx="5187391" cy="1261872"/>
          </a:xfrm>
          <a:prstGeom prst="rect">
            <a:avLst/>
          </a:prstGeom>
          <a:noFill/>
          <a:ln/>
        </p:spPr>
        <p:txBody>
          <a:bodyPr wrap="square" lIns="0" tIns="0" rIns="0" bIns="0" rtlCol="0" anchor="t"/>
          <a:lstStyle/>
          <a:p>
            <a:pPr indent="0" marL="0">
              <a:spcAft>
                <a:spcPts val="600"/>
              </a:spcAft>
              <a:buNone/>
            </a:pPr>
            <a:r>
              <a:rPr lang="en-US" sz="1200" dirty="0">
                <a:solidFill>
                  <a:srgbClr val="3E5559"/>
                </a:solidFill>
                <a:latin typeface="Manrope" pitchFamily="34" charset="0"/>
                <a:ea typeface="Manrope" pitchFamily="34" charset="-122"/>
                <a:cs typeface="Manrope" pitchFamily="34" charset="-120"/>
              </a:rPr>
              <a:t>Job = one pre-sales package; both sides can count it. Seat rejected: AI shrinks seats (BCG). Outcome rejected: who won the deal?</a:t>
            </a:r>
            <a:endParaRPr lang="en-US" sz="1200" dirty="0"/>
          </a:p>
          <a:p>
            <a:pPr indent="0" marL="0">
              <a:buNone/>
            </a:pPr>
            <a:r>
              <a:rPr lang="en-US" sz="1200" b="1" dirty="0">
                <a:solidFill>
                  <a:srgbClr val="264549"/>
                </a:solidFill>
                <a:latin typeface="Manrope" pitchFamily="34" charset="0"/>
                <a:ea typeface="Manrope" pitchFamily="34" charset="-122"/>
                <a:cs typeface="Manrope" pitchFamily="34" charset="-120"/>
              </a:rPr>
              <a:t>Versioning: </a:t>
            </a:r>
            <a:pPr indent="0" marL="0">
              <a:buNone/>
            </a:pPr>
            <a:r>
              <a:rPr lang="en-US" sz="1200" dirty="0">
                <a:solidFill>
                  <a:srgbClr val="3E5559"/>
                </a:solidFill>
                <a:latin typeface="Manrope" pitchFamily="34" charset="0"/>
                <a:ea typeface="Manrope" pitchFamily="34" charset="-122"/>
                <a:cs typeface="Manrope" pitchFamily="34" charset="-120"/>
              </a:rPr>
              <a:t>Basic = questions + proposal · Premium = + PoC dashboard — only prospects with a real data problem choose Premium.</a:t>
            </a:r>
            <a:endParaRPr lang="en-US" sz="1200" dirty="0"/>
          </a:p>
        </p:txBody>
      </p:sp>
      <p:sp>
        <p:nvSpPr>
          <p:cNvPr id="29" name="Shape 27"/>
          <p:cNvSpPr/>
          <p:nvPr/>
        </p:nvSpPr>
        <p:spPr>
          <a:xfrm>
            <a:off x="548640" y="5687568"/>
            <a:ext cx="11094415" cy="512064"/>
          </a:xfrm>
          <a:prstGeom prst="rect">
            <a:avLst/>
          </a:prstGeom>
          <a:solidFill>
            <a:srgbClr val="E4EFD3"/>
          </a:solidFill>
          <a:ln/>
        </p:spPr>
      </p:sp>
      <p:sp>
        <p:nvSpPr>
          <p:cNvPr id="30" name="Text 28"/>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Internally: value = [hours saved] per lead. Externally: price per job, versioned Basic / Premium.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ECOSYSTEM</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Not a platform: a pipeline tool inside the Microsoft BI ecosystem</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A · Lab: MAP (S5)</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09</a:t>
            </a:r>
            <a:endParaRPr lang="en-US" sz="1000" dirty="0"/>
          </a:p>
        </p:txBody>
      </p:sp>
      <p:sp>
        <p:nvSpPr>
          <p:cNvPr id="6" name="Shape 4"/>
          <p:cNvSpPr/>
          <p:nvPr/>
        </p:nvSpPr>
        <p:spPr>
          <a:xfrm>
            <a:off x="548640" y="1783080"/>
            <a:ext cx="3154680" cy="1188720"/>
          </a:xfrm>
          <a:prstGeom prst="rect">
            <a:avLst/>
          </a:prstGeom>
          <a:solidFill>
            <a:srgbClr val="FFFDFA"/>
          </a:solidFill>
          <a:ln w="12700">
            <a:solidFill>
              <a:srgbClr val="E6DDD1"/>
            </a:solidFill>
            <a:prstDash val="solid"/>
          </a:ln>
        </p:spPr>
      </p:sp>
      <p:sp>
        <p:nvSpPr>
          <p:cNvPr id="7" name="Text 5"/>
          <p:cNvSpPr txBox="1"/>
          <p:nvPr/>
        </p:nvSpPr>
        <p:spPr>
          <a:xfrm>
            <a:off x="713232" y="1947672"/>
            <a:ext cx="2825496" cy="310896"/>
          </a:xfrm>
          <a:prstGeom prst="rect">
            <a:avLst/>
          </a:prstGeom>
          <a:noFill/>
          <a:ln/>
        </p:spPr>
        <p:txBody>
          <a:bodyPr wrap="square" lIns="0" tIns="0" rIns="0" bIns="0" rtlCol="0" anchor="t"/>
          <a:lstStyle/>
          <a:p>
            <a:pPr indent="0" marL="0">
              <a:buNone/>
            </a:pPr>
            <a:r>
              <a:rPr lang="en-US" sz="1400" b="1" dirty="0">
                <a:solidFill>
                  <a:srgbClr val="264549"/>
                </a:solidFill>
                <a:latin typeface="Epilogue" pitchFamily="34" charset="0"/>
                <a:ea typeface="Epilogue" pitchFamily="34" charset="-122"/>
                <a:cs typeface="Epilogue" pitchFamily="34" charset="-120"/>
              </a:rPr>
              <a:t>Users</a:t>
            </a:r>
            <a:endParaRPr lang="en-US" sz="1400" dirty="0"/>
          </a:p>
        </p:txBody>
      </p:sp>
      <p:sp>
        <p:nvSpPr>
          <p:cNvPr id="8" name="Text 6"/>
          <p:cNvSpPr txBox="1"/>
          <p:nvPr/>
        </p:nvSpPr>
        <p:spPr>
          <a:xfrm>
            <a:off x="713232" y="2313432"/>
            <a:ext cx="2825496" cy="55961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Datavance consultants · SME prospects</a:t>
            </a:r>
            <a:endParaRPr lang="en-US" sz="1200" dirty="0"/>
          </a:p>
        </p:txBody>
      </p:sp>
      <p:sp>
        <p:nvSpPr>
          <p:cNvPr id="9" name="Shape 7"/>
          <p:cNvSpPr/>
          <p:nvPr/>
        </p:nvSpPr>
        <p:spPr>
          <a:xfrm>
            <a:off x="4023360" y="1783080"/>
            <a:ext cx="3154680" cy="1188720"/>
          </a:xfrm>
          <a:prstGeom prst="rect">
            <a:avLst/>
          </a:prstGeom>
          <a:solidFill>
            <a:srgbClr val="FFFDFA"/>
          </a:solidFill>
          <a:ln w="12700">
            <a:solidFill>
              <a:srgbClr val="E6DDD1"/>
            </a:solidFill>
            <a:prstDash val="solid"/>
          </a:ln>
        </p:spPr>
      </p:sp>
      <p:sp>
        <p:nvSpPr>
          <p:cNvPr id="10" name="Text 8"/>
          <p:cNvSpPr txBox="1"/>
          <p:nvPr/>
        </p:nvSpPr>
        <p:spPr>
          <a:xfrm>
            <a:off x="4187952" y="1947672"/>
            <a:ext cx="2825496" cy="310896"/>
          </a:xfrm>
          <a:prstGeom prst="rect">
            <a:avLst/>
          </a:prstGeom>
          <a:noFill/>
          <a:ln/>
        </p:spPr>
        <p:txBody>
          <a:bodyPr wrap="square" lIns="0" tIns="0" rIns="0" bIns="0" rtlCol="0" anchor="t"/>
          <a:lstStyle/>
          <a:p>
            <a:pPr indent="0" marL="0">
              <a:buNone/>
            </a:pPr>
            <a:r>
              <a:rPr lang="en-US" sz="1400" b="1" dirty="0">
                <a:solidFill>
                  <a:srgbClr val="264549"/>
                </a:solidFill>
                <a:latin typeface="Epilogue" pitchFamily="34" charset="0"/>
                <a:ea typeface="Epilogue" pitchFamily="34" charset="-122"/>
                <a:cs typeface="Epilogue" pitchFamily="34" charset="-120"/>
              </a:rPr>
              <a:t>Infrastructure &amp; suppliers</a:t>
            </a:r>
            <a:endParaRPr lang="en-US" sz="1400" dirty="0"/>
          </a:p>
        </p:txBody>
      </p:sp>
      <p:sp>
        <p:nvSpPr>
          <p:cNvPr id="11" name="Text 9"/>
          <p:cNvSpPr txBox="1"/>
          <p:nvPr/>
        </p:nvSpPr>
        <p:spPr>
          <a:xfrm>
            <a:off x="4187952" y="2313432"/>
            <a:ext cx="2825496" cy="55961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DeepSeek LLM · Microsoft 365 / Word · Power BI</a:t>
            </a:r>
            <a:endParaRPr lang="en-US" sz="1200" dirty="0"/>
          </a:p>
        </p:txBody>
      </p:sp>
      <p:sp>
        <p:nvSpPr>
          <p:cNvPr id="12" name="Shape 10"/>
          <p:cNvSpPr/>
          <p:nvPr/>
        </p:nvSpPr>
        <p:spPr>
          <a:xfrm>
            <a:off x="548640" y="4343400"/>
            <a:ext cx="3154680" cy="1188720"/>
          </a:xfrm>
          <a:prstGeom prst="rect">
            <a:avLst/>
          </a:prstGeom>
          <a:solidFill>
            <a:srgbClr val="FFFDFA"/>
          </a:solidFill>
          <a:ln w="12700">
            <a:solidFill>
              <a:srgbClr val="E6DDD1"/>
            </a:solidFill>
            <a:prstDash val="solid"/>
          </a:ln>
        </p:spPr>
      </p:sp>
      <p:sp>
        <p:nvSpPr>
          <p:cNvPr id="13" name="Text 11"/>
          <p:cNvSpPr txBox="1"/>
          <p:nvPr/>
        </p:nvSpPr>
        <p:spPr>
          <a:xfrm>
            <a:off x="713232" y="4507992"/>
            <a:ext cx="2825496" cy="310896"/>
          </a:xfrm>
          <a:prstGeom prst="rect">
            <a:avLst/>
          </a:prstGeom>
          <a:noFill/>
          <a:ln/>
        </p:spPr>
        <p:txBody>
          <a:bodyPr wrap="square" lIns="0" tIns="0" rIns="0" bIns="0" rtlCol="0" anchor="t"/>
          <a:lstStyle/>
          <a:p>
            <a:pPr indent="0" marL="0">
              <a:buNone/>
            </a:pPr>
            <a:r>
              <a:rPr lang="en-US" sz="1400" b="1" dirty="0">
                <a:solidFill>
                  <a:srgbClr val="264549"/>
                </a:solidFill>
                <a:latin typeface="Epilogue" pitchFamily="34" charset="0"/>
                <a:ea typeface="Epilogue" pitchFamily="34" charset="-122"/>
                <a:cs typeface="Epilogue" pitchFamily="34" charset="-120"/>
              </a:rPr>
              <a:t>Complementors</a:t>
            </a:r>
            <a:endParaRPr lang="en-US" sz="1400" dirty="0"/>
          </a:p>
        </p:txBody>
      </p:sp>
      <p:sp>
        <p:nvSpPr>
          <p:cNvPr id="14" name="Text 12"/>
          <p:cNvSpPr txBox="1"/>
          <p:nvPr/>
        </p:nvSpPr>
        <p:spPr>
          <a:xfrm>
            <a:off x="713232" y="4873752"/>
            <a:ext cx="2825496" cy="55961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HubSpot CRM · Exact · AFAS (client source systems)</a:t>
            </a:r>
            <a:endParaRPr lang="en-US" sz="1200" dirty="0"/>
          </a:p>
        </p:txBody>
      </p:sp>
      <p:sp>
        <p:nvSpPr>
          <p:cNvPr id="15" name="Shape 13"/>
          <p:cNvSpPr/>
          <p:nvPr/>
        </p:nvSpPr>
        <p:spPr>
          <a:xfrm>
            <a:off x="4023360" y="4343400"/>
            <a:ext cx="3154680" cy="1188720"/>
          </a:xfrm>
          <a:prstGeom prst="rect">
            <a:avLst/>
          </a:prstGeom>
          <a:solidFill>
            <a:srgbClr val="FFFDFA"/>
          </a:solidFill>
          <a:ln w="12700">
            <a:solidFill>
              <a:srgbClr val="E6DDD1"/>
            </a:solidFill>
            <a:prstDash val="solid"/>
          </a:ln>
        </p:spPr>
      </p:sp>
      <p:sp>
        <p:nvSpPr>
          <p:cNvPr id="16" name="Text 14"/>
          <p:cNvSpPr txBox="1"/>
          <p:nvPr/>
        </p:nvSpPr>
        <p:spPr>
          <a:xfrm>
            <a:off x="4187952" y="4507992"/>
            <a:ext cx="2825496" cy="310896"/>
          </a:xfrm>
          <a:prstGeom prst="rect">
            <a:avLst/>
          </a:prstGeom>
          <a:noFill/>
          <a:ln/>
        </p:spPr>
        <p:txBody>
          <a:bodyPr wrap="square" lIns="0" tIns="0" rIns="0" bIns="0" rtlCol="0" anchor="t"/>
          <a:lstStyle/>
          <a:p>
            <a:pPr indent="0" marL="0">
              <a:buNone/>
            </a:pPr>
            <a:r>
              <a:rPr lang="en-US" sz="1400" b="1" dirty="0">
                <a:solidFill>
                  <a:srgbClr val="264549"/>
                </a:solidFill>
                <a:latin typeface="Epilogue" pitchFamily="34" charset="0"/>
                <a:ea typeface="Epilogue" pitchFamily="34" charset="-122"/>
                <a:cs typeface="Epilogue" pitchFamily="34" charset="-120"/>
              </a:rPr>
              <a:t>Competitors</a:t>
            </a:r>
            <a:endParaRPr lang="en-US" sz="1400" dirty="0"/>
          </a:p>
        </p:txBody>
      </p:sp>
      <p:sp>
        <p:nvSpPr>
          <p:cNvPr id="17" name="Text 15"/>
          <p:cNvSpPr txBox="1"/>
          <p:nvPr/>
        </p:nvSpPr>
        <p:spPr>
          <a:xfrm>
            <a:off x="4187952" y="4873752"/>
            <a:ext cx="2825496" cy="55961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Copilot for Sales · HubSpot AI · other BI firms</a:t>
            </a:r>
            <a:endParaRPr lang="en-US" sz="1200" dirty="0"/>
          </a:p>
        </p:txBody>
      </p:sp>
      <p:sp>
        <p:nvSpPr>
          <p:cNvPr id="18" name="Shape 16"/>
          <p:cNvSpPr/>
          <p:nvPr/>
        </p:nvSpPr>
        <p:spPr>
          <a:xfrm>
            <a:off x="2103120" y="3090672"/>
            <a:ext cx="3520440" cy="1097280"/>
          </a:xfrm>
          <a:prstGeom prst="rect">
            <a:avLst/>
          </a:prstGeom>
          <a:solidFill>
            <a:srgbClr val="264549"/>
          </a:solidFill>
          <a:ln/>
        </p:spPr>
      </p:sp>
      <p:sp>
        <p:nvSpPr>
          <p:cNvPr id="19" name="Text 17"/>
          <p:cNvSpPr txBox="1"/>
          <p:nvPr/>
        </p:nvSpPr>
        <p:spPr>
          <a:xfrm>
            <a:off x="2240280" y="3154680"/>
            <a:ext cx="3246120" cy="329184"/>
          </a:xfrm>
          <a:prstGeom prst="rect">
            <a:avLst/>
          </a:prstGeom>
          <a:noFill/>
          <a:ln/>
        </p:spPr>
        <p:txBody>
          <a:bodyPr wrap="square" lIns="0" tIns="0" rIns="0" bIns="0" rtlCol="0" anchor="t"/>
          <a:lstStyle/>
          <a:p>
            <a:pPr algn="ctr" indent="0" marL="0">
              <a:buNone/>
            </a:pPr>
            <a:r>
              <a:rPr lang="en-US" sz="1600" b="1" dirty="0">
                <a:solidFill>
                  <a:srgbClr val="FFFAF5"/>
                </a:solidFill>
                <a:latin typeface="Epilogue" pitchFamily="34" charset="0"/>
                <a:ea typeface="Epilogue" pitchFamily="34" charset="-122"/>
                <a:cs typeface="Epilogue" pitchFamily="34" charset="-120"/>
              </a:rPr>
              <a:t>Datavance tool</a:t>
            </a:r>
            <a:endParaRPr lang="en-US" sz="1600" dirty="0"/>
          </a:p>
        </p:txBody>
      </p:sp>
      <p:sp>
        <p:nvSpPr>
          <p:cNvPr id="20" name="Text 18"/>
          <p:cNvSpPr txBox="1"/>
          <p:nvPr/>
        </p:nvSpPr>
        <p:spPr>
          <a:xfrm>
            <a:off x="2240280" y="3520440"/>
            <a:ext cx="3246120" cy="548640"/>
          </a:xfrm>
          <a:prstGeom prst="rect">
            <a:avLst/>
          </a:prstGeom>
          <a:noFill/>
          <a:ln/>
        </p:spPr>
        <p:txBody>
          <a:bodyPr wrap="square" lIns="0" tIns="0" rIns="0" bIns="0" rtlCol="0" anchor="t"/>
          <a:lstStyle/>
          <a:p>
            <a:pPr algn="ctr" indent="0" marL="0">
              <a:buNone/>
            </a:pPr>
            <a:r>
              <a:rPr lang="en-US" sz="1200" dirty="0">
                <a:solidFill>
                  <a:srgbClr val="C9D8D6"/>
                </a:solidFill>
                <a:latin typeface="Manrope" pitchFamily="34" charset="0"/>
                <a:ea typeface="Manrope" pitchFamily="34" charset="-122"/>
                <a:cs typeface="Manrope" pitchFamily="34" charset="-120"/>
              </a:rPr>
              <a:t>Core interaction: sales call → proposal + PoC</a:t>
            </a:r>
            <a:endParaRPr lang="en-US" sz="1200" dirty="0"/>
          </a:p>
        </p:txBody>
      </p:sp>
      <p:sp>
        <p:nvSpPr>
          <p:cNvPr id="21" name="Shape 19"/>
          <p:cNvSpPr/>
          <p:nvPr/>
        </p:nvSpPr>
        <p:spPr>
          <a:xfrm>
            <a:off x="7543800" y="1783080"/>
            <a:ext cx="4099255" cy="1170432"/>
          </a:xfrm>
          <a:prstGeom prst="rect">
            <a:avLst/>
          </a:prstGeom>
          <a:solidFill>
            <a:srgbClr val="FFFDFA"/>
          </a:solidFill>
          <a:ln w="12700">
            <a:solidFill>
              <a:srgbClr val="E6DDD1"/>
            </a:solidFill>
            <a:prstDash val="solid"/>
          </a:ln>
        </p:spPr>
      </p:sp>
      <p:sp>
        <p:nvSpPr>
          <p:cNvPr id="22" name="Text 20"/>
          <p:cNvSpPr txBox="1"/>
          <p:nvPr/>
        </p:nvSpPr>
        <p:spPr>
          <a:xfrm>
            <a:off x="7708392" y="1947672"/>
            <a:ext cx="3770071" cy="310896"/>
          </a:xfrm>
          <a:prstGeom prst="rect">
            <a:avLst/>
          </a:prstGeom>
          <a:noFill/>
          <a:ln/>
        </p:spPr>
        <p:txBody>
          <a:bodyPr wrap="square" lIns="0" tIns="0" rIns="0" bIns="0" rtlCol="0" anchor="t"/>
          <a:lstStyle/>
          <a:p>
            <a:pPr indent="0" marL="0">
              <a:buNone/>
            </a:pPr>
            <a:r>
              <a:rPr lang="en-US" sz="1400" b="1" dirty="0">
                <a:solidFill>
                  <a:srgbClr val="264549"/>
                </a:solidFill>
                <a:latin typeface="Epilogue" pitchFamily="34" charset="0"/>
                <a:ea typeface="Epilogue" pitchFamily="34" charset="-122"/>
                <a:cs typeface="Epilogue" pitchFamily="34" charset="-120"/>
              </a:rPr>
              <a:t>Platform?</a:t>
            </a:r>
            <a:endParaRPr lang="en-US" sz="1400" dirty="0"/>
          </a:p>
        </p:txBody>
      </p:sp>
      <p:sp>
        <p:nvSpPr>
          <p:cNvPr id="23" name="Text 21"/>
          <p:cNvSpPr txBox="1"/>
          <p:nvPr/>
        </p:nvSpPr>
        <p:spPr>
          <a:xfrm>
            <a:off x="7708392" y="2313432"/>
            <a:ext cx="3770071" cy="541325"/>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No — a one-sided pipeline; we complement platforms, we are not one.</a:t>
            </a:r>
            <a:endParaRPr lang="en-US" sz="1200" dirty="0"/>
          </a:p>
        </p:txBody>
      </p:sp>
      <p:sp>
        <p:nvSpPr>
          <p:cNvPr id="24" name="Shape 22"/>
          <p:cNvSpPr/>
          <p:nvPr/>
        </p:nvSpPr>
        <p:spPr>
          <a:xfrm>
            <a:off x="7543800" y="3063240"/>
            <a:ext cx="4099255" cy="1170432"/>
          </a:xfrm>
          <a:prstGeom prst="rect">
            <a:avLst/>
          </a:prstGeom>
          <a:solidFill>
            <a:srgbClr val="FFFDFA"/>
          </a:solidFill>
          <a:ln w="12700">
            <a:solidFill>
              <a:srgbClr val="E6DDD1"/>
            </a:solidFill>
            <a:prstDash val="solid"/>
          </a:ln>
        </p:spPr>
      </p:sp>
      <p:sp>
        <p:nvSpPr>
          <p:cNvPr id="25" name="Text 23"/>
          <p:cNvSpPr txBox="1"/>
          <p:nvPr/>
        </p:nvSpPr>
        <p:spPr>
          <a:xfrm>
            <a:off x="7708392" y="3227832"/>
            <a:ext cx="3770071" cy="310896"/>
          </a:xfrm>
          <a:prstGeom prst="rect">
            <a:avLst/>
          </a:prstGeom>
          <a:noFill/>
          <a:ln/>
        </p:spPr>
        <p:txBody>
          <a:bodyPr wrap="square" lIns="0" tIns="0" rIns="0" bIns="0" rtlCol="0" anchor="t"/>
          <a:lstStyle/>
          <a:p>
            <a:pPr indent="0" marL="0">
              <a:buNone/>
            </a:pPr>
            <a:r>
              <a:rPr lang="en-US" sz="1400" b="1" dirty="0">
                <a:solidFill>
                  <a:srgbClr val="264549"/>
                </a:solidFill>
                <a:latin typeface="Epilogue" pitchFamily="34" charset="0"/>
                <a:ea typeface="Epilogue" pitchFamily="34" charset="-122"/>
                <a:cs typeface="Epilogue" pitchFamily="34" charset="-120"/>
              </a:rPr>
              <a:t>Network effects</a:t>
            </a:r>
            <a:endParaRPr lang="en-US" sz="1400" dirty="0"/>
          </a:p>
        </p:txBody>
      </p:sp>
      <p:sp>
        <p:nvSpPr>
          <p:cNvPr id="26" name="Text 24"/>
          <p:cNvSpPr txBox="1"/>
          <p:nvPr/>
        </p:nvSpPr>
        <p:spPr>
          <a:xfrm>
            <a:off x="7708392" y="3593592"/>
            <a:ext cx="3770071" cy="541325"/>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No cross-side effects; only a weak learning effect from edits and outcomes. Negative: AI proposals start to look alike.</a:t>
            </a:r>
            <a:endParaRPr lang="en-US" sz="1200" dirty="0"/>
          </a:p>
        </p:txBody>
      </p:sp>
      <p:sp>
        <p:nvSpPr>
          <p:cNvPr id="27" name="Shape 25"/>
          <p:cNvSpPr/>
          <p:nvPr/>
        </p:nvSpPr>
        <p:spPr>
          <a:xfrm>
            <a:off x="7543800" y="4343400"/>
            <a:ext cx="4099255" cy="1170432"/>
          </a:xfrm>
          <a:prstGeom prst="rect">
            <a:avLst/>
          </a:prstGeom>
          <a:solidFill>
            <a:srgbClr val="FFFDFA"/>
          </a:solidFill>
          <a:ln w="12700">
            <a:solidFill>
              <a:srgbClr val="E6DDD1"/>
            </a:solidFill>
            <a:prstDash val="solid"/>
          </a:ln>
        </p:spPr>
      </p:sp>
      <p:sp>
        <p:nvSpPr>
          <p:cNvPr id="28" name="Text 26"/>
          <p:cNvSpPr txBox="1"/>
          <p:nvPr/>
        </p:nvSpPr>
        <p:spPr>
          <a:xfrm>
            <a:off x="7708392" y="4507992"/>
            <a:ext cx="3770071" cy="310896"/>
          </a:xfrm>
          <a:prstGeom prst="rect">
            <a:avLst/>
          </a:prstGeom>
          <a:noFill/>
          <a:ln/>
        </p:spPr>
        <p:txBody>
          <a:bodyPr wrap="square" lIns="0" tIns="0" rIns="0" bIns="0" rtlCol="0" anchor="t"/>
          <a:lstStyle/>
          <a:p>
            <a:pPr indent="0" marL="0">
              <a:buNone/>
            </a:pPr>
            <a:r>
              <a:rPr lang="en-US" sz="1400" b="1" dirty="0">
                <a:solidFill>
                  <a:srgbClr val="B8430F"/>
                </a:solidFill>
                <a:latin typeface="Epilogue" pitchFamily="34" charset="0"/>
                <a:ea typeface="Epilogue" pitchFamily="34" charset="-122"/>
                <a:cs typeface="Epilogue" pitchFamily="34" charset="-120"/>
              </a:rPr>
              <a:t>Envelopment threat</a:t>
            </a:r>
            <a:endParaRPr lang="en-US" sz="1400" dirty="0"/>
          </a:p>
        </p:txBody>
      </p:sp>
      <p:sp>
        <p:nvSpPr>
          <p:cNvPr id="29" name="Text 27"/>
          <p:cNvSpPr txBox="1"/>
          <p:nvPr/>
        </p:nvSpPr>
        <p:spPr>
          <a:xfrm>
            <a:off x="7708392" y="4873752"/>
            <a:ext cx="3770071" cy="541325"/>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Microsoft Copilot (Teams → Word → Power BI) can envelop us: envelopment of complements.</a:t>
            </a:r>
            <a:endParaRPr lang="en-US" sz="1200" dirty="0"/>
          </a:p>
        </p:txBody>
      </p:sp>
      <p:sp>
        <p:nvSpPr>
          <p:cNvPr id="30" name="Shape 28"/>
          <p:cNvSpPr/>
          <p:nvPr/>
        </p:nvSpPr>
        <p:spPr>
          <a:xfrm>
            <a:off x="548640" y="5687568"/>
            <a:ext cx="11094415" cy="512064"/>
          </a:xfrm>
          <a:prstGeom prst="rect">
            <a:avLst/>
          </a:prstGeom>
          <a:solidFill>
            <a:srgbClr val="E4EFD3"/>
          </a:solidFill>
          <a:ln/>
        </p:spPr>
      </p:sp>
      <p:sp>
        <p:nvSpPr>
          <p:cNvPr id="31" name="Text 29"/>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Build on M365, not against it — defend with know-how, own templates and verified numbers.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AI CANVAS</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The AI predicts the scope; the consultant judges</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C · Lab: TEST (S6)</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10</a:t>
            </a:r>
            <a:endParaRPr lang="en-US" sz="1000" dirty="0"/>
          </a:p>
        </p:txBody>
      </p:sp>
      <p:sp>
        <p:nvSpPr>
          <p:cNvPr id="6" name="Shape 4"/>
          <p:cNvSpPr/>
          <p:nvPr/>
        </p:nvSpPr>
        <p:spPr>
          <a:xfrm>
            <a:off x="548640" y="1737360"/>
            <a:ext cx="11094415" cy="457200"/>
          </a:xfrm>
          <a:prstGeom prst="rect">
            <a:avLst/>
          </a:prstGeom>
          <a:solidFill>
            <a:srgbClr val="FAECD9"/>
          </a:solidFill>
          <a:ln/>
        </p:spPr>
      </p:sp>
      <p:sp>
        <p:nvSpPr>
          <p:cNvPr id="7" name="Text 5"/>
          <p:cNvSpPr txBox="1"/>
          <p:nvPr/>
        </p:nvSpPr>
        <p:spPr>
          <a:xfrm>
            <a:off x="731520" y="1737360"/>
            <a:ext cx="10728655" cy="457200"/>
          </a:xfrm>
          <a:prstGeom prst="rect">
            <a:avLst/>
          </a:prstGeom>
          <a:noFill/>
          <a:ln/>
        </p:spPr>
        <p:txBody>
          <a:bodyPr wrap="square" lIns="0" tIns="0" rIns="0" bIns="0" rtlCol="0" anchor="ctr"/>
          <a:lstStyle/>
          <a:p>
            <a:pPr indent="0" marL="0">
              <a:buNone/>
            </a:pPr>
            <a:r>
              <a:rPr lang="en-US" sz="1500" b="1" dirty="0">
                <a:solidFill>
                  <a:srgbClr val="264549"/>
                </a:solidFill>
                <a:latin typeface="Epilogue" pitchFamily="34" charset="0"/>
                <a:ea typeface="Epilogue" pitchFamily="34" charset="-122"/>
                <a:cs typeface="Epilogue" pitchFamily="34" charset="-120"/>
              </a:rPr>
              <a:t>Decision:  which scope and PoC fit this prospect's one problem?</a:t>
            </a:r>
            <a:endParaRPr lang="en-US" sz="1500" dirty="0"/>
          </a:p>
        </p:txBody>
      </p:sp>
      <p:sp>
        <p:nvSpPr>
          <p:cNvPr id="8" name="Shape 6"/>
          <p:cNvSpPr/>
          <p:nvPr/>
        </p:nvSpPr>
        <p:spPr>
          <a:xfrm>
            <a:off x="548640" y="2331720"/>
            <a:ext cx="2670734" cy="1371600"/>
          </a:xfrm>
          <a:prstGeom prst="rect">
            <a:avLst/>
          </a:prstGeom>
          <a:solidFill>
            <a:srgbClr val="FFFDFA"/>
          </a:solidFill>
          <a:ln w="12700">
            <a:solidFill>
              <a:srgbClr val="E6DDD1"/>
            </a:solidFill>
            <a:prstDash val="solid"/>
          </a:ln>
        </p:spPr>
      </p:sp>
      <p:sp>
        <p:nvSpPr>
          <p:cNvPr id="9" name="Text 7"/>
          <p:cNvSpPr txBox="1"/>
          <p:nvPr/>
        </p:nvSpPr>
        <p:spPr>
          <a:xfrm>
            <a:off x="713232" y="2496312"/>
            <a:ext cx="2341550"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Prediction</a:t>
            </a:r>
            <a:endParaRPr lang="en-US" sz="1500" dirty="0"/>
          </a:p>
        </p:txBody>
      </p:sp>
      <p:sp>
        <p:nvSpPr>
          <p:cNvPr id="10" name="Text 8"/>
          <p:cNvSpPr txBox="1"/>
          <p:nvPr/>
        </p:nvSpPr>
        <p:spPr>
          <a:xfrm>
            <a:off x="713232" y="2862072"/>
            <a:ext cx="2341550" cy="74249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The client's core problem, missing information (→ questions) and a fitting dashboard design.</a:t>
            </a:r>
            <a:endParaRPr lang="en-US" sz="1200" dirty="0"/>
          </a:p>
        </p:txBody>
      </p:sp>
      <p:sp>
        <p:nvSpPr>
          <p:cNvPr id="11" name="Shape 9"/>
          <p:cNvSpPr/>
          <p:nvPr/>
        </p:nvSpPr>
        <p:spPr>
          <a:xfrm>
            <a:off x="3356534" y="2331720"/>
            <a:ext cx="2670734" cy="1371600"/>
          </a:xfrm>
          <a:prstGeom prst="rect">
            <a:avLst/>
          </a:prstGeom>
          <a:solidFill>
            <a:srgbClr val="FFFDFA"/>
          </a:solidFill>
          <a:ln w="12700">
            <a:solidFill>
              <a:srgbClr val="E6DDD1"/>
            </a:solidFill>
            <a:prstDash val="solid"/>
          </a:ln>
        </p:spPr>
      </p:sp>
      <p:sp>
        <p:nvSpPr>
          <p:cNvPr id="12" name="Text 10"/>
          <p:cNvSpPr txBox="1"/>
          <p:nvPr/>
        </p:nvSpPr>
        <p:spPr>
          <a:xfrm>
            <a:off x="3521126" y="2496312"/>
            <a:ext cx="2341550"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Judgment</a:t>
            </a:r>
            <a:endParaRPr lang="en-US" sz="1500" dirty="0"/>
          </a:p>
        </p:txBody>
      </p:sp>
      <p:sp>
        <p:nvSpPr>
          <p:cNvPr id="13" name="Text 11"/>
          <p:cNvSpPr txBox="1"/>
          <p:nvPr/>
        </p:nvSpPr>
        <p:spPr>
          <a:xfrm>
            <a:off x="3521126" y="2862072"/>
            <a:ext cx="2341550" cy="74249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Consultant weighs scope, price and the risk of over-promising.</a:t>
            </a:r>
            <a:endParaRPr lang="en-US" sz="1200" dirty="0"/>
          </a:p>
        </p:txBody>
      </p:sp>
      <p:sp>
        <p:nvSpPr>
          <p:cNvPr id="14" name="Shape 12"/>
          <p:cNvSpPr/>
          <p:nvPr/>
        </p:nvSpPr>
        <p:spPr>
          <a:xfrm>
            <a:off x="6164428" y="2331720"/>
            <a:ext cx="2670734" cy="1371600"/>
          </a:xfrm>
          <a:prstGeom prst="rect">
            <a:avLst/>
          </a:prstGeom>
          <a:solidFill>
            <a:srgbClr val="FFFDFA"/>
          </a:solidFill>
          <a:ln w="12700">
            <a:solidFill>
              <a:srgbClr val="E6DDD1"/>
            </a:solidFill>
            <a:prstDash val="solid"/>
          </a:ln>
        </p:spPr>
      </p:sp>
      <p:sp>
        <p:nvSpPr>
          <p:cNvPr id="15" name="Text 13"/>
          <p:cNvSpPr txBox="1"/>
          <p:nvPr/>
        </p:nvSpPr>
        <p:spPr>
          <a:xfrm>
            <a:off x="6329020" y="2496312"/>
            <a:ext cx="2341550"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Action</a:t>
            </a:r>
            <a:endParaRPr lang="en-US" sz="1500" dirty="0"/>
          </a:p>
        </p:txBody>
      </p:sp>
      <p:sp>
        <p:nvSpPr>
          <p:cNvPr id="16" name="Text 14"/>
          <p:cNvSpPr txBox="1"/>
          <p:nvPr/>
        </p:nvSpPr>
        <p:spPr>
          <a:xfrm>
            <a:off x="6329020" y="2862072"/>
            <a:ext cx="2341550" cy="74249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Send the questions, the edited proposal and the PoC.</a:t>
            </a:r>
            <a:endParaRPr lang="en-US" sz="1200" dirty="0"/>
          </a:p>
        </p:txBody>
      </p:sp>
      <p:sp>
        <p:nvSpPr>
          <p:cNvPr id="17" name="Shape 15"/>
          <p:cNvSpPr/>
          <p:nvPr/>
        </p:nvSpPr>
        <p:spPr>
          <a:xfrm>
            <a:off x="8972321" y="2331720"/>
            <a:ext cx="2670734" cy="1371600"/>
          </a:xfrm>
          <a:prstGeom prst="rect">
            <a:avLst/>
          </a:prstGeom>
          <a:solidFill>
            <a:srgbClr val="FFFDFA"/>
          </a:solidFill>
          <a:ln w="12700">
            <a:solidFill>
              <a:srgbClr val="E6DDD1"/>
            </a:solidFill>
            <a:prstDash val="solid"/>
          </a:ln>
        </p:spPr>
      </p:sp>
      <p:sp>
        <p:nvSpPr>
          <p:cNvPr id="18" name="Text 16"/>
          <p:cNvSpPr txBox="1"/>
          <p:nvPr/>
        </p:nvSpPr>
        <p:spPr>
          <a:xfrm>
            <a:off x="9136913" y="2496312"/>
            <a:ext cx="2341550"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Outcome</a:t>
            </a:r>
            <a:endParaRPr lang="en-US" sz="1500" dirty="0"/>
          </a:p>
        </p:txBody>
      </p:sp>
      <p:sp>
        <p:nvSpPr>
          <p:cNvPr id="19" name="Text 17"/>
          <p:cNvSpPr txBox="1"/>
          <p:nvPr/>
        </p:nvSpPr>
        <p:spPr>
          <a:xfrm>
            <a:off x="9136913" y="2862072"/>
            <a:ext cx="2341550" cy="74249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Reply, meeting, deal won — and hours saved.</a:t>
            </a:r>
            <a:endParaRPr lang="en-US" sz="1200" dirty="0"/>
          </a:p>
        </p:txBody>
      </p:sp>
      <p:sp>
        <p:nvSpPr>
          <p:cNvPr id="20" name="Shape 18"/>
          <p:cNvSpPr/>
          <p:nvPr/>
        </p:nvSpPr>
        <p:spPr>
          <a:xfrm>
            <a:off x="548640" y="3840480"/>
            <a:ext cx="2670734" cy="1371600"/>
          </a:xfrm>
          <a:prstGeom prst="rect">
            <a:avLst/>
          </a:prstGeom>
          <a:solidFill>
            <a:srgbClr val="FFFDFA"/>
          </a:solidFill>
          <a:ln w="12700">
            <a:solidFill>
              <a:srgbClr val="E6DDD1"/>
            </a:solidFill>
            <a:prstDash val="solid"/>
          </a:ln>
        </p:spPr>
      </p:sp>
      <p:sp>
        <p:nvSpPr>
          <p:cNvPr id="21" name="Text 19"/>
          <p:cNvSpPr txBox="1"/>
          <p:nvPr/>
        </p:nvSpPr>
        <p:spPr>
          <a:xfrm>
            <a:off x="713232" y="4005072"/>
            <a:ext cx="2341550"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Input</a:t>
            </a:r>
            <a:endParaRPr lang="en-US" sz="1500" dirty="0"/>
          </a:p>
        </p:txBody>
      </p:sp>
      <p:sp>
        <p:nvSpPr>
          <p:cNvPr id="22" name="Text 20"/>
          <p:cNvSpPr txBox="1"/>
          <p:nvPr/>
        </p:nvSpPr>
        <p:spPr>
          <a:xfrm>
            <a:off x="713232" y="4370832"/>
            <a:ext cx="2341550" cy="74249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Call transcript, notes and the consultant's answers.</a:t>
            </a:r>
            <a:endParaRPr lang="en-US" sz="1200" dirty="0"/>
          </a:p>
        </p:txBody>
      </p:sp>
      <p:sp>
        <p:nvSpPr>
          <p:cNvPr id="23" name="Shape 21"/>
          <p:cNvSpPr/>
          <p:nvPr/>
        </p:nvSpPr>
        <p:spPr>
          <a:xfrm>
            <a:off x="3356534" y="3840480"/>
            <a:ext cx="2670734" cy="1371600"/>
          </a:xfrm>
          <a:prstGeom prst="rect">
            <a:avLst/>
          </a:prstGeom>
          <a:solidFill>
            <a:srgbClr val="FFFDFA"/>
          </a:solidFill>
          <a:ln w="12700">
            <a:solidFill>
              <a:srgbClr val="E6DDD1"/>
            </a:solidFill>
            <a:prstDash val="solid"/>
          </a:ln>
        </p:spPr>
      </p:sp>
      <p:sp>
        <p:nvSpPr>
          <p:cNvPr id="24" name="Text 22"/>
          <p:cNvSpPr txBox="1"/>
          <p:nvPr/>
        </p:nvSpPr>
        <p:spPr>
          <a:xfrm>
            <a:off x="3521126" y="4005072"/>
            <a:ext cx="2341550"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Training</a:t>
            </a:r>
            <a:endParaRPr lang="en-US" sz="1500" dirty="0"/>
          </a:p>
        </p:txBody>
      </p:sp>
      <p:sp>
        <p:nvSpPr>
          <p:cNvPr id="25" name="Text 23"/>
          <p:cNvSpPr txBox="1"/>
          <p:nvPr/>
        </p:nvSpPr>
        <p:spPr>
          <a:xfrm>
            <a:off x="3521126" y="4370832"/>
            <a:ext cx="2341550" cy="74249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Past proposals, Datavance templates, a general LLM.</a:t>
            </a:r>
            <a:endParaRPr lang="en-US" sz="1200" dirty="0"/>
          </a:p>
        </p:txBody>
      </p:sp>
      <p:sp>
        <p:nvSpPr>
          <p:cNvPr id="26" name="Shape 24"/>
          <p:cNvSpPr/>
          <p:nvPr/>
        </p:nvSpPr>
        <p:spPr>
          <a:xfrm>
            <a:off x="6164428" y="3840480"/>
            <a:ext cx="2670734" cy="1371600"/>
          </a:xfrm>
          <a:prstGeom prst="rect">
            <a:avLst/>
          </a:prstGeom>
          <a:solidFill>
            <a:srgbClr val="FFF1E6"/>
          </a:solidFill>
          <a:ln w="12700">
            <a:solidFill>
              <a:srgbClr val="FF5713"/>
            </a:solidFill>
            <a:prstDash val="solid"/>
          </a:ln>
        </p:spPr>
      </p:sp>
      <p:sp>
        <p:nvSpPr>
          <p:cNvPr id="27" name="Text 25"/>
          <p:cNvSpPr txBox="1"/>
          <p:nvPr/>
        </p:nvSpPr>
        <p:spPr>
          <a:xfrm>
            <a:off x="6329020" y="4005072"/>
            <a:ext cx="2341550" cy="310896"/>
          </a:xfrm>
          <a:prstGeom prst="rect">
            <a:avLst/>
          </a:prstGeom>
          <a:noFill/>
          <a:ln/>
        </p:spPr>
        <p:txBody>
          <a:bodyPr wrap="square" lIns="0" tIns="0" rIns="0" bIns="0" rtlCol="0" anchor="t"/>
          <a:lstStyle/>
          <a:p>
            <a:pPr indent="0" marL="0">
              <a:buNone/>
            </a:pPr>
            <a:r>
              <a:rPr lang="en-US" sz="1500" b="1" dirty="0">
                <a:solidFill>
                  <a:srgbClr val="B8430F"/>
                </a:solidFill>
                <a:latin typeface="Epilogue" pitchFamily="34" charset="0"/>
                <a:ea typeface="Epilogue" pitchFamily="34" charset="-122"/>
                <a:cs typeface="Epilogue" pitchFamily="34" charset="-120"/>
              </a:rPr>
              <a:t>Feedback  ⚠</a:t>
            </a:r>
            <a:endParaRPr lang="en-US" sz="1500" dirty="0"/>
          </a:p>
        </p:txBody>
      </p:sp>
      <p:sp>
        <p:nvSpPr>
          <p:cNvPr id="28" name="Text 26"/>
          <p:cNvSpPr txBox="1"/>
          <p:nvPr/>
        </p:nvSpPr>
        <p:spPr>
          <a:xfrm>
            <a:off x="6329020" y="4370832"/>
            <a:ext cx="2341550" cy="74249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Consultant edits: logged ✓</a:t>
            </a:r>
            <a:endParaRPr lang="en-US" sz="1200" dirty="0"/>
          </a:p>
          <a:p>
            <a:pPr indent="0" marL="0">
              <a:buNone/>
            </a:pPr>
            <a:r>
              <a:rPr lang="en-US" sz="1200" dirty="0">
                <a:solidFill>
                  <a:srgbClr val="3E5559"/>
                </a:solidFill>
                <a:latin typeface="Manrope" pitchFamily="34" charset="0"/>
                <a:ea typeface="Manrope" pitchFamily="34" charset="-122"/>
                <a:cs typeface="Manrope" pitchFamily="34" charset="-120"/>
              </a:rPr>
              <a:t>Win / loss: not logged ✗</a:t>
            </a:r>
            <a:endParaRPr lang="en-US" sz="1200" dirty="0"/>
          </a:p>
        </p:txBody>
      </p:sp>
      <p:sp>
        <p:nvSpPr>
          <p:cNvPr id="29" name="Shape 27"/>
          <p:cNvSpPr/>
          <p:nvPr/>
        </p:nvSpPr>
        <p:spPr>
          <a:xfrm>
            <a:off x="8972321" y="3840480"/>
            <a:ext cx="2670734" cy="1371600"/>
          </a:xfrm>
          <a:prstGeom prst="rect">
            <a:avLst/>
          </a:prstGeom>
          <a:solidFill>
            <a:srgbClr val="264549"/>
          </a:solidFill>
          <a:ln/>
        </p:spPr>
      </p:sp>
      <p:sp>
        <p:nvSpPr>
          <p:cNvPr id="30" name="Text 28"/>
          <p:cNvSpPr txBox="1"/>
          <p:nvPr/>
        </p:nvSpPr>
        <p:spPr>
          <a:xfrm>
            <a:off x="9136913" y="3977640"/>
            <a:ext cx="2341550" cy="310896"/>
          </a:xfrm>
          <a:prstGeom prst="rect">
            <a:avLst/>
          </a:prstGeom>
          <a:noFill/>
          <a:ln/>
        </p:spPr>
        <p:txBody>
          <a:bodyPr wrap="square" lIns="0" tIns="0" rIns="0" bIns="0" rtlCol="0" anchor="t"/>
          <a:lstStyle/>
          <a:p>
            <a:pPr indent="0" marL="0">
              <a:buNone/>
            </a:pPr>
            <a:r>
              <a:rPr lang="en-US" sz="1500" b="1" dirty="0">
                <a:solidFill>
                  <a:srgbClr val="FF9100"/>
                </a:solidFill>
                <a:latin typeface="Epilogue" pitchFamily="34" charset="0"/>
                <a:ea typeface="Epilogue" pitchFamily="34" charset="-122"/>
                <a:cs typeface="Epilogue" pitchFamily="34" charset="-120"/>
              </a:rPr>
              <a:t>Binding constraint</a:t>
            </a:r>
            <a:endParaRPr lang="en-US" sz="1500" dirty="0"/>
          </a:p>
        </p:txBody>
      </p:sp>
      <p:sp>
        <p:nvSpPr>
          <p:cNvPr id="31" name="Text 29"/>
          <p:cNvSpPr txBox="1"/>
          <p:nvPr/>
        </p:nvSpPr>
        <p:spPr>
          <a:xfrm>
            <a:off x="9136913" y="4343400"/>
            <a:ext cx="2341550" cy="777240"/>
          </a:xfrm>
          <a:prstGeom prst="rect">
            <a:avLst/>
          </a:prstGeom>
          <a:noFill/>
          <a:ln/>
        </p:spPr>
        <p:txBody>
          <a:bodyPr wrap="square" lIns="0" tIns="0" rIns="0" bIns="0" rtlCol="0" anchor="t"/>
          <a:lstStyle/>
          <a:p>
            <a:pPr indent="0" marL="0">
              <a:buNone/>
            </a:pPr>
            <a:r>
              <a:rPr lang="en-US" sz="1200" dirty="0">
                <a:solidFill>
                  <a:srgbClr val="FFFAF5"/>
                </a:solidFill>
                <a:latin typeface="Manrope" pitchFamily="34" charset="0"/>
                <a:ea typeface="Manrope" pitchFamily="34" charset="-122"/>
                <a:cs typeface="Manrope" pitchFamily="34" charset="-120"/>
              </a:rPr>
              <a:t>Without win/loss data the system can't learn what wins → fixed on slide 15.</a:t>
            </a:r>
            <a:endParaRPr lang="en-US" sz="1200" dirty="0"/>
          </a:p>
        </p:txBody>
      </p:sp>
      <p:sp>
        <p:nvSpPr>
          <p:cNvPr id="32" name="Shape 30"/>
          <p:cNvSpPr/>
          <p:nvPr/>
        </p:nvSpPr>
        <p:spPr>
          <a:xfrm>
            <a:off x="548640" y="5687568"/>
            <a:ext cx="11094415" cy="512064"/>
          </a:xfrm>
          <a:prstGeom prst="rect">
            <a:avLst/>
          </a:prstGeom>
          <a:solidFill>
            <a:srgbClr val="E4EFD3"/>
          </a:solidFill>
          <a:ln/>
        </p:spPr>
      </p:sp>
      <p:sp>
        <p:nvSpPr>
          <p:cNvPr id="33" name="Text 31"/>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Humans own the judgment; log win/loss next so the feedback loop (Cook level 3) can start.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EVALUATION DESIGN</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A randomized test against today's manual process</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D · Lab: TEST (S6)</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949440" cy="914400"/>
        </p:xfrm>
        <a:graphic>
          <a:graphicData uri="http://schemas.openxmlformats.org/drawingml/2006/table">
            <a:tbl>
              <a:tblPr/>
              <a:tblGrid>
                <a:gridCol w="2194560"/>
                <a:gridCol w="4754880"/>
              </a:tblGrid>
              <a:tr h="457200">
                <a:tc>
                  <a:txBody>
                    <a:bodyPr/>
                    <a:lstStyle/>
                    <a:p>
                      <a:pPr indent="0" marL="0">
                        <a:buNone/>
                      </a:pPr>
                      <a:r>
                        <a:rPr lang="en-US" sz="1200" b="1" dirty="0">
                          <a:solidFill>
                            <a:srgbClr val="FFFAF5"/>
                          </a:solidFill>
                          <a:latin typeface="Manrope" pitchFamily="34" charset="0"/>
                          <a:ea typeface="Manrope" pitchFamily="34" charset="-122"/>
                          <a:cs typeface="Manrope" pitchFamily="34" charset="-120"/>
                        </a:rPr>
                        <a:t>Element</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c>
                  <a:txBody>
                    <a:bodyPr/>
                    <a:lstStyle/>
                    <a:p>
                      <a:pPr indent="0" marL="0">
                        <a:buNone/>
                      </a:pPr>
                      <a:r>
                        <a:rPr lang="en-US" sz="1200" b="1" dirty="0">
                          <a:solidFill>
                            <a:srgbClr val="FFFAF5"/>
                          </a:solidFill>
                          <a:latin typeface="Manrope" pitchFamily="34" charset="0"/>
                          <a:ea typeface="Manrope" pitchFamily="34" charset="-122"/>
                          <a:cs typeface="Manrope" pitchFamily="34" charset="-120"/>
                        </a:rPr>
                        <a:t>Our design</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r>
              <a:tr h="45720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Treatment</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Pre-sales with the product</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r>
              <a:tr h="45720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Comparison</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Same consultant, today's manual process</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r>
              <a:tr h="45720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Unit of randomization</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Lead / transcript — order randomized per consultant</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r>
              <a:tr h="45720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Primary outcome (OEC)</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Active consultant minutes to a send-ready package</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r>
              <a:tr h="45720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Guardrails</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Blind quality score 1–5 · wrong figures (target 0)</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r>
              <a:tr h="45720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Sample / task set</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[n] historical transcripts × [k] consultants</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r>
              <a:tr h="45720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Main bias</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Small n, learning effect, raters not blind → [how handled]</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r>
            </a:tbl>
          </a:graphicData>
        </a:graphic>
      </p:graphicFrame>
      <p:sp>
        <p:nvSpPr>
          <p:cNvPr id="7" name="Shape 4"/>
          <p:cNvSpPr/>
          <p:nvPr/>
        </p:nvSpPr>
        <p:spPr>
          <a:xfrm>
            <a:off x="7772400" y="1783080"/>
            <a:ext cx="3867912" cy="3657600"/>
          </a:xfrm>
          <a:prstGeom prst="rect">
            <a:avLst/>
          </a:prstGeom>
          <a:solidFill>
            <a:srgbClr val="264549"/>
          </a:solidFill>
          <a:ln/>
        </p:spPr>
      </p:sp>
      <p:sp>
        <p:nvSpPr>
          <p:cNvPr id="8" name="Text 5"/>
          <p:cNvSpPr txBox="1"/>
          <p:nvPr/>
        </p:nvSpPr>
        <p:spPr>
          <a:xfrm>
            <a:off x="8001000" y="1938528"/>
            <a:ext cx="3474720" cy="640080"/>
          </a:xfrm>
          <a:prstGeom prst="rect">
            <a:avLst/>
          </a:prstGeom>
          <a:noFill/>
          <a:ln/>
        </p:spPr>
        <p:txBody>
          <a:bodyPr wrap="square" lIns="0" tIns="0" rIns="0" bIns="0" rtlCol="0" anchor="t"/>
          <a:lstStyle/>
          <a:p>
            <a:pPr indent="0" marL="0">
              <a:buNone/>
            </a:pPr>
            <a:r>
              <a:rPr lang="en-US" sz="1600" b="1" dirty="0">
                <a:solidFill>
                  <a:srgbClr val="FF9100"/>
                </a:solidFill>
                <a:latin typeface="Epilogue" pitchFamily="34" charset="0"/>
                <a:ea typeface="Epilogue" pitchFamily="34" charset="-122"/>
                <a:cs typeface="Epilogue" pitchFamily="34" charset="-120"/>
              </a:rPr>
              <a:t>Decision rule — fixed before the data</a:t>
            </a:r>
            <a:endParaRPr lang="en-US" sz="1600" dirty="0"/>
          </a:p>
        </p:txBody>
      </p:sp>
      <p:sp>
        <p:nvSpPr>
          <p:cNvPr id="9" name="Text 6"/>
          <p:cNvSpPr txBox="1"/>
          <p:nvPr/>
        </p:nvSpPr>
        <p:spPr>
          <a:xfrm>
            <a:off x="8001000" y="2651760"/>
            <a:ext cx="3474720" cy="1280160"/>
          </a:xfrm>
          <a:prstGeom prst="rect">
            <a:avLst/>
          </a:prstGeom>
          <a:noFill/>
          <a:ln/>
        </p:spPr>
        <p:txBody>
          <a:bodyPr wrap="square" lIns="0" tIns="0" rIns="0" bIns="0" rtlCol="0" anchor="t"/>
          <a:lstStyle/>
          <a:p>
            <a:pPr indent="0" marL="0">
              <a:buNone/>
            </a:pPr>
            <a:r>
              <a:rPr lang="en-US" sz="1700" b="1" dirty="0">
                <a:solidFill>
                  <a:srgbClr val="FFFAF5"/>
                </a:solidFill>
                <a:latin typeface="Epilogue" pitchFamily="34" charset="0"/>
                <a:ea typeface="Epilogue" pitchFamily="34" charset="-122"/>
                <a:cs typeface="Epilogue" pitchFamily="34" charset="-120"/>
              </a:rPr>
              <a:t>Scale if active time drops ≥ [x]%, AND quality is not lower, AND 0 invented figures.</a:t>
            </a:r>
            <a:endParaRPr lang="en-US" sz="1700" dirty="0"/>
          </a:p>
        </p:txBody>
      </p:sp>
      <p:sp>
        <p:nvSpPr>
          <p:cNvPr id="10" name="Text 7"/>
          <p:cNvSpPr txBox="1"/>
          <p:nvPr/>
        </p:nvSpPr>
        <p:spPr>
          <a:xfrm>
            <a:off x="8001000" y="4160520"/>
            <a:ext cx="3474720" cy="1097280"/>
          </a:xfrm>
          <a:prstGeom prst="rect">
            <a:avLst/>
          </a:prstGeom>
          <a:noFill/>
          <a:ln/>
        </p:spPr>
        <p:txBody>
          <a:bodyPr wrap="square" lIns="0" tIns="0" rIns="0" bIns="0" rtlCol="0" anchor="t"/>
          <a:lstStyle/>
          <a:p>
            <a:pPr indent="0" marL="0">
              <a:buNone/>
            </a:pPr>
            <a:r>
              <a:rPr lang="en-US" sz="1200" dirty="0">
                <a:solidFill>
                  <a:srgbClr val="C9D8D6"/>
                </a:solidFill>
                <a:latin typeface="Manrope" pitchFamily="34" charset="0"/>
                <a:ea typeface="Manrope" pitchFamily="34" charset="-122"/>
                <a:cs typeface="Manrope" pitchFamily="34" charset="-120"/>
              </a:rPr>
              <a:t>Measured automatically: the app logs active time, AI time and edits per lead (evaluation page + CSV).</a:t>
            </a:r>
            <a:endParaRPr lang="en-US" sz="1200" dirty="0"/>
          </a:p>
        </p:txBody>
      </p:sp>
      <p:sp>
        <p:nvSpPr>
          <p:cNvPr id="11" name="Shape 8"/>
          <p:cNvSpPr/>
          <p:nvPr/>
        </p:nvSpPr>
        <p:spPr>
          <a:xfrm>
            <a:off x="548640" y="5687568"/>
            <a:ext cx="11094415" cy="512064"/>
          </a:xfrm>
          <a:prstGeom prst="rect">
            <a:avLst/>
          </a:prstGeom>
          <a:solidFill>
            <a:srgbClr val="E4EFD3"/>
          </a:solidFill>
          <a:ln/>
        </p:spPr>
      </p:sp>
      <p:sp>
        <p:nvSpPr>
          <p:cNvPr id="12" name="Text 9"/>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Test, don't trust intuition — the decision to scale follows a rule we set in advance.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EVIDENCE</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[Main result: active time per lead fell from x to y minutes]</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D · Lab: TEST (S6)</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12</a:t>
            </a:r>
            <a:endParaRPr lang="en-US" sz="1000" dirty="0"/>
          </a:p>
        </p:txBody>
      </p:sp>
      <p:sp>
        <p:nvSpPr>
          <p:cNvPr id="6" name="Shape 4"/>
          <p:cNvSpPr/>
          <p:nvPr/>
        </p:nvSpPr>
        <p:spPr>
          <a:xfrm>
            <a:off x="548640" y="1783080"/>
            <a:ext cx="3246120" cy="1325880"/>
          </a:xfrm>
          <a:prstGeom prst="rect">
            <a:avLst/>
          </a:prstGeom>
          <a:solidFill>
            <a:srgbClr val="FFFDFA"/>
          </a:solidFill>
          <a:ln w="12700">
            <a:solidFill>
              <a:srgbClr val="E6DDD1"/>
            </a:solidFill>
            <a:prstDash val="solid"/>
          </a:ln>
        </p:spPr>
      </p:sp>
      <p:sp>
        <p:nvSpPr>
          <p:cNvPr id="7" name="Text 5"/>
          <p:cNvSpPr txBox="1"/>
          <p:nvPr/>
        </p:nvSpPr>
        <p:spPr>
          <a:xfrm>
            <a:off x="731520" y="1920240"/>
            <a:ext cx="2880360" cy="594360"/>
          </a:xfrm>
          <a:prstGeom prst="rect">
            <a:avLst/>
          </a:prstGeom>
          <a:noFill/>
          <a:ln/>
        </p:spPr>
        <p:txBody>
          <a:bodyPr wrap="square" lIns="0" tIns="0" rIns="0" bIns="0" rtlCol="0" anchor="t"/>
          <a:lstStyle/>
          <a:p>
            <a:pPr indent="0" marL="0">
              <a:buNone/>
            </a:pPr>
            <a:r>
              <a:rPr lang="en-US" sz="3400" b="1" dirty="0">
                <a:solidFill>
                  <a:srgbClr val="FF5713"/>
                </a:solidFill>
                <a:latin typeface="Epilogue" pitchFamily="34" charset="0"/>
                <a:ea typeface="Epilogue" pitchFamily="34" charset="-122"/>
                <a:cs typeface="Epilogue" pitchFamily="34" charset="-120"/>
              </a:rPr>
              <a:t>[x → y min]</a:t>
            </a:r>
            <a:endParaRPr lang="en-US" sz="3400" dirty="0"/>
          </a:p>
        </p:txBody>
      </p:sp>
      <p:sp>
        <p:nvSpPr>
          <p:cNvPr id="8" name="Text 6"/>
          <p:cNvSpPr txBox="1"/>
          <p:nvPr/>
        </p:nvSpPr>
        <p:spPr>
          <a:xfrm>
            <a:off x="731520" y="2560320"/>
            <a:ext cx="2880360" cy="45720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Active time per lead, pilot vs manual (n = [ ])</a:t>
            </a:r>
            <a:endParaRPr lang="en-US" sz="1200" dirty="0"/>
          </a:p>
        </p:txBody>
      </p:sp>
      <p:sp>
        <p:nvSpPr>
          <p:cNvPr id="9" name="Shape 7"/>
          <p:cNvSpPr/>
          <p:nvPr/>
        </p:nvSpPr>
        <p:spPr>
          <a:xfrm>
            <a:off x="3977640" y="1783080"/>
            <a:ext cx="3246120" cy="1325880"/>
          </a:xfrm>
          <a:prstGeom prst="rect">
            <a:avLst/>
          </a:prstGeom>
          <a:solidFill>
            <a:srgbClr val="FFFDFA"/>
          </a:solidFill>
          <a:ln w="12700">
            <a:solidFill>
              <a:srgbClr val="E6DDD1"/>
            </a:solidFill>
            <a:prstDash val="solid"/>
          </a:ln>
        </p:spPr>
      </p:sp>
      <p:sp>
        <p:nvSpPr>
          <p:cNvPr id="10" name="Text 8"/>
          <p:cNvSpPr txBox="1"/>
          <p:nvPr/>
        </p:nvSpPr>
        <p:spPr>
          <a:xfrm>
            <a:off x="4160520" y="1920240"/>
            <a:ext cx="2880360" cy="594360"/>
          </a:xfrm>
          <a:prstGeom prst="rect">
            <a:avLst/>
          </a:prstGeom>
          <a:noFill/>
          <a:ln/>
        </p:spPr>
        <p:txBody>
          <a:bodyPr wrap="square" lIns="0" tIns="0" rIns="0" bIns="0" rtlCol="0" anchor="t"/>
          <a:lstStyle/>
          <a:p>
            <a:pPr indent="0" marL="0">
              <a:buNone/>
            </a:pPr>
            <a:r>
              <a:rPr lang="en-US" sz="3400" b="1" dirty="0">
                <a:solidFill>
                  <a:srgbClr val="FF5713"/>
                </a:solidFill>
                <a:latin typeface="Epilogue" pitchFamily="34" charset="0"/>
                <a:ea typeface="Epilogue" pitchFamily="34" charset="-122"/>
                <a:cs typeface="Epilogue" pitchFamily="34" charset="-120"/>
              </a:rPr>
              <a:t>[± 0.0]</a:t>
            </a:r>
            <a:endParaRPr lang="en-US" sz="3400" dirty="0"/>
          </a:p>
        </p:txBody>
      </p:sp>
      <p:sp>
        <p:nvSpPr>
          <p:cNvPr id="11" name="Text 9"/>
          <p:cNvSpPr txBox="1"/>
          <p:nvPr/>
        </p:nvSpPr>
        <p:spPr>
          <a:xfrm>
            <a:off x="4160520" y="2560320"/>
            <a:ext cx="2880360" cy="45720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Blind quality score vs manual (1–5)</a:t>
            </a:r>
            <a:endParaRPr lang="en-US" sz="1200" dirty="0"/>
          </a:p>
        </p:txBody>
      </p:sp>
      <p:sp>
        <p:nvSpPr>
          <p:cNvPr id="12" name="Shape 10"/>
          <p:cNvSpPr/>
          <p:nvPr/>
        </p:nvSpPr>
        <p:spPr>
          <a:xfrm>
            <a:off x="548640" y="3291840"/>
            <a:ext cx="3246120" cy="1325880"/>
          </a:xfrm>
          <a:prstGeom prst="rect">
            <a:avLst/>
          </a:prstGeom>
          <a:solidFill>
            <a:srgbClr val="FFFDFA"/>
          </a:solidFill>
          <a:ln w="12700">
            <a:solidFill>
              <a:srgbClr val="E6DDD1"/>
            </a:solidFill>
            <a:prstDash val="solid"/>
          </a:ln>
        </p:spPr>
      </p:sp>
      <p:sp>
        <p:nvSpPr>
          <p:cNvPr id="13" name="Text 11"/>
          <p:cNvSpPr txBox="1"/>
          <p:nvPr/>
        </p:nvSpPr>
        <p:spPr>
          <a:xfrm>
            <a:off x="731520" y="3429000"/>
            <a:ext cx="2880360" cy="594360"/>
          </a:xfrm>
          <a:prstGeom prst="rect">
            <a:avLst/>
          </a:prstGeom>
          <a:noFill/>
          <a:ln/>
        </p:spPr>
        <p:txBody>
          <a:bodyPr wrap="square" lIns="0" tIns="0" rIns="0" bIns="0" rtlCol="0" anchor="t"/>
          <a:lstStyle/>
          <a:p>
            <a:pPr indent="0" marL="0">
              <a:buNone/>
            </a:pPr>
            <a:r>
              <a:rPr lang="en-US" sz="2400" b="1" dirty="0">
                <a:solidFill>
                  <a:srgbClr val="FF5713"/>
                </a:solidFill>
                <a:latin typeface="Epilogue" pitchFamily="34" charset="0"/>
                <a:ea typeface="Epilogue" pitchFamily="34" charset="-122"/>
                <a:cs typeface="Epilogue" pitchFamily="34" charset="-120"/>
              </a:rPr>
              <a:t>≈ 20 s · €0.005</a:t>
            </a:r>
            <a:endParaRPr lang="en-US" sz="2400" dirty="0"/>
          </a:p>
        </p:txBody>
      </p:sp>
      <p:sp>
        <p:nvSpPr>
          <p:cNvPr id="14" name="Text 12"/>
          <p:cNvSpPr txBox="1"/>
          <p:nvPr/>
        </p:nvSpPr>
        <p:spPr>
          <a:xfrm>
            <a:off x="731520" y="4069080"/>
            <a:ext cx="2880360" cy="45720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AI time and cost per lead (measured)</a:t>
            </a:r>
            <a:endParaRPr lang="en-US" sz="1200" dirty="0"/>
          </a:p>
        </p:txBody>
      </p:sp>
      <p:sp>
        <p:nvSpPr>
          <p:cNvPr id="15" name="Shape 13"/>
          <p:cNvSpPr/>
          <p:nvPr/>
        </p:nvSpPr>
        <p:spPr>
          <a:xfrm>
            <a:off x="3977640" y="3291840"/>
            <a:ext cx="3246120" cy="1325880"/>
          </a:xfrm>
          <a:prstGeom prst="rect">
            <a:avLst/>
          </a:prstGeom>
          <a:solidFill>
            <a:srgbClr val="FFFDFA"/>
          </a:solidFill>
          <a:ln w="12700">
            <a:solidFill>
              <a:srgbClr val="E6DDD1"/>
            </a:solidFill>
            <a:prstDash val="solid"/>
          </a:ln>
        </p:spPr>
      </p:sp>
      <p:sp>
        <p:nvSpPr>
          <p:cNvPr id="16" name="Text 14"/>
          <p:cNvSpPr txBox="1"/>
          <p:nvPr/>
        </p:nvSpPr>
        <p:spPr>
          <a:xfrm>
            <a:off x="4160520" y="3429000"/>
            <a:ext cx="2880360" cy="594360"/>
          </a:xfrm>
          <a:prstGeom prst="rect">
            <a:avLst/>
          </a:prstGeom>
          <a:noFill/>
          <a:ln/>
        </p:spPr>
        <p:txBody>
          <a:bodyPr wrap="square" lIns="0" tIns="0" rIns="0" bIns="0" rtlCol="0" anchor="t"/>
          <a:lstStyle/>
          <a:p>
            <a:pPr indent="0" marL="0">
              <a:buNone/>
            </a:pPr>
            <a:r>
              <a:rPr lang="en-US" sz="3400" b="1" dirty="0">
                <a:solidFill>
                  <a:srgbClr val="FF5713"/>
                </a:solidFill>
                <a:latin typeface="Epilogue" pitchFamily="34" charset="0"/>
                <a:ea typeface="Epilogue" pitchFamily="34" charset="-122"/>
                <a:cs typeface="Epilogue" pitchFamily="34" charset="-120"/>
              </a:rPr>
              <a:t>16 / 21</a:t>
            </a:r>
            <a:endParaRPr lang="en-US" sz="3400" dirty="0"/>
          </a:p>
        </p:txBody>
      </p:sp>
      <p:sp>
        <p:nvSpPr>
          <p:cNvPr id="17" name="Text 15"/>
          <p:cNvSpPr txBox="1"/>
          <p:nvPr/>
        </p:nvSpPr>
        <p:spPr>
          <a:xfrm>
            <a:off x="4160520" y="4069080"/>
            <a:ext cx="2880360" cy="45720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Figures verified — 3 misquotes rejected, 2 misuses caught</a:t>
            </a:r>
            <a:endParaRPr lang="en-US" sz="1200" dirty="0"/>
          </a:p>
        </p:txBody>
      </p:sp>
      <p:sp>
        <p:nvSpPr>
          <p:cNvPr id="18" name="Shape 16"/>
          <p:cNvSpPr/>
          <p:nvPr/>
        </p:nvSpPr>
        <p:spPr>
          <a:xfrm>
            <a:off x="548640" y="4846320"/>
            <a:ext cx="6675120" cy="713232"/>
          </a:xfrm>
          <a:prstGeom prst="rect">
            <a:avLst/>
          </a:prstGeom>
          <a:solidFill>
            <a:srgbClr val="FFFDFA"/>
          </a:solidFill>
          <a:ln w="12700">
            <a:solidFill>
              <a:srgbClr val="E6DDD1"/>
            </a:solidFill>
            <a:prstDash val="solid"/>
          </a:ln>
        </p:spPr>
      </p:sp>
      <p:sp>
        <p:nvSpPr>
          <p:cNvPr id="19" name="Text 17"/>
          <p:cNvSpPr txBox="1"/>
          <p:nvPr/>
        </p:nvSpPr>
        <p:spPr>
          <a:xfrm>
            <a:off x="676656" y="4974336"/>
            <a:ext cx="6419088" cy="508406"/>
          </a:xfrm>
          <a:prstGeom prst="rect">
            <a:avLst/>
          </a:prstGeom>
          <a:noFill/>
          <a:ln/>
        </p:spPr>
        <p:txBody>
          <a:bodyPr wrap="square" lIns="0" tIns="0" rIns="0" bIns="0" rtlCol="0" anchor="t"/>
          <a:lstStyle/>
          <a:p>
            <a:pPr indent="0" marL="0">
              <a:buNone/>
            </a:pPr>
            <a:r>
              <a:rPr lang="en-US" sz="1200" b="1" dirty="0">
                <a:solidFill>
                  <a:srgbClr val="264549"/>
                </a:solidFill>
                <a:latin typeface="Manrope" pitchFamily="34" charset="0"/>
                <a:ea typeface="Manrope" pitchFamily="34" charset="-122"/>
                <a:cs typeface="Manrope" pitchFamily="34" charset="-120"/>
              </a:rPr>
              <a:t>Learned → changed: </a:t>
            </a:r>
            <a:pPr indent="0" marL="0">
              <a:buNone/>
            </a:pPr>
            <a:r>
              <a:rPr lang="en-US" sz="1200" dirty="0">
                <a:solidFill>
                  <a:srgbClr val="3E5559"/>
                </a:solidFill>
                <a:latin typeface="Manrope" pitchFamily="34" charset="0"/>
                <a:ea typeface="Manrope" pitchFamily="34" charset="-122"/>
                <a:cs typeface="Manrope" pitchFamily="34" charset="-120"/>
              </a:rPr>
              <a:t>[learning 1 → change] · [learning 2 → change]</a:t>
            </a:r>
            <a:endParaRPr lang="en-US" sz="1200" dirty="0"/>
          </a:p>
        </p:txBody>
      </p:sp>
      <p:sp>
        <p:nvSpPr>
          <p:cNvPr id="20" name="Shape 18"/>
          <p:cNvSpPr/>
          <p:nvPr/>
        </p:nvSpPr>
        <p:spPr>
          <a:xfrm>
            <a:off x="7589520" y="1783080"/>
            <a:ext cx="4050792" cy="3776472"/>
          </a:xfrm>
          <a:prstGeom prst="rect">
            <a:avLst/>
          </a:prstGeom>
          <a:solidFill>
            <a:srgbClr val="FFFDFA"/>
          </a:solidFill>
          <a:ln w="12700">
            <a:solidFill>
              <a:srgbClr val="E6DDD1"/>
            </a:solidFill>
            <a:prstDash val="solid"/>
          </a:ln>
        </p:spPr>
      </p:sp>
      <p:graphicFrame>
        <p:nvGraphicFramePr>
          <p:cNvPr id="21" name="Chart 0" descr=""/>
          <p:cNvGraphicFramePr/>
          <p:nvPr/>
        </p:nvGraphicFramePr>
        <p:xfrm>
          <a:off x="7680960" y="1874520"/>
          <a:ext cx="3867912" cy="324612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txBox="1"/>
          <p:nvPr/>
        </p:nvSpPr>
        <p:spPr>
          <a:xfrm>
            <a:off x="7726680" y="5166360"/>
            <a:ext cx="3776472" cy="320040"/>
          </a:xfrm>
          <a:prstGeom prst="rect">
            <a:avLst/>
          </a:prstGeom>
          <a:noFill/>
          <a:ln/>
        </p:spPr>
        <p:txBody>
          <a:bodyPr wrap="square" lIns="0" tIns="0" rIns="0" bIns="0" rtlCol="0" anchor="t"/>
          <a:lstStyle/>
          <a:p>
            <a:pPr indent="0" marL="0">
              <a:buNone/>
            </a:pPr>
            <a:r>
              <a:rPr lang="en-US" sz="1000" b="1" dirty="0">
                <a:solidFill>
                  <a:srgbClr val="B8430F"/>
                </a:solidFill>
                <a:latin typeface="Manrope" pitchFamily="34" charset="0"/>
                <a:ea typeface="Manrope" pitchFamily="34" charset="-122"/>
                <a:cs typeface="Manrope" pitchFamily="34" charset="-120"/>
              </a:rPr>
              <a:t>PLACEHOLDER VALUES — replace with the pilot CSV from /evaluatie</a:t>
            </a:r>
            <a:endParaRPr lang="en-US" sz="1000" dirty="0"/>
          </a:p>
        </p:txBody>
      </p:sp>
      <p:sp>
        <p:nvSpPr>
          <p:cNvPr id="23" name="Shape 20"/>
          <p:cNvSpPr/>
          <p:nvPr/>
        </p:nvSpPr>
        <p:spPr>
          <a:xfrm>
            <a:off x="548640" y="5687568"/>
            <a:ext cx="11094415" cy="512064"/>
          </a:xfrm>
          <a:prstGeom prst="rect">
            <a:avLst/>
          </a:prstGeom>
          <a:solidFill>
            <a:srgbClr val="E4EFD3"/>
          </a:solidFill>
          <a:ln/>
        </p:spPr>
      </p:sp>
      <p:sp>
        <p:nvSpPr>
          <p:cNvPr id="24" name="Text 21"/>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Verdict: [meets / does not meet] the decision rule from slide 11 — indicative, n = [ ].</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AF5"/>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RISKS, ETHICS &amp; GOVERNANCE</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What can go wrong — and the safeguard for each</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D · Lab: TEST (S6)</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132320" cy="914400"/>
        </p:xfrm>
        <a:graphic>
          <a:graphicData uri="http://schemas.openxmlformats.org/drawingml/2006/table">
            <a:tbl>
              <a:tblPr/>
              <a:tblGrid>
                <a:gridCol w="1737360"/>
                <a:gridCol w="2514600"/>
                <a:gridCol w="2880360"/>
              </a:tblGrid>
              <a:tr h="548640">
                <a:tc>
                  <a:txBody>
                    <a:bodyPr/>
                    <a:lstStyle/>
                    <a:p>
                      <a:pPr indent="0" marL="0">
                        <a:buNone/>
                      </a:pPr>
                      <a:r>
                        <a:rPr lang="en-US" sz="1200" b="1" dirty="0">
                          <a:solidFill>
                            <a:srgbClr val="FFFAF5"/>
                          </a:solidFill>
                          <a:latin typeface="Manrope" pitchFamily="34" charset="0"/>
                          <a:ea typeface="Manrope" pitchFamily="34" charset="-122"/>
                          <a:cs typeface="Manrope" pitchFamily="34" charset="-120"/>
                        </a:rPr>
                        <a:t>Risk</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c>
                  <a:txBody>
                    <a:bodyPr/>
                    <a:lstStyle/>
                    <a:p>
                      <a:pPr indent="0" marL="0">
                        <a:buNone/>
                      </a:pPr>
                      <a:r>
                        <a:rPr lang="en-US" sz="1200" b="1" dirty="0">
                          <a:solidFill>
                            <a:srgbClr val="FFFAF5"/>
                          </a:solidFill>
                          <a:latin typeface="Manrope" pitchFamily="34" charset="0"/>
                          <a:ea typeface="Manrope" pitchFamily="34" charset="-122"/>
                          <a:cs typeface="Manrope" pitchFamily="34" charset="-120"/>
                        </a:rPr>
                        <a:t>What we saw</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c>
                  <a:txBody>
                    <a:bodyPr/>
                    <a:lstStyle/>
                    <a:p>
                      <a:pPr indent="0" marL="0">
                        <a:buNone/>
                      </a:pPr>
                      <a:r>
                        <a:rPr lang="en-US" sz="1200" b="1" dirty="0">
                          <a:solidFill>
                            <a:srgbClr val="FFFAF5"/>
                          </a:solidFill>
                          <a:latin typeface="Manrope" pitchFamily="34" charset="0"/>
                          <a:ea typeface="Manrope" pitchFamily="34" charset="-122"/>
                          <a:cs typeface="Manrope" pitchFamily="34" charset="-120"/>
                        </a:rPr>
                        <a:t>Safeguard</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264549"/>
                    </a:solidFill>
                  </a:tcPr>
                </a:tc>
              </a:tr>
              <a:tr h="54864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Invented number / norm</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AI proposed a norm nobody mentioned</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Code computes all numbers; norms only with a verbatim quote</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r>
              <a:tr h="54864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Misquote</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3 quotes did not match the transcript</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Quote check drops them automatically + warning</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r>
              <a:tr h="54864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Over-reliance</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[e.g. drafts sent with little review]</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Approval at 4 checkpoints; nothing is sent automatically</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FFDFA"/>
                    </a:solidFill>
                  </a:tcPr>
                </a:tc>
              </a:tr>
              <a:tr h="548640">
                <a:tc>
                  <a:txBody>
                    <a:bodyPr/>
                    <a:lstStyle/>
                    <a:p>
                      <a:pPr indent="0" marL="0">
                        <a:buNone/>
                      </a:pPr>
                      <a:r>
                        <a:rPr lang="en-US" sz="1200" b="1" dirty="0">
                          <a:solidFill>
                            <a:srgbClr val="264549"/>
                          </a:solidFill>
                          <a:latin typeface="Manrope" pitchFamily="34" charset="0"/>
                          <a:ea typeface="Manrope" pitchFamily="34" charset="-122"/>
                          <a:cs typeface="Manrope" pitchFamily="34" charset="-120"/>
                        </a:rPr>
                        <a:t>Privacy (GDPR)</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Transcripts go to DeepSeek, outside the EU</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c>
                  <a:txBody>
                    <a:bodyPr/>
                    <a:lstStyle/>
                    <a:p>
                      <a:pPr indent="0" marL="0">
                        <a:buNone/>
                      </a:pPr>
                      <a:r>
                        <a:rPr lang="en-US" sz="1200" dirty="0">
                          <a:solidFill>
                            <a:srgbClr val="3E5559"/>
                          </a:solidFill>
                          <a:latin typeface="Manrope" pitchFamily="34" charset="0"/>
                          <a:ea typeface="Manrope" pitchFamily="34" charset="-122"/>
                          <a:cs typeface="Manrope" pitchFamily="34" charset="-120"/>
                        </a:rPr>
                        <a:t>Consent for recording + EU-hosted model before scaling</a:t>
                      </a:r>
                      <a:endParaRPr lang="en-US" sz="1200" dirty="0">
                        <a:latin typeface="Manrope" charset="0"/>
                        <a:ea typeface="Manrope" charset="0"/>
                        <a:cs typeface="Manrope" charset="0"/>
                      </a:endParaRPr>
                    </a:p>
                  </a:txBody>
                  <a:tcPr marL="91440" marR="91440" marT="45720" marB="45720" anchor="ctr">
                    <a:lnL w="9525" cap="flat" cmpd="sng" algn="ctr">
                      <a:solidFill>
                        <a:srgbClr val="E6DDD1"/>
                      </a:solidFill>
                      <a:prstDash val="solid"/>
                      <a:round/>
                      <a:headEnd type="none" w="med" len="med"/>
                      <a:tailEnd type="none" w="med" len="med"/>
                    </a:lnL>
                    <a:lnR w="9525" cap="flat" cmpd="sng" algn="ctr">
                      <a:solidFill>
                        <a:srgbClr val="E6DDD1"/>
                      </a:solidFill>
                      <a:prstDash val="solid"/>
                      <a:round/>
                      <a:headEnd type="none" w="med" len="med"/>
                      <a:tailEnd type="none" w="med" len="med"/>
                    </a:lnR>
                    <a:lnT w="9525" cap="flat" cmpd="sng" algn="ctr">
                      <a:solidFill>
                        <a:srgbClr val="E6DDD1"/>
                      </a:solidFill>
                      <a:prstDash val="solid"/>
                      <a:round/>
                      <a:headEnd type="none" w="med" len="med"/>
                      <a:tailEnd type="none" w="med" len="med"/>
                    </a:lnT>
                    <a:lnB w="9525" cap="flat" cmpd="sng" algn="ctr">
                      <a:solidFill>
                        <a:srgbClr val="E6DDD1"/>
                      </a:solidFill>
                      <a:prstDash val="solid"/>
                      <a:round/>
                      <a:headEnd type="none" w="med" len="med"/>
                      <a:tailEnd type="none" w="med" len="med"/>
                    </a:lnB>
                    <a:solidFill>
                      <a:srgbClr val="F7F1E8"/>
                    </a:solidFill>
                  </a:tcPr>
                </a:tc>
              </a:tr>
            </a:tbl>
          </a:graphicData>
        </a:graphic>
      </p:graphicFrame>
      <p:sp>
        <p:nvSpPr>
          <p:cNvPr id="7" name="Text 4"/>
          <p:cNvSpPr txBox="1"/>
          <p:nvPr/>
        </p:nvSpPr>
        <p:spPr>
          <a:xfrm>
            <a:off x="548640" y="4754880"/>
            <a:ext cx="7132320" cy="548640"/>
          </a:xfrm>
          <a:prstGeom prst="rect">
            <a:avLst/>
          </a:prstGeom>
          <a:noFill/>
          <a:ln/>
        </p:spPr>
        <p:txBody>
          <a:bodyPr wrap="square" lIns="0" tIns="0" rIns="0" bIns="0" rtlCol="0" anchor="t"/>
          <a:lstStyle/>
          <a:p>
            <a:pPr indent="0" marL="0">
              <a:buNone/>
            </a:pPr>
            <a:r>
              <a:rPr lang="en-US" sz="1200" dirty="0">
                <a:solidFill>
                  <a:srgbClr val="5A6E71"/>
                </a:solidFill>
                <a:latin typeface="Manrope" pitchFamily="34" charset="0"/>
                <a:ea typeface="Manrope" pitchFamily="34" charset="-122"/>
                <a:cs typeface="Manrope" pitchFamily="34" charset="-120"/>
              </a:rPr>
              <a:t>Test limits: small n · historical transcripts · manual baseline partly estimated.</a:t>
            </a:r>
            <a:endParaRPr lang="en-US" sz="1200" dirty="0"/>
          </a:p>
        </p:txBody>
      </p:sp>
      <p:sp>
        <p:nvSpPr>
          <p:cNvPr id="8" name="Shape 5"/>
          <p:cNvSpPr/>
          <p:nvPr/>
        </p:nvSpPr>
        <p:spPr>
          <a:xfrm>
            <a:off x="7909560" y="1783080"/>
            <a:ext cx="3730752" cy="2103120"/>
          </a:xfrm>
          <a:prstGeom prst="rect">
            <a:avLst/>
          </a:prstGeom>
          <a:solidFill>
            <a:srgbClr val="264549"/>
          </a:solidFill>
          <a:ln/>
        </p:spPr>
      </p:sp>
      <p:sp>
        <p:nvSpPr>
          <p:cNvPr id="9" name="Text 6"/>
          <p:cNvSpPr txBox="1"/>
          <p:nvPr/>
        </p:nvSpPr>
        <p:spPr>
          <a:xfrm>
            <a:off x="8138160" y="1920240"/>
            <a:ext cx="3291840" cy="329184"/>
          </a:xfrm>
          <a:prstGeom prst="rect">
            <a:avLst/>
          </a:prstGeom>
          <a:noFill/>
          <a:ln/>
        </p:spPr>
        <p:txBody>
          <a:bodyPr wrap="square" lIns="0" tIns="0" rIns="0" bIns="0" rtlCol="0" anchor="t"/>
          <a:lstStyle/>
          <a:p>
            <a:pPr indent="0" marL="0">
              <a:buNone/>
            </a:pPr>
            <a:r>
              <a:rPr lang="en-US" sz="1600" b="1" dirty="0">
                <a:solidFill>
                  <a:srgbClr val="FF9100"/>
                </a:solidFill>
                <a:latin typeface="Epilogue" pitchFamily="34" charset="0"/>
                <a:ea typeface="Epilogue" pitchFamily="34" charset="-122"/>
                <a:cs typeface="Epilogue" pitchFamily="34" charset="-120"/>
              </a:rPr>
              <a:t>Hard gate before scaling</a:t>
            </a:r>
            <a:endParaRPr lang="en-US" sz="1600" dirty="0"/>
          </a:p>
        </p:txBody>
      </p:sp>
      <p:sp>
        <p:nvSpPr>
          <p:cNvPr id="10" name="Text 7"/>
          <p:cNvSpPr txBox="1"/>
          <p:nvPr/>
        </p:nvSpPr>
        <p:spPr>
          <a:xfrm>
            <a:off x="8138160" y="2304288"/>
            <a:ext cx="3291840" cy="1463040"/>
          </a:xfrm>
          <a:prstGeom prst="rect">
            <a:avLst/>
          </a:prstGeom>
          <a:noFill/>
          <a:ln/>
        </p:spPr>
        <p:txBody>
          <a:bodyPr wrap="square" lIns="0" tIns="0" rIns="0" bIns="0" rtlCol="0" anchor="t"/>
          <a:lstStyle/>
          <a:p>
            <a:pPr indent="0" marL="0">
              <a:buNone/>
            </a:pPr>
            <a:r>
              <a:rPr lang="en-US" sz="1300" dirty="0">
                <a:solidFill>
                  <a:srgbClr val="FFFAF5"/>
                </a:solidFill>
                <a:latin typeface="Manrope" pitchFamily="34" charset="0"/>
                <a:ea typeface="Manrope" pitchFamily="34" charset="-122"/>
                <a:cs typeface="Manrope" pitchFamily="34" charset="-120"/>
              </a:rPr>
              <a:t>EU-hosted model + recording consent + 100% PII check passed. Affected: prospects and their employees.</a:t>
            </a:r>
            <a:endParaRPr lang="en-US" sz="1300" dirty="0"/>
          </a:p>
        </p:txBody>
      </p:sp>
      <p:sp>
        <p:nvSpPr>
          <p:cNvPr id="11" name="Shape 8"/>
          <p:cNvSpPr/>
          <p:nvPr/>
        </p:nvSpPr>
        <p:spPr>
          <a:xfrm>
            <a:off x="7909560" y="4023360"/>
            <a:ext cx="3730752" cy="1508760"/>
          </a:xfrm>
          <a:prstGeom prst="rect">
            <a:avLst/>
          </a:prstGeom>
          <a:solidFill>
            <a:srgbClr val="FFFDFA"/>
          </a:solidFill>
          <a:ln w="12700">
            <a:solidFill>
              <a:srgbClr val="E6DDD1"/>
            </a:solidFill>
            <a:prstDash val="solid"/>
          </a:ln>
        </p:spPr>
      </p:sp>
      <p:sp>
        <p:nvSpPr>
          <p:cNvPr id="12" name="Text 9"/>
          <p:cNvSpPr txBox="1"/>
          <p:nvPr/>
        </p:nvSpPr>
        <p:spPr>
          <a:xfrm>
            <a:off x="8074152" y="4187952"/>
            <a:ext cx="3401568" cy="310896"/>
          </a:xfrm>
          <a:prstGeom prst="rect">
            <a:avLst/>
          </a:prstGeom>
          <a:noFill/>
          <a:ln/>
        </p:spPr>
        <p:txBody>
          <a:bodyPr wrap="square" lIns="0" tIns="0" rIns="0" bIns="0" rtlCol="0" anchor="t"/>
          <a:lstStyle/>
          <a:p>
            <a:pPr indent="0" marL="0">
              <a:buNone/>
            </a:pPr>
            <a:r>
              <a:rPr lang="en-US" sz="1400" b="1" dirty="0">
                <a:solidFill>
                  <a:srgbClr val="264549"/>
                </a:solidFill>
                <a:latin typeface="Epilogue" pitchFamily="34" charset="0"/>
                <a:ea typeface="Epilogue" pitchFamily="34" charset="-122"/>
                <a:cs typeface="Epilogue" pitchFamily="34" charset="-120"/>
              </a:rPr>
              <a:t>Adoption barriers</a:t>
            </a:r>
            <a:endParaRPr lang="en-US" sz="1400" dirty="0"/>
          </a:p>
        </p:txBody>
      </p:sp>
      <p:sp>
        <p:nvSpPr>
          <p:cNvPr id="13" name="Text 10"/>
          <p:cNvSpPr txBox="1"/>
          <p:nvPr/>
        </p:nvSpPr>
        <p:spPr>
          <a:xfrm>
            <a:off x="8074152" y="4553712"/>
            <a:ext cx="3401568" cy="879653"/>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Smart Card lesson (S1): simple tech still fails on trust, habits and upkeep — consultants must want to use it.</a:t>
            </a:r>
            <a:endParaRPr lang="en-US" sz="1200" dirty="0"/>
          </a:p>
        </p:txBody>
      </p:sp>
      <p:sp>
        <p:nvSpPr>
          <p:cNvPr id="14" name="Shape 11"/>
          <p:cNvSpPr/>
          <p:nvPr/>
        </p:nvSpPr>
        <p:spPr>
          <a:xfrm>
            <a:off x="548640" y="5687568"/>
            <a:ext cx="11094415" cy="512064"/>
          </a:xfrm>
          <a:prstGeom prst="rect">
            <a:avLst/>
          </a:prstGeom>
          <a:solidFill>
            <a:srgbClr val="E4EFD3"/>
          </a:solidFill>
          <a:ln/>
        </p:spPr>
      </p:sp>
      <p:sp>
        <p:nvSpPr>
          <p:cNvPr id="15" name="Text 12"/>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Nothing leaves Datavance without a consultant's decision — and no scaling before the privacy gate.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ECD9"/>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B8430F"/>
                </a:solidFill>
                <a:latin typeface="Manrope" pitchFamily="34" charset="0"/>
                <a:ea typeface="Manrope" pitchFamily="34" charset="-122"/>
                <a:cs typeface="Manrope" pitchFamily="34" charset="-120"/>
              </a:rPr>
              <a:t>AGENTIC FUTURE</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264549"/>
                </a:solidFill>
                <a:latin typeface="Epilogue" pitchFamily="34" charset="0"/>
                <a:ea typeface="Epilogue" pitchFamily="34" charset="-122"/>
                <a:cs typeface="Epilogue" pitchFamily="34" charset="-120"/>
              </a:rPr>
              <a:t>When every buyer and rival has an agent, speed stops being an edge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5A6E71"/>
                </a:solidFill>
                <a:latin typeface="Manrope" pitchFamily="34" charset="0"/>
                <a:ea typeface="Manrope" pitchFamily="34" charset="-122"/>
                <a:cs typeface="Manrope" pitchFamily="34" charset="-120"/>
              </a:rPr>
              <a:t>Person B · Lab: REIMAGINE (S8)</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5A6E71"/>
                </a:solidFill>
                <a:latin typeface="Manrope" pitchFamily="34" charset="0"/>
                <a:ea typeface="Manrope" pitchFamily="34" charset="-122"/>
                <a:cs typeface="Manrope" pitchFamily="34" charset="-120"/>
              </a:rPr>
              <a:t>14</a:t>
            </a:r>
            <a:endParaRPr lang="en-US" sz="1000" dirty="0"/>
          </a:p>
        </p:txBody>
      </p:sp>
      <p:sp>
        <p:nvSpPr>
          <p:cNvPr id="6" name="Shape 4"/>
          <p:cNvSpPr/>
          <p:nvPr/>
        </p:nvSpPr>
        <p:spPr>
          <a:xfrm>
            <a:off x="548640" y="1783080"/>
            <a:ext cx="3576218" cy="2514600"/>
          </a:xfrm>
          <a:prstGeom prst="rect">
            <a:avLst/>
          </a:prstGeom>
          <a:solidFill>
            <a:srgbClr val="FFFAF5"/>
          </a:solidFill>
          <a:ln w="12700">
            <a:solidFill>
              <a:srgbClr val="E6DDD1"/>
            </a:solidFill>
            <a:prstDash val="solid"/>
          </a:ln>
        </p:spPr>
      </p:sp>
      <p:sp>
        <p:nvSpPr>
          <p:cNvPr id="7" name="Text 5"/>
          <p:cNvSpPr txBox="1"/>
          <p:nvPr/>
        </p:nvSpPr>
        <p:spPr>
          <a:xfrm>
            <a:off x="713232" y="1947672"/>
            <a:ext cx="3247034" cy="310896"/>
          </a:xfrm>
          <a:prstGeom prst="rect">
            <a:avLst/>
          </a:prstGeom>
          <a:noFill/>
          <a:ln/>
        </p:spPr>
        <p:txBody>
          <a:bodyPr wrap="square" lIns="0" tIns="0" rIns="0" bIns="0" rtlCol="0" anchor="t"/>
          <a:lstStyle/>
          <a:p>
            <a:pPr indent="0" marL="0">
              <a:buNone/>
            </a:pPr>
            <a:r>
              <a:rPr lang="en-US" sz="1500" b="1" dirty="0">
                <a:solidFill>
                  <a:srgbClr val="264549"/>
                </a:solidFill>
                <a:latin typeface="Epilogue" pitchFamily="34" charset="0"/>
                <a:ea typeface="Epilogue" pitchFamily="34" charset="-122"/>
                <a:cs typeface="Epilogue" pitchFamily="34" charset="-120"/>
              </a:rPr>
              <a:t>Scenario</a:t>
            </a:r>
            <a:endParaRPr lang="en-US" sz="1500" dirty="0"/>
          </a:p>
        </p:txBody>
      </p:sp>
      <p:sp>
        <p:nvSpPr>
          <p:cNvPr id="8" name="Text 6"/>
          <p:cNvSpPr txBox="1"/>
          <p:nvPr/>
        </p:nvSpPr>
        <p:spPr>
          <a:xfrm>
            <a:off x="713232" y="2313432"/>
            <a:ext cx="3247034" cy="1885493"/>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3E5559"/>
                </a:solidFill>
                <a:latin typeface="Manrope" pitchFamily="34" charset="0"/>
                <a:ea typeface="Manrope" pitchFamily="34" charset="-122"/>
                <a:cs typeface="Manrope" pitchFamily="34" charset="-120"/>
              </a:rPr>
              <a:t>Prospects' agents write RFPs and compare BI vendors</a:t>
            </a:r>
            <a:endParaRPr lang="en-US" sz="1400" dirty="0"/>
          </a:p>
          <a:p>
            <a:pPr marL="177800" indent="-177800">
              <a:spcAft>
                <a:spcPts val="300"/>
              </a:spcAft>
              <a:buSzPct val="100000"/>
              <a:buChar char="•"/>
            </a:pPr>
            <a:r>
              <a:rPr lang="en-US" sz="1400" dirty="0">
                <a:solidFill>
                  <a:srgbClr val="3E5559"/>
                </a:solidFill>
                <a:latin typeface="Manrope" pitchFamily="34" charset="0"/>
                <a:ea typeface="Manrope" pitchFamily="34" charset="-122"/>
                <a:cs typeface="Manrope" pitchFamily="34" charset="-120"/>
              </a:rPr>
              <a:t>Rivals run the same LLM pipeline</a:t>
            </a:r>
            <a:endParaRPr lang="en-US" sz="1400" dirty="0"/>
          </a:p>
          <a:p>
            <a:pPr marL="177800" indent="-177800">
              <a:spcAft>
                <a:spcPts val="300"/>
              </a:spcAft>
              <a:buSzPct val="100000"/>
              <a:buChar char="•"/>
            </a:pPr>
            <a:r>
              <a:rPr lang="en-US" sz="1400" dirty="0">
                <a:solidFill>
                  <a:srgbClr val="3E5559"/>
                </a:solidFill>
                <a:latin typeface="Manrope" pitchFamily="34" charset="0"/>
                <a:ea typeface="Manrope" pitchFamily="34" charset="-122"/>
                <a:cs typeface="Manrope" pitchFamily="34" charset="-120"/>
              </a:rPr>
              <a:t>Microsoft bundles it into Copilot</a:t>
            </a:r>
            <a:endParaRPr lang="en-US" sz="1400" dirty="0"/>
          </a:p>
        </p:txBody>
      </p:sp>
      <p:sp>
        <p:nvSpPr>
          <p:cNvPr id="9" name="Shape 7"/>
          <p:cNvSpPr/>
          <p:nvPr/>
        </p:nvSpPr>
        <p:spPr>
          <a:xfrm>
            <a:off x="4307738" y="1783080"/>
            <a:ext cx="3576218" cy="2514600"/>
          </a:xfrm>
          <a:prstGeom prst="rect">
            <a:avLst/>
          </a:prstGeom>
          <a:solidFill>
            <a:srgbClr val="FFFAF5"/>
          </a:solidFill>
          <a:ln w="12700">
            <a:solidFill>
              <a:srgbClr val="E6DDD1"/>
            </a:solidFill>
            <a:prstDash val="solid"/>
          </a:ln>
        </p:spPr>
      </p:sp>
      <p:sp>
        <p:nvSpPr>
          <p:cNvPr id="10" name="Text 8"/>
          <p:cNvSpPr txBox="1"/>
          <p:nvPr/>
        </p:nvSpPr>
        <p:spPr>
          <a:xfrm>
            <a:off x="4472330" y="1947672"/>
            <a:ext cx="3247034" cy="310896"/>
          </a:xfrm>
          <a:prstGeom prst="rect">
            <a:avLst/>
          </a:prstGeom>
          <a:noFill/>
          <a:ln/>
        </p:spPr>
        <p:txBody>
          <a:bodyPr wrap="square" lIns="0" tIns="0" rIns="0" bIns="0" rtlCol="0" anchor="t"/>
          <a:lstStyle/>
          <a:p>
            <a:pPr indent="0" marL="0">
              <a:buNone/>
            </a:pPr>
            <a:r>
              <a:rPr lang="en-US" sz="1500" b="1" dirty="0">
                <a:solidFill>
                  <a:srgbClr val="B8430F"/>
                </a:solidFill>
                <a:latin typeface="Epilogue" pitchFamily="34" charset="0"/>
                <a:ea typeface="Epilogue" pitchFamily="34" charset="-122"/>
                <a:cs typeface="Epilogue" pitchFamily="34" charset="-120"/>
              </a:rPr>
              <a:t>Disappears (abundant)</a:t>
            </a:r>
            <a:endParaRPr lang="en-US" sz="1500" dirty="0"/>
          </a:p>
        </p:txBody>
      </p:sp>
      <p:sp>
        <p:nvSpPr>
          <p:cNvPr id="11" name="Text 9"/>
          <p:cNvSpPr txBox="1"/>
          <p:nvPr/>
        </p:nvSpPr>
        <p:spPr>
          <a:xfrm>
            <a:off x="4472330" y="2313432"/>
            <a:ext cx="3247034" cy="1885493"/>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3E5559"/>
                </a:solidFill>
                <a:latin typeface="Manrope" pitchFamily="34" charset="0"/>
                <a:ea typeface="Manrope" pitchFamily="34" charset="-122"/>
                <a:cs typeface="Manrope" pitchFamily="34" charset="-120"/>
              </a:rPr>
              <a:t>Fast, polished proposals — including our own speed edge</a:t>
            </a:r>
            <a:endParaRPr lang="en-US" sz="1400" dirty="0"/>
          </a:p>
          <a:p>
            <a:pPr marL="177800" indent="-177800">
              <a:spcAft>
                <a:spcPts val="300"/>
              </a:spcAft>
              <a:buSzPct val="100000"/>
              <a:buChar char="•"/>
            </a:pPr>
            <a:r>
              <a:rPr lang="en-US" sz="1400" dirty="0">
                <a:solidFill>
                  <a:srgbClr val="3E5559"/>
                </a:solidFill>
                <a:latin typeface="Manrope" pitchFamily="34" charset="0"/>
                <a:ea typeface="Manrope" pitchFamily="34" charset="-122"/>
                <a:cs typeface="Manrope" pitchFamily="34" charset="-120"/>
              </a:rPr>
              <a:t>Generic dashboard mock-ups</a:t>
            </a:r>
            <a:endParaRPr lang="en-US" sz="1400" dirty="0"/>
          </a:p>
          <a:p>
            <a:pPr marL="177800" indent="-177800">
              <a:spcAft>
                <a:spcPts val="300"/>
              </a:spcAft>
              <a:buSzPct val="100000"/>
              <a:buChar char="•"/>
            </a:pPr>
            <a:r>
              <a:rPr lang="en-US" sz="1400" dirty="0">
                <a:solidFill>
                  <a:srgbClr val="3E5559"/>
                </a:solidFill>
                <a:latin typeface="Manrope" pitchFamily="34" charset="0"/>
                <a:ea typeface="Manrope" pitchFamily="34" charset="-122"/>
                <a:cs typeface="Manrope" pitchFamily="34" charset="-120"/>
              </a:rPr>
              <a:t>First-draft analysis</a:t>
            </a:r>
            <a:endParaRPr lang="en-US" sz="1400" dirty="0"/>
          </a:p>
        </p:txBody>
      </p:sp>
      <p:sp>
        <p:nvSpPr>
          <p:cNvPr id="12" name="Shape 10"/>
          <p:cNvSpPr/>
          <p:nvPr/>
        </p:nvSpPr>
        <p:spPr>
          <a:xfrm>
            <a:off x="8066837" y="1783080"/>
            <a:ext cx="3576218" cy="2514600"/>
          </a:xfrm>
          <a:prstGeom prst="rect">
            <a:avLst/>
          </a:prstGeom>
          <a:solidFill>
            <a:srgbClr val="264549"/>
          </a:solidFill>
          <a:ln w="12700">
            <a:solidFill>
              <a:srgbClr val="264549"/>
            </a:solidFill>
            <a:prstDash val="solid"/>
          </a:ln>
        </p:spPr>
      </p:sp>
      <p:sp>
        <p:nvSpPr>
          <p:cNvPr id="13" name="Text 11"/>
          <p:cNvSpPr txBox="1"/>
          <p:nvPr/>
        </p:nvSpPr>
        <p:spPr>
          <a:xfrm>
            <a:off x="8231429" y="1947672"/>
            <a:ext cx="3247034" cy="310896"/>
          </a:xfrm>
          <a:prstGeom prst="rect">
            <a:avLst/>
          </a:prstGeom>
          <a:noFill/>
          <a:ln/>
        </p:spPr>
        <p:txBody>
          <a:bodyPr wrap="square" lIns="0" tIns="0" rIns="0" bIns="0" rtlCol="0" anchor="t"/>
          <a:lstStyle/>
          <a:p>
            <a:pPr indent="0" marL="0">
              <a:buNone/>
            </a:pPr>
            <a:r>
              <a:rPr lang="en-US" sz="1500" b="1" dirty="0">
                <a:solidFill>
                  <a:srgbClr val="FF9100"/>
                </a:solidFill>
                <a:latin typeface="Epilogue" pitchFamily="34" charset="0"/>
                <a:ea typeface="Epilogue" pitchFamily="34" charset="-122"/>
                <a:cs typeface="Epilogue" pitchFamily="34" charset="-120"/>
              </a:rPr>
              <a:t>Stays scarce</a:t>
            </a:r>
            <a:endParaRPr lang="en-US" sz="1500" dirty="0"/>
          </a:p>
        </p:txBody>
      </p:sp>
      <p:sp>
        <p:nvSpPr>
          <p:cNvPr id="14" name="Text 12"/>
          <p:cNvSpPr txBox="1"/>
          <p:nvPr/>
        </p:nvSpPr>
        <p:spPr>
          <a:xfrm>
            <a:off x="8231429" y="2313432"/>
            <a:ext cx="3247034" cy="1885493"/>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FFFAF5"/>
                </a:solidFill>
                <a:latin typeface="Manrope" pitchFamily="34" charset="0"/>
                <a:ea typeface="Manrope" pitchFamily="34" charset="-122"/>
                <a:cs typeface="Manrope" pitchFamily="34" charset="-120"/>
              </a:rPr>
              <a:t>Context: source-system know-how, sector KPIs</a:t>
            </a:r>
            <a:endParaRPr lang="en-US" sz="1400" dirty="0"/>
          </a:p>
          <a:p>
            <a:pPr marL="177800" indent="-177800">
              <a:spcAft>
                <a:spcPts val="300"/>
              </a:spcAft>
              <a:buSzPct val="100000"/>
              <a:buChar char="•"/>
            </a:pPr>
            <a:r>
              <a:rPr lang="en-US" sz="1400" dirty="0">
                <a:solidFill>
                  <a:srgbClr val="FFFAF5"/>
                </a:solidFill>
                <a:latin typeface="Manrope" pitchFamily="34" charset="0"/>
                <a:ea typeface="Manrope" pitchFamily="34" charset="-122"/>
                <a:cs typeface="Manrope" pitchFamily="34" charset="-120"/>
              </a:rPr>
              <a:t>Trust: verified numbers, human sign-off</a:t>
            </a:r>
            <a:endParaRPr lang="en-US" sz="1400" dirty="0"/>
          </a:p>
          <a:p>
            <a:pPr marL="177800" indent="-177800">
              <a:spcAft>
                <a:spcPts val="300"/>
              </a:spcAft>
              <a:buSzPct val="100000"/>
              <a:buChar char="•"/>
            </a:pPr>
            <a:r>
              <a:rPr lang="en-US" sz="1400" dirty="0">
                <a:solidFill>
                  <a:srgbClr val="FFFAF5"/>
                </a:solidFill>
                <a:latin typeface="Manrope" pitchFamily="34" charset="0"/>
                <a:ea typeface="Manrope" pitchFamily="34" charset="-122"/>
                <a:cs typeface="Manrope" pitchFamily="34" charset="-120"/>
              </a:rPr>
              <a:t>Workflow integration and delivery</a:t>
            </a:r>
            <a:endParaRPr lang="en-US" sz="1400" dirty="0"/>
          </a:p>
        </p:txBody>
      </p:sp>
      <p:sp>
        <p:nvSpPr>
          <p:cNvPr id="15" name="Text 13"/>
          <p:cNvSpPr txBox="1"/>
          <p:nvPr/>
        </p:nvSpPr>
        <p:spPr>
          <a:xfrm>
            <a:off x="548640" y="4462272"/>
            <a:ext cx="11094415" cy="274320"/>
          </a:xfrm>
          <a:prstGeom prst="rect">
            <a:avLst/>
          </a:prstGeom>
          <a:noFill/>
          <a:ln/>
        </p:spPr>
        <p:txBody>
          <a:bodyPr wrap="square" lIns="0" tIns="0" rIns="0" bIns="0" rtlCol="0" anchor="t"/>
          <a:lstStyle/>
          <a:p>
            <a:pPr indent="0" marL="0">
              <a:buNone/>
            </a:pPr>
            <a:r>
              <a:rPr lang="en-US" sz="1300" b="1" dirty="0">
                <a:solidFill>
                  <a:srgbClr val="264549"/>
                </a:solidFill>
                <a:latin typeface="Epilogue" pitchFamily="34" charset="0"/>
                <a:ea typeface="Epilogue" pitchFamily="34" charset="-122"/>
                <a:cs typeface="Epilogue" pitchFamily="34" charset="-120"/>
              </a:rPr>
              <a:t>Agentic rails (Walsh, 2026) — where we act:</a:t>
            </a:r>
            <a:endParaRPr lang="en-US" sz="1300" dirty="0"/>
          </a:p>
        </p:txBody>
      </p:sp>
      <p:sp>
        <p:nvSpPr>
          <p:cNvPr id="16" name="Shape 14"/>
          <p:cNvSpPr/>
          <p:nvPr/>
        </p:nvSpPr>
        <p:spPr>
          <a:xfrm>
            <a:off x="548640" y="4800600"/>
            <a:ext cx="1772869" cy="411480"/>
          </a:xfrm>
          <a:prstGeom prst="rect">
            <a:avLst/>
          </a:prstGeom>
          <a:solidFill>
            <a:srgbClr val="FFFAF5"/>
          </a:solidFill>
          <a:ln w="12700">
            <a:solidFill>
              <a:srgbClr val="E6DDD1"/>
            </a:solidFill>
            <a:prstDash val="solid"/>
          </a:ln>
        </p:spPr>
      </p:sp>
      <p:sp>
        <p:nvSpPr>
          <p:cNvPr id="17" name="Text 15"/>
          <p:cNvSpPr txBox="1"/>
          <p:nvPr/>
        </p:nvSpPr>
        <p:spPr>
          <a:xfrm>
            <a:off x="548640" y="4800600"/>
            <a:ext cx="1772869" cy="411480"/>
          </a:xfrm>
          <a:prstGeom prst="rect">
            <a:avLst/>
          </a:prstGeom>
          <a:noFill/>
          <a:ln/>
        </p:spPr>
        <p:txBody>
          <a:bodyPr wrap="square" lIns="0" tIns="0" rIns="0" bIns="0" rtlCol="0" anchor="ctr"/>
          <a:lstStyle/>
          <a:p>
            <a:pPr algn="ctr" indent="0" marL="0">
              <a:buNone/>
            </a:pPr>
            <a:r>
              <a:rPr lang="en-US" sz="1200" dirty="0">
                <a:solidFill>
                  <a:srgbClr val="5A6E71"/>
                </a:solidFill>
                <a:latin typeface="Manrope" pitchFamily="34" charset="0"/>
                <a:ea typeface="Manrope" pitchFamily="34" charset="-122"/>
                <a:cs typeface="Manrope" pitchFamily="34" charset="-120"/>
              </a:rPr>
              <a:t>Identity</a:t>
            </a:r>
            <a:endParaRPr lang="en-US" sz="1200" dirty="0"/>
          </a:p>
        </p:txBody>
      </p:sp>
      <p:sp>
        <p:nvSpPr>
          <p:cNvPr id="18" name="Shape 16"/>
          <p:cNvSpPr/>
          <p:nvPr/>
        </p:nvSpPr>
        <p:spPr>
          <a:xfrm>
            <a:off x="2412949" y="4800600"/>
            <a:ext cx="1772869" cy="411480"/>
          </a:xfrm>
          <a:prstGeom prst="rect">
            <a:avLst/>
          </a:prstGeom>
          <a:solidFill>
            <a:srgbClr val="FFFAF5"/>
          </a:solidFill>
          <a:ln w="12700">
            <a:solidFill>
              <a:srgbClr val="E6DDD1"/>
            </a:solidFill>
            <a:prstDash val="solid"/>
          </a:ln>
        </p:spPr>
      </p:sp>
      <p:sp>
        <p:nvSpPr>
          <p:cNvPr id="19" name="Text 17"/>
          <p:cNvSpPr txBox="1"/>
          <p:nvPr/>
        </p:nvSpPr>
        <p:spPr>
          <a:xfrm>
            <a:off x="2412949" y="4800600"/>
            <a:ext cx="1772869" cy="411480"/>
          </a:xfrm>
          <a:prstGeom prst="rect">
            <a:avLst/>
          </a:prstGeom>
          <a:noFill/>
          <a:ln/>
        </p:spPr>
        <p:txBody>
          <a:bodyPr wrap="square" lIns="0" tIns="0" rIns="0" bIns="0" rtlCol="0" anchor="ctr"/>
          <a:lstStyle/>
          <a:p>
            <a:pPr algn="ctr" indent="0" marL="0">
              <a:buNone/>
            </a:pPr>
            <a:r>
              <a:rPr lang="en-US" sz="1200" dirty="0">
                <a:solidFill>
                  <a:srgbClr val="5A6E71"/>
                </a:solidFill>
                <a:latin typeface="Manrope" pitchFamily="34" charset="0"/>
                <a:ea typeface="Manrope" pitchFamily="34" charset="-122"/>
                <a:cs typeface="Manrope" pitchFamily="34" charset="-120"/>
              </a:rPr>
              <a:t>Discovery</a:t>
            </a:r>
            <a:endParaRPr lang="en-US" sz="1200" dirty="0"/>
          </a:p>
        </p:txBody>
      </p:sp>
      <p:sp>
        <p:nvSpPr>
          <p:cNvPr id="20" name="Shape 18"/>
          <p:cNvSpPr/>
          <p:nvPr/>
        </p:nvSpPr>
        <p:spPr>
          <a:xfrm>
            <a:off x="4277258" y="4800600"/>
            <a:ext cx="1772869" cy="411480"/>
          </a:xfrm>
          <a:prstGeom prst="rect">
            <a:avLst/>
          </a:prstGeom>
          <a:solidFill>
            <a:srgbClr val="E4EFD3"/>
          </a:solidFill>
          <a:ln w="12700">
            <a:solidFill>
              <a:srgbClr val="629373"/>
            </a:solidFill>
            <a:prstDash val="solid"/>
          </a:ln>
        </p:spPr>
      </p:sp>
      <p:sp>
        <p:nvSpPr>
          <p:cNvPr id="21" name="Text 19"/>
          <p:cNvSpPr txBox="1"/>
          <p:nvPr/>
        </p:nvSpPr>
        <p:spPr>
          <a:xfrm>
            <a:off x="4277258" y="4800600"/>
            <a:ext cx="1772869" cy="411480"/>
          </a:xfrm>
          <a:prstGeom prst="rect">
            <a:avLst/>
          </a:prstGeom>
          <a:noFill/>
          <a:ln/>
        </p:spPr>
        <p:txBody>
          <a:bodyPr wrap="square" lIns="0" tIns="0" rIns="0" bIns="0" rtlCol="0" anchor="ctr"/>
          <a:lstStyle/>
          <a:p>
            <a:pPr algn="ctr" indent="0" marL="0">
              <a:buNone/>
            </a:pPr>
            <a:r>
              <a:rPr lang="en-US" sz="1200" b="1" dirty="0">
                <a:solidFill>
                  <a:srgbClr val="3F6B4E"/>
                </a:solidFill>
                <a:latin typeface="Manrope" pitchFamily="34" charset="0"/>
                <a:ea typeface="Manrope" pitchFamily="34" charset="-122"/>
                <a:cs typeface="Manrope" pitchFamily="34" charset="-120"/>
              </a:rPr>
              <a:t>Verification</a:t>
            </a:r>
            <a:endParaRPr lang="en-US" sz="1200" dirty="0"/>
          </a:p>
        </p:txBody>
      </p:sp>
      <p:sp>
        <p:nvSpPr>
          <p:cNvPr id="22" name="Shape 20"/>
          <p:cNvSpPr/>
          <p:nvPr/>
        </p:nvSpPr>
        <p:spPr>
          <a:xfrm>
            <a:off x="6141568" y="4800600"/>
            <a:ext cx="1772869" cy="411480"/>
          </a:xfrm>
          <a:prstGeom prst="rect">
            <a:avLst/>
          </a:prstGeom>
          <a:solidFill>
            <a:srgbClr val="E4EFD3"/>
          </a:solidFill>
          <a:ln w="12700">
            <a:solidFill>
              <a:srgbClr val="629373"/>
            </a:solidFill>
            <a:prstDash val="solid"/>
          </a:ln>
        </p:spPr>
      </p:sp>
      <p:sp>
        <p:nvSpPr>
          <p:cNvPr id="23" name="Text 21"/>
          <p:cNvSpPr txBox="1"/>
          <p:nvPr/>
        </p:nvSpPr>
        <p:spPr>
          <a:xfrm>
            <a:off x="6141568" y="4800600"/>
            <a:ext cx="1772869" cy="411480"/>
          </a:xfrm>
          <a:prstGeom prst="rect">
            <a:avLst/>
          </a:prstGeom>
          <a:noFill/>
          <a:ln/>
        </p:spPr>
        <p:txBody>
          <a:bodyPr wrap="square" lIns="0" tIns="0" rIns="0" bIns="0" rtlCol="0" anchor="ctr"/>
          <a:lstStyle/>
          <a:p>
            <a:pPr algn="ctr" indent="0" marL="0">
              <a:buNone/>
            </a:pPr>
            <a:r>
              <a:rPr lang="en-US" sz="1200" b="1" dirty="0">
                <a:solidFill>
                  <a:srgbClr val="3F6B4E"/>
                </a:solidFill>
                <a:latin typeface="Manrope" pitchFamily="34" charset="0"/>
                <a:ea typeface="Manrope" pitchFamily="34" charset="-122"/>
                <a:cs typeface="Manrope" pitchFamily="34" charset="-120"/>
              </a:rPr>
              <a:t>Interoperability</a:t>
            </a:r>
            <a:endParaRPr lang="en-US" sz="1200" dirty="0"/>
          </a:p>
        </p:txBody>
      </p:sp>
      <p:sp>
        <p:nvSpPr>
          <p:cNvPr id="24" name="Shape 22"/>
          <p:cNvSpPr/>
          <p:nvPr/>
        </p:nvSpPr>
        <p:spPr>
          <a:xfrm>
            <a:off x="8005877" y="4800600"/>
            <a:ext cx="1772869" cy="411480"/>
          </a:xfrm>
          <a:prstGeom prst="rect">
            <a:avLst/>
          </a:prstGeom>
          <a:solidFill>
            <a:srgbClr val="FFFAF5"/>
          </a:solidFill>
          <a:ln w="12700">
            <a:solidFill>
              <a:srgbClr val="E6DDD1"/>
            </a:solidFill>
            <a:prstDash val="solid"/>
          </a:ln>
        </p:spPr>
      </p:sp>
      <p:sp>
        <p:nvSpPr>
          <p:cNvPr id="25" name="Text 23"/>
          <p:cNvSpPr txBox="1"/>
          <p:nvPr/>
        </p:nvSpPr>
        <p:spPr>
          <a:xfrm>
            <a:off x="8005877" y="4800600"/>
            <a:ext cx="1772869" cy="411480"/>
          </a:xfrm>
          <a:prstGeom prst="rect">
            <a:avLst/>
          </a:prstGeom>
          <a:noFill/>
          <a:ln/>
        </p:spPr>
        <p:txBody>
          <a:bodyPr wrap="square" lIns="0" tIns="0" rIns="0" bIns="0" rtlCol="0" anchor="ctr"/>
          <a:lstStyle/>
          <a:p>
            <a:pPr algn="ctr" indent="0" marL="0">
              <a:buNone/>
            </a:pPr>
            <a:r>
              <a:rPr lang="en-US" sz="1200" dirty="0">
                <a:solidFill>
                  <a:srgbClr val="5A6E71"/>
                </a:solidFill>
                <a:latin typeface="Manrope" pitchFamily="34" charset="0"/>
                <a:ea typeface="Manrope" pitchFamily="34" charset="-122"/>
                <a:cs typeface="Manrope" pitchFamily="34" charset="-120"/>
              </a:rPr>
              <a:t>Marketplaces</a:t>
            </a:r>
            <a:endParaRPr lang="en-US" sz="1200" dirty="0"/>
          </a:p>
        </p:txBody>
      </p:sp>
      <p:sp>
        <p:nvSpPr>
          <p:cNvPr id="26" name="Shape 24"/>
          <p:cNvSpPr/>
          <p:nvPr/>
        </p:nvSpPr>
        <p:spPr>
          <a:xfrm>
            <a:off x="9870186" y="4800600"/>
            <a:ext cx="1772869" cy="411480"/>
          </a:xfrm>
          <a:prstGeom prst="rect">
            <a:avLst/>
          </a:prstGeom>
          <a:solidFill>
            <a:srgbClr val="FFFAF5"/>
          </a:solidFill>
          <a:ln w="12700">
            <a:solidFill>
              <a:srgbClr val="E6DDD1"/>
            </a:solidFill>
            <a:prstDash val="solid"/>
          </a:ln>
        </p:spPr>
      </p:sp>
      <p:sp>
        <p:nvSpPr>
          <p:cNvPr id="27" name="Text 25"/>
          <p:cNvSpPr txBox="1"/>
          <p:nvPr/>
        </p:nvSpPr>
        <p:spPr>
          <a:xfrm>
            <a:off x="9870186" y="4800600"/>
            <a:ext cx="1772869" cy="411480"/>
          </a:xfrm>
          <a:prstGeom prst="rect">
            <a:avLst/>
          </a:prstGeom>
          <a:noFill/>
          <a:ln/>
        </p:spPr>
        <p:txBody>
          <a:bodyPr wrap="square" lIns="0" tIns="0" rIns="0" bIns="0" rtlCol="0" anchor="ctr"/>
          <a:lstStyle/>
          <a:p>
            <a:pPr algn="ctr" indent="0" marL="0">
              <a:buNone/>
            </a:pPr>
            <a:r>
              <a:rPr lang="en-US" sz="1200" dirty="0">
                <a:solidFill>
                  <a:srgbClr val="5A6E71"/>
                </a:solidFill>
                <a:latin typeface="Manrope" pitchFamily="34" charset="0"/>
                <a:ea typeface="Manrope" pitchFamily="34" charset="-122"/>
                <a:cs typeface="Manrope" pitchFamily="34" charset="-120"/>
              </a:rPr>
              <a:t>Payments</a:t>
            </a:r>
            <a:endParaRPr lang="en-US" sz="1200" dirty="0"/>
          </a:p>
        </p:txBody>
      </p:sp>
      <p:sp>
        <p:nvSpPr>
          <p:cNvPr id="28" name="Text 26"/>
          <p:cNvSpPr txBox="1"/>
          <p:nvPr/>
        </p:nvSpPr>
        <p:spPr>
          <a:xfrm>
            <a:off x="548640" y="5257800"/>
            <a:ext cx="11094415" cy="320040"/>
          </a:xfrm>
          <a:prstGeom prst="rect">
            <a:avLst/>
          </a:prstGeom>
          <a:noFill/>
          <a:ln/>
        </p:spPr>
        <p:txBody>
          <a:bodyPr wrap="square" lIns="0" tIns="0" rIns="0" bIns="0" rtlCol="0" anchor="t"/>
          <a:lstStyle/>
          <a:p>
            <a:pPr indent="0" marL="0">
              <a:buNone/>
            </a:pPr>
            <a:r>
              <a:rPr lang="en-US" sz="1200" dirty="0">
                <a:solidFill>
                  <a:srgbClr val="3E5559"/>
                </a:solidFill>
                <a:latin typeface="Manrope" pitchFamily="34" charset="0"/>
                <a:ea typeface="Manrope" pitchFamily="34" charset="-122"/>
                <a:cs typeface="Manrope" pitchFamily="34" charset="-120"/>
              </a:rPr>
              <a:t>Move: machine-readable, verifiable proposals a buyer's agent can check · path Existing+ → Orchestrator (Eastwood)</a:t>
            </a:r>
            <a:endParaRPr lang="en-US" sz="1200" dirty="0"/>
          </a:p>
        </p:txBody>
      </p:sp>
      <p:sp>
        <p:nvSpPr>
          <p:cNvPr id="29" name="Shape 27"/>
          <p:cNvSpPr/>
          <p:nvPr/>
        </p:nvSpPr>
        <p:spPr>
          <a:xfrm>
            <a:off x="548640" y="5687568"/>
            <a:ext cx="11094415" cy="512064"/>
          </a:xfrm>
          <a:prstGeom prst="rect">
            <a:avLst/>
          </a:prstGeom>
          <a:solidFill>
            <a:srgbClr val="E4EFD3"/>
          </a:solidFill>
          <a:ln/>
        </p:spPr>
      </p:sp>
      <p:sp>
        <p:nvSpPr>
          <p:cNvPr id="30" name="Text 28"/>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3F6B4E"/>
                </a:solidFill>
                <a:latin typeface="Manrope" pitchFamily="34" charset="0"/>
                <a:ea typeface="Manrope" pitchFamily="34" charset="-122"/>
                <a:cs typeface="Manrope" pitchFamily="34" charset="-120"/>
              </a:rPr>
              <a:t>OUR CHOICE   </a:t>
            </a:r>
            <a:pPr indent="0" marL="0">
              <a:buNone/>
            </a:pPr>
            <a:r>
              <a:rPr lang="en-US" sz="1400" b="1" dirty="0">
                <a:solidFill>
                  <a:srgbClr val="264549"/>
                </a:solidFill>
                <a:latin typeface="Manrope" pitchFamily="34" charset="0"/>
                <a:ea typeface="Manrope" pitchFamily="34" charset="-122"/>
                <a:cs typeface="Manrope" pitchFamily="34" charset="-120"/>
              </a:rPr>
              <a:t>Invest in the context layer, not the model — compete on verified outcomes, not on proposal speed.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64549"/>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200" kern="0" dirty="0">
                <a:solidFill>
                  <a:srgbClr val="FF9100"/>
                </a:solidFill>
                <a:latin typeface="Manrope" pitchFamily="34" charset="0"/>
                <a:ea typeface="Manrope" pitchFamily="34" charset="-122"/>
                <a:cs typeface="Manrope" pitchFamily="34" charset="-120"/>
              </a:rPr>
              <a:t>RECOMMENDATION</a:t>
            </a:r>
            <a:endParaRPr lang="en-US" sz="1200" dirty="0"/>
          </a:p>
        </p:txBody>
      </p:sp>
      <p:sp>
        <p:nvSpPr>
          <p:cNvPr id="3" name="Text 1"/>
          <p:cNvSpPr txBox="1"/>
          <p:nvPr/>
        </p:nvSpPr>
        <p:spPr>
          <a:xfrm>
            <a:off x="548640" y="676656"/>
            <a:ext cx="11094415" cy="914400"/>
          </a:xfrm>
          <a:prstGeom prst="rect">
            <a:avLst/>
          </a:prstGeom>
          <a:noFill/>
          <a:ln/>
        </p:spPr>
        <p:txBody>
          <a:bodyPr wrap="square" lIns="0" tIns="0" rIns="0" bIns="0" rtlCol="0" anchor="t"/>
          <a:lstStyle/>
          <a:p>
            <a:pPr indent="0" marL="0">
              <a:buNone/>
            </a:pPr>
            <a:r>
              <a:rPr lang="en-US" sz="2800" b="1" dirty="0">
                <a:solidFill>
                  <a:srgbClr val="FFFAF5"/>
                </a:solidFill>
                <a:latin typeface="Epilogue" pitchFamily="34" charset="0"/>
                <a:ea typeface="Epilogue" pitchFamily="34" charset="-122"/>
                <a:cs typeface="Epilogue" pitchFamily="34" charset="-120"/>
              </a:rPr>
              <a:t>Pilot internally, fix privacy first, then scale on evidence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t"/>
          <a:lstStyle/>
          <a:p>
            <a:pPr indent="0" marL="0">
              <a:buNone/>
            </a:pPr>
            <a:r>
              <a:rPr lang="en-US" sz="1000" dirty="0">
                <a:solidFill>
                  <a:srgbClr val="A9BEBC"/>
                </a:solidFill>
                <a:latin typeface="Manrope" pitchFamily="34" charset="0"/>
                <a:ea typeface="Manrope" pitchFamily="34" charset="-122"/>
                <a:cs typeface="Manrope" pitchFamily="34" charset="-120"/>
              </a:rPr>
              <a:t>Person D (written with all) · Lab: TEST → decision (S6)</a:t>
            </a:r>
            <a:endParaRPr lang="en-US" sz="1000" dirty="0"/>
          </a:p>
        </p:txBody>
      </p:sp>
      <p:sp>
        <p:nvSpPr>
          <p:cNvPr id="5" name="Text 3"/>
          <p:cNvSpPr txBox="1"/>
          <p:nvPr/>
        </p:nvSpPr>
        <p:spPr>
          <a:xfrm>
            <a:off x="10728655" y="6400800"/>
            <a:ext cx="914400" cy="228600"/>
          </a:xfrm>
          <a:prstGeom prst="rect">
            <a:avLst/>
          </a:prstGeom>
          <a:noFill/>
          <a:ln/>
        </p:spPr>
        <p:txBody>
          <a:bodyPr wrap="square" lIns="0" tIns="0" rIns="0" bIns="0" rtlCol="0" anchor="t"/>
          <a:lstStyle/>
          <a:p>
            <a:pPr algn="r" indent="0" marL="0">
              <a:buNone/>
            </a:pPr>
            <a:r>
              <a:rPr lang="en-US" sz="1000" dirty="0">
                <a:solidFill>
                  <a:srgbClr val="A9BEBC"/>
                </a:solidFill>
                <a:latin typeface="Manrope" pitchFamily="34" charset="0"/>
                <a:ea typeface="Manrope" pitchFamily="34" charset="-122"/>
                <a:cs typeface="Manrope" pitchFamily="34" charset="-120"/>
              </a:rPr>
              <a:t>15</a:t>
            </a:r>
            <a:endParaRPr lang="en-US" sz="1000" dirty="0"/>
          </a:p>
        </p:txBody>
      </p:sp>
      <p:sp>
        <p:nvSpPr>
          <p:cNvPr id="6" name="Shape 4"/>
          <p:cNvSpPr/>
          <p:nvPr/>
        </p:nvSpPr>
        <p:spPr>
          <a:xfrm>
            <a:off x="548640" y="1783080"/>
            <a:ext cx="2109155" cy="2377440"/>
          </a:xfrm>
          <a:prstGeom prst="rect">
            <a:avLst/>
          </a:prstGeom>
          <a:solidFill>
            <a:srgbClr val="2F5357"/>
          </a:solidFill>
          <a:ln/>
        </p:spPr>
      </p:sp>
      <p:sp>
        <p:nvSpPr>
          <p:cNvPr id="7" name="Text 5"/>
          <p:cNvSpPr txBox="1"/>
          <p:nvPr/>
        </p:nvSpPr>
        <p:spPr>
          <a:xfrm>
            <a:off x="713232" y="1938528"/>
            <a:ext cx="1779971" cy="365760"/>
          </a:xfrm>
          <a:prstGeom prst="rect">
            <a:avLst/>
          </a:prstGeom>
          <a:noFill/>
          <a:ln/>
        </p:spPr>
        <p:txBody>
          <a:bodyPr wrap="square" lIns="0" tIns="0" rIns="0" bIns="0" rtlCol="0" anchor="t"/>
          <a:lstStyle/>
          <a:p>
            <a:pPr indent="0" marL="0">
              <a:buNone/>
            </a:pPr>
            <a:r>
              <a:rPr lang="en-US" sz="1700" b="1" dirty="0">
                <a:solidFill>
                  <a:srgbClr val="FF9100"/>
                </a:solidFill>
                <a:latin typeface="Epilogue" pitchFamily="34" charset="0"/>
                <a:ea typeface="Epilogue" pitchFamily="34" charset="-122"/>
                <a:cs typeface="Epilogue" pitchFamily="34" charset="-120"/>
              </a:rPr>
              <a:t>Implement</a:t>
            </a:r>
            <a:endParaRPr lang="en-US" sz="1700" dirty="0"/>
          </a:p>
        </p:txBody>
      </p:sp>
      <p:sp>
        <p:nvSpPr>
          <p:cNvPr id="8" name="Text 6"/>
          <p:cNvSpPr txBox="1"/>
          <p:nvPr/>
        </p:nvSpPr>
        <p:spPr>
          <a:xfrm>
            <a:off x="713232" y="2395728"/>
            <a:ext cx="1779971" cy="1188720"/>
          </a:xfrm>
          <a:prstGeom prst="rect">
            <a:avLst/>
          </a:prstGeom>
          <a:noFill/>
          <a:ln/>
        </p:spPr>
        <p:txBody>
          <a:bodyPr wrap="square" lIns="0" tIns="0" rIns="0" bIns="0" rtlCol="0" anchor="t"/>
          <a:lstStyle/>
          <a:p>
            <a:pPr indent="0" marL="0">
              <a:buNone/>
            </a:pPr>
            <a:r>
              <a:rPr lang="en-US" sz="1400" dirty="0">
                <a:solidFill>
                  <a:srgbClr val="FFFAF5"/>
                </a:solidFill>
                <a:latin typeface="Manrope" pitchFamily="34" charset="0"/>
                <a:ea typeface="Manrope" pitchFamily="34" charset="-122"/>
                <a:cs typeface="Manrope" pitchFamily="34" charset="-120"/>
              </a:rPr>
              <a:t>Internal pilot with [k] consultants for [8] weeks</a:t>
            </a:r>
            <a:endParaRPr lang="en-US" sz="1400" dirty="0"/>
          </a:p>
        </p:txBody>
      </p:sp>
      <p:sp>
        <p:nvSpPr>
          <p:cNvPr id="9" name="Text 7"/>
          <p:cNvSpPr txBox="1"/>
          <p:nvPr/>
        </p:nvSpPr>
        <p:spPr>
          <a:xfrm>
            <a:off x="713232" y="3703320"/>
            <a:ext cx="1779971" cy="320040"/>
          </a:xfrm>
          <a:prstGeom prst="rect">
            <a:avLst/>
          </a:prstGeom>
          <a:noFill/>
          <a:ln/>
        </p:spPr>
        <p:txBody>
          <a:bodyPr wrap="square" lIns="0" tIns="0" rIns="0" bIns="0" rtlCol="0" anchor="t"/>
          <a:lstStyle/>
          <a:p>
            <a:pPr indent="0" marL="0">
              <a:buNone/>
            </a:pPr>
            <a:r>
              <a:rPr lang="en-US" sz="1100" dirty="0">
                <a:solidFill>
                  <a:srgbClr val="A9BEBC"/>
                </a:solidFill>
                <a:latin typeface="Manrope" pitchFamily="34" charset="0"/>
                <a:ea typeface="Manrope" pitchFamily="34" charset="-122"/>
                <a:cs typeface="Manrope" pitchFamily="34" charset="-120"/>
              </a:rPr>
              <a:t>← slides 11–12</a:t>
            </a:r>
            <a:endParaRPr lang="en-US" sz="1100" dirty="0"/>
          </a:p>
        </p:txBody>
      </p:sp>
      <p:sp>
        <p:nvSpPr>
          <p:cNvPr id="10" name="Shape 8"/>
          <p:cNvSpPr/>
          <p:nvPr/>
        </p:nvSpPr>
        <p:spPr>
          <a:xfrm>
            <a:off x="2794955" y="1783080"/>
            <a:ext cx="2109155" cy="2377440"/>
          </a:xfrm>
          <a:prstGeom prst="rect">
            <a:avLst/>
          </a:prstGeom>
          <a:solidFill>
            <a:srgbClr val="2F5357"/>
          </a:solidFill>
          <a:ln/>
        </p:spPr>
      </p:sp>
      <p:sp>
        <p:nvSpPr>
          <p:cNvPr id="11" name="Text 9"/>
          <p:cNvSpPr txBox="1"/>
          <p:nvPr/>
        </p:nvSpPr>
        <p:spPr>
          <a:xfrm>
            <a:off x="2959547" y="1938528"/>
            <a:ext cx="1779971" cy="365760"/>
          </a:xfrm>
          <a:prstGeom prst="rect">
            <a:avLst/>
          </a:prstGeom>
          <a:noFill/>
          <a:ln/>
        </p:spPr>
        <p:txBody>
          <a:bodyPr wrap="square" lIns="0" tIns="0" rIns="0" bIns="0" rtlCol="0" anchor="t"/>
          <a:lstStyle/>
          <a:p>
            <a:pPr indent="0" marL="0">
              <a:buNone/>
            </a:pPr>
            <a:r>
              <a:rPr lang="en-US" sz="1700" b="1" dirty="0">
                <a:solidFill>
                  <a:srgbClr val="FF9100"/>
                </a:solidFill>
                <a:latin typeface="Epilogue" pitchFamily="34" charset="0"/>
                <a:ea typeface="Epilogue" pitchFamily="34" charset="-122"/>
                <a:cs typeface="Epilogue" pitchFamily="34" charset="-120"/>
              </a:rPr>
              <a:t>Change</a:t>
            </a:r>
            <a:endParaRPr lang="en-US" sz="1700" dirty="0"/>
          </a:p>
        </p:txBody>
      </p:sp>
      <p:sp>
        <p:nvSpPr>
          <p:cNvPr id="12" name="Text 10"/>
          <p:cNvSpPr txBox="1"/>
          <p:nvPr/>
        </p:nvSpPr>
        <p:spPr>
          <a:xfrm>
            <a:off x="2959547" y="2395728"/>
            <a:ext cx="1779971" cy="1188720"/>
          </a:xfrm>
          <a:prstGeom prst="rect">
            <a:avLst/>
          </a:prstGeom>
          <a:noFill/>
          <a:ln/>
        </p:spPr>
        <p:txBody>
          <a:bodyPr wrap="square" lIns="0" tIns="0" rIns="0" bIns="0" rtlCol="0" anchor="t"/>
          <a:lstStyle/>
          <a:p>
            <a:pPr indent="0" marL="0">
              <a:buNone/>
            </a:pPr>
            <a:r>
              <a:rPr lang="en-US" sz="1400" dirty="0">
                <a:solidFill>
                  <a:srgbClr val="FFFAF5"/>
                </a:solidFill>
                <a:latin typeface="Manrope" pitchFamily="34" charset="0"/>
                <a:ea typeface="Manrope" pitchFamily="34" charset="-122"/>
                <a:cs typeface="Manrope" pitchFamily="34" charset="-120"/>
              </a:rPr>
              <a:t>EU-hosted model + log win/loss in HubSpot</a:t>
            </a:r>
            <a:endParaRPr lang="en-US" sz="1400" dirty="0"/>
          </a:p>
        </p:txBody>
      </p:sp>
      <p:sp>
        <p:nvSpPr>
          <p:cNvPr id="13" name="Text 11"/>
          <p:cNvSpPr txBox="1"/>
          <p:nvPr/>
        </p:nvSpPr>
        <p:spPr>
          <a:xfrm>
            <a:off x="2959547" y="3703320"/>
            <a:ext cx="1779971" cy="320040"/>
          </a:xfrm>
          <a:prstGeom prst="rect">
            <a:avLst/>
          </a:prstGeom>
          <a:noFill/>
          <a:ln/>
        </p:spPr>
        <p:txBody>
          <a:bodyPr wrap="square" lIns="0" tIns="0" rIns="0" bIns="0" rtlCol="0" anchor="t"/>
          <a:lstStyle/>
          <a:p>
            <a:pPr indent="0" marL="0">
              <a:buNone/>
            </a:pPr>
            <a:r>
              <a:rPr lang="en-US" sz="1100" dirty="0">
                <a:solidFill>
                  <a:srgbClr val="A9BEBC"/>
                </a:solidFill>
                <a:latin typeface="Manrope" pitchFamily="34" charset="0"/>
                <a:ea typeface="Manrope" pitchFamily="34" charset="-122"/>
                <a:cs typeface="Manrope" pitchFamily="34" charset="-120"/>
              </a:rPr>
              <a:t>← slides 10 &amp; 13</a:t>
            </a:r>
            <a:endParaRPr lang="en-US" sz="1100" dirty="0"/>
          </a:p>
        </p:txBody>
      </p:sp>
      <p:sp>
        <p:nvSpPr>
          <p:cNvPr id="14" name="Shape 12"/>
          <p:cNvSpPr/>
          <p:nvPr/>
        </p:nvSpPr>
        <p:spPr>
          <a:xfrm>
            <a:off x="5041270" y="1783080"/>
            <a:ext cx="2109155" cy="2377440"/>
          </a:xfrm>
          <a:prstGeom prst="rect">
            <a:avLst/>
          </a:prstGeom>
          <a:solidFill>
            <a:srgbClr val="2F5357"/>
          </a:solidFill>
          <a:ln/>
        </p:spPr>
      </p:sp>
      <p:sp>
        <p:nvSpPr>
          <p:cNvPr id="15" name="Text 13"/>
          <p:cNvSpPr txBox="1"/>
          <p:nvPr/>
        </p:nvSpPr>
        <p:spPr>
          <a:xfrm>
            <a:off x="5205862" y="1938528"/>
            <a:ext cx="1779971" cy="365760"/>
          </a:xfrm>
          <a:prstGeom prst="rect">
            <a:avLst/>
          </a:prstGeom>
          <a:noFill/>
          <a:ln/>
        </p:spPr>
        <p:txBody>
          <a:bodyPr wrap="square" lIns="0" tIns="0" rIns="0" bIns="0" rtlCol="0" anchor="t"/>
          <a:lstStyle/>
          <a:p>
            <a:pPr indent="0" marL="0">
              <a:buNone/>
            </a:pPr>
            <a:r>
              <a:rPr lang="en-US" sz="1700" b="1" dirty="0">
                <a:solidFill>
                  <a:srgbClr val="FF9100"/>
                </a:solidFill>
                <a:latin typeface="Epilogue" pitchFamily="34" charset="0"/>
                <a:ea typeface="Epilogue" pitchFamily="34" charset="-122"/>
                <a:cs typeface="Epilogue" pitchFamily="34" charset="-120"/>
              </a:rPr>
              <a:t>Scale</a:t>
            </a:r>
            <a:endParaRPr lang="en-US" sz="1700" dirty="0"/>
          </a:p>
        </p:txBody>
      </p:sp>
      <p:sp>
        <p:nvSpPr>
          <p:cNvPr id="16" name="Text 14"/>
          <p:cNvSpPr txBox="1"/>
          <p:nvPr/>
        </p:nvSpPr>
        <p:spPr>
          <a:xfrm>
            <a:off x="5205862" y="2395728"/>
            <a:ext cx="1779971" cy="1188720"/>
          </a:xfrm>
          <a:prstGeom prst="rect">
            <a:avLst/>
          </a:prstGeom>
          <a:noFill/>
          <a:ln/>
        </p:spPr>
        <p:txBody>
          <a:bodyPr wrap="square" lIns="0" tIns="0" rIns="0" bIns="0" rtlCol="0" anchor="t"/>
          <a:lstStyle/>
          <a:p>
            <a:pPr indent="0" marL="0">
              <a:buNone/>
            </a:pPr>
            <a:r>
              <a:rPr lang="en-US" sz="1400" dirty="0">
                <a:solidFill>
                  <a:srgbClr val="FFFAF5"/>
                </a:solidFill>
                <a:latin typeface="Manrope" pitchFamily="34" charset="0"/>
                <a:ea typeface="Manrope" pitchFamily="34" charset="-122"/>
                <a:cs typeface="Manrope" pitchFamily="34" charset="-120"/>
              </a:rPr>
              <a:t>To all consultants once the decision rule is met</a:t>
            </a:r>
            <a:endParaRPr lang="en-US" sz="1400" dirty="0"/>
          </a:p>
        </p:txBody>
      </p:sp>
      <p:sp>
        <p:nvSpPr>
          <p:cNvPr id="17" name="Text 15"/>
          <p:cNvSpPr txBox="1"/>
          <p:nvPr/>
        </p:nvSpPr>
        <p:spPr>
          <a:xfrm>
            <a:off x="5205862" y="3703320"/>
            <a:ext cx="1779971" cy="320040"/>
          </a:xfrm>
          <a:prstGeom prst="rect">
            <a:avLst/>
          </a:prstGeom>
          <a:noFill/>
          <a:ln/>
        </p:spPr>
        <p:txBody>
          <a:bodyPr wrap="square" lIns="0" tIns="0" rIns="0" bIns="0" rtlCol="0" anchor="t"/>
          <a:lstStyle/>
          <a:p>
            <a:pPr indent="0" marL="0">
              <a:buNone/>
            </a:pPr>
            <a:r>
              <a:rPr lang="en-US" sz="1100" dirty="0">
                <a:solidFill>
                  <a:srgbClr val="A9BEBC"/>
                </a:solidFill>
                <a:latin typeface="Manrope" pitchFamily="34" charset="0"/>
                <a:ea typeface="Manrope" pitchFamily="34" charset="-122"/>
                <a:cs typeface="Manrope" pitchFamily="34" charset="-120"/>
              </a:rPr>
              <a:t>← slide 11 rule</a:t>
            </a:r>
            <a:endParaRPr lang="en-US" sz="1100" dirty="0"/>
          </a:p>
        </p:txBody>
      </p:sp>
      <p:sp>
        <p:nvSpPr>
          <p:cNvPr id="18" name="Shape 16"/>
          <p:cNvSpPr/>
          <p:nvPr/>
        </p:nvSpPr>
        <p:spPr>
          <a:xfrm>
            <a:off x="7287585" y="1783080"/>
            <a:ext cx="2109155" cy="2377440"/>
          </a:xfrm>
          <a:prstGeom prst="rect">
            <a:avLst/>
          </a:prstGeom>
          <a:solidFill>
            <a:srgbClr val="2F5357"/>
          </a:solidFill>
          <a:ln/>
        </p:spPr>
      </p:sp>
      <p:sp>
        <p:nvSpPr>
          <p:cNvPr id="19" name="Text 17"/>
          <p:cNvSpPr txBox="1"/>
          <p:nvPr/>
        </p:nvSpPr>
        <p:spPr>
          <a:xfrm>
            <a:off x="7452177" y="1938528"/>
            <a:ext cx="1779971" cy="365760"/>
          </a:xfrm>
          <a:prstGeom prst="rect">
            <a:avLst/>
          </a:prstGeom>
          <a:noFill/>
          <a:ln/>
        </p:spPr>
        <p:txBody>
          <a:bodyPr wrap="square" lIns="0" tIns="0" rIns="0" bIns="0" rtlCol="0" anchor="t"/>
          <a:lstStyle/>
          <a:p>
            <a:pPr indent="0" marL="0">
              <a:buNone/>
            </a:pPr>
            <a:r>
              <a:rPr lang="en-US" sz="1700" b="1" dirty="0">
                <a:solidFill>
                  <a:srgbClr val="FF9100"/>
                </a:solidFill>
                <a:latin typeface="Epilogue" pitchFamily="34" charset="0"/>
                <a:ea typeface="Epilogue" pitchFamily="34" charset="-122"/>
                <a:cs typeface="Epilogue" pitchFamily="34" charset="-120"/>
              </a:rPr>
              <a:t>Stop</a:t>
            </a:r>
            <a:endParaRPr lang="en-US" sz="1700" dirty="0"/>
          </a:p>
        </p:txBody>
      </p:sp>
      <p:sp>
        <p:nvSpPr>
          <p:cNvPr id="20" name="Text 18"/>
          <p:cNvSpPr txBox="1"/>
          <p:nvPr/>
        </p:nvSpPr>
        <p:spPr>
          <a:xfrm>
            <a:off x="7452177" y="2395728"/>
            <a:ext cx="1779971" cy="1188720"/>
          </a:xfrm>
          <a:prstGeom prst="rect">
            <a:avLst/>
          </a:prstGeom>
          <a:noFill/>
          <a:ln/>
        </p:spPr>
        <p:txBody>
          <a:bodyPr wrap="square" lIns="0" tIns="0" rIns="0" bIns="0" rtlCol="0" anchor="t"/>
          <a:lstStyle/>
          <a:p>
            <a:pPr indent="0" marL="0">
              <a:buNone/>
            </a:pPr>
            <a:r>
              <a:rPr lang="en-US" sz="1400" dirty="0">
                <a:solidFill>
                  <a:srgbClr val="FFFAF5"/>
                </a:solidFill>
                <a:latin typeface="Manrope" pitchFamily="34" charset="0"/>
                <a:ea typeface="Manrope" pitchFamily="34" charset="-122"/>
                <a:cs typeface="Manrope" pitchFamily="34" charset="-120"/>
              </a:rPr>
              <a:t>Selling the tool as external SaaS</a:t>
            </a:r>
            <a:endParaRPr lang="en-US" sz="1400" dirty="0"/>
          </a:p>
        </p:txBody>
      </p:sp>
      <p:sp>
        <p:nvSpPr>
          <p:cNvPr id="21" name="Text 19"/>
          <p:cNvSpPr txBox="1"/>
          <p:nvPr/>
        </p:nvSpPr>
        <p:spPr>
          <a:xfrm>
            <a:off x="7452177" y="3703320"/>
            <a:ext cx="1779971" cy="320040"/>
          </a:xfrm>
          <a:prstGeom prst="rect">
            <a:avLst/>
          </a:prstGeom>
          <a:noFill/>
          <a:ln/>
        </p:spPr>
        <p:txBody>
          <a:bodyPr wrap="square" lIns="0" tIns="0" rIns="0" bIns="0" rtlCol="0" anchor="t"/>
          <a:lstStyle/>
          <a:p>
            <a:pPr indent="0" marL="0">
              <a:buNone/>
            </a:pPr>
            <a:r>
              <a:rPr lang="en-US" sz="1100" dirty="0">
                <a:solidFill>
                  <a:srgbClr val="A9BEBC"/>
                </a:solidFill>
                <a:latin typeface="Manrope" pitchFamily="34" charset="0"/>
                <a:ea typeface="Manrope" pitchFamily="34" charset="-122"/>
                <a:cs typeface="Manrope" pitchFamily="34" charset="-120"/>
              </a:rPr>
              <a:t>← slides 4 &amp; 9</a:t>
            </a:r>
            <a:endParaRPr lang="en-US" sz="1100" dirty="0"/>
          </a:p>
        </p:txBody>
      </p:sp>
      <p:sp>
        <p:nvSpPr>
          <p:cNvPr id="22" name="Shape 20"/>
          <p:cNvSpPr/>
          <p:nvPr/>
        </p:nvSpPr>
        <p:spPr>
          <a:xfrm>
            <a:off x="9533900" y="1783080"/>
            <a:ext cx="2109155" cy="2377440"/>
          </a:xfrm>
          <a:prstGeom prst="rect">
            <a:avLst/>
          </a:prstGeom>
          <a:solidFill>
            <a:srgbClr val="2F5357"/>
          </a:solidFill>
          <a:ln/>
        </p:spPr>
      </p:sp>
      <p:sp>
        <p:nvSpPr>
          <p:cNvPr id="23" name="Text 21"/>
          <p:cNvSpPr txBox="1"/>
          <p:nvPr/>
        </p:nvSpPr>
        <p:spPr>
          <a:xfrm>
            <a:off x="9698492" y="1938528"/>
            <a:ext cx="1779971" cy="365760"/>
          </a:xfrm>
          <a:prstGeom prst="rect">
            <a:avLst/>
          </a:prstGeom>
          <a:noFill/>
          <a:ln/>
        </p:spPr>
        <p:txBody>
          <a:bodyPr wrap="square" lIns="0" tIns="0" rIns="0" bIns="0" rtlCol="0" anchor="t"/>
          <a:lstStyle/>
          <a:p>
            <a:pPr indent="0" marL="0">
              <a:buNone/>
            </a:pPr>
            <a:r>
              <a:rPr lang="en-US" sz="1700" b="1" dirty="0">
                <a:solidFill>
                  <a:srgbClr val="FF9100"/>
                </a:solidFill>
                <a:latin typeface="Epilogue" pitchFamily="34" charset="0"/>
                <a:ea typeface="Epilogue" pitchFamily="34" charset="-122"/>
                <a:cs typeface="Epilogue" pitchFamily="34" charset="-120"/>
              </a:rPr>
              <a:t>Test next</a:t>
            </a:r>
            <a:endParaRPr lang="en-US" sz="1700" dirty="0"/>
          </a:p>
        </p:txBody>
      </p:sp>
      <p:sp>
        <p:nvSpPr>
          <p:cNvPr id="24" name="Text 22"/>
          <p:cNvSpPr txBox="1"/>
          <p:nvPr/>
        </p:nvSpPr>
        <p:spPr>
          <a:xfrm>
            <a:off x="9698492" y="2395728"/>
            <a:ext cx="1779971" cy="1188720"/>
          </a:xfrm>
          <a:prstGeom prst="rect">
            <a:avLst/>
          </a:prstGeom>
          <a:noFill/>
          <a:ln/>
        </p:spPr>
        <p:txBody>
          <a:bodyPr wrap="square" lIns="0" tIns="0" rIns="0" bIns="0" rtlCol="0" anchor="t"/>
          <a:lstStyle/>
          <a:p>
            <a:pPr indent="0" marL="0">
              <a:buNone/>
            </a:pPr>
            <a:r>
              <a:rPr lang="en-US" sz="1400" dirty="0">
                <a:solidFill>
                  <a:srgbClr val="FFFAF5"/>
                </a:solidFill>
                <a:latin typeface="Manrope" pitchFamily="34" charset="0"/>
                <a:ea typeface="Manrope" pitchFamily="34" charset="-122"/>
                <a:cs typeface="Manrope" pitchFamily="34" charset="-120"/>
              </a:rPr>
              <a:t>Win-rate experiment: tailored PoC vs generic demo</a:t>
            </a:r>
            <a:endParaRPr lang="en-US" sz="1400" dirty="0"/>
          </a:p>
        </p:txBody>
      </p:sp>
      <p:sp>
        <p:nvSpPr>
          <p:cNvPr id="25" name="Text 23"/>
          <p:cNvSpPr txBox="1"/>
          <p:nvPr/>
        </p:nvSpPr>
        <p:spPr>
          <a:xfrm>
            <a:off x="9698492" y="3703320"/>
            <a:ext cx="1779971" cy="320040"/>
          </a:xfrm>
          <a:prstGeom prst="rect">
            <a:avLst/>
          </a:prstGeom>
          <a:noFill/>
          <a:ln/>
        </p:spPr>
        <p:txBody>
          <a:bodyPr wrap="square" lIns="0" tIns="0" rIns="0" bIns="0" rtlCol="0" anchor="t"/>
          <a:lstStyle/>
          <a:p>
            <a:pPr indent="0" marL="0">
              <a:buNone/>
            </a:pPr>
            <a:r>
              <a:rPr lang="en-US" sz="1100" dirty="0">
                <a:solidFill>
                  <a:srgbClr val="A9BEBC"/>
                </a:solidFill>
                <a:latin typeface="Manrope" pitchFamily="34" charset="0"/>
                <a:ea typeface="Manrope" pitchFamily="34" charset="-122"/>
                <a:cs typeface="Manrope" pitchFamily="34" charset="-120"/>
              </a:rPr>
              <a:t>← assumption A2, slide 4</a:t>
            </a:r>
            <a:endParaRPr lang="en-US" sz="1100" dirty="0"/>
          </a:p>
        </p:txBody>
      </p:sp>
      <p:sp>
        <p:nvSpPr>
          <p:cNvPr id="26" name="Shape 24"/>
          <p:cNvSpPr/>
          <p:nvPr/>
        </p:nvSpPr>
        <p:spPr>
          <a:xfrm>
            <a:off x="548640" y="4343400"/>
            <a:ext cx="11094415" cy="731520"/>
          </a:xfrm>
          <a:prstGeom prst="rect">
            <a:avLst/>
          </a:prstGeom>
          <a:solidFill>
            <a:srgbClr val="FFFAF5"/>
          </a:solidFill>
          <a:ln/>
        </p:spPr>
      </p:sp>
      <p:sp>
        <p:nvSpPr>
          <p:cNvPr id="27" name="Text 25"/>
          <p:cNvSpPr txBox="1"/>
          <p:nvPr/>
        </p:nvSpPr>
        <p:spPr>
          <a:xfrm>
            <a:off x="731520" y="4343400"/>
            <a:ext cx="10728655" cy="731520"/>
          </a:xfrm>
          <a:prstGeom prst="rect">
            <a:avLst/>
          </a:prstGeom>
          <a:noFill/>
          <a:ln/>
        </p:spPr>
        <p:txBody>
          <a:bodyPr wrap="square" lIns="0" tIns="0" rIns="0" bIns="0" rtlCol="0" anchor="ctr"/>
          <a:lstStyle/>
          <a:p>
            <a:pPr indent="0" marL="0">
              <a:buNone/>
            </a:pPr>
            <a:r>
              <a:rPr lang="en-US" sz="1100" b="1" spc="200" kern="0" dirty="0">
                <a:solidFill>
                  <a:srgbClr val="B8430F"/>
                </a:solidFill>
                <a:latin typeface="Manrope" pitchFamily="34" charset="0"/>
                <a:ea typeface="Manrope" pitchFamily="34" charset="-122"/>
                <a:cs typeface="Manrope" pitchFamily="34" charset="-120"/>
              </a:rPr>
              <a:t>DECISION RULE (slide 11)   </a:t>
            </a:r>
            <a:pPr indent="0" marL="0">
              <a:buNone/>
            </a:pPr>
            <a:r>
              <a:rPr lang="en-US" sz="1400" b="1" dirty="0">
                <a:solidFill>
                  <a:srgbClr val="264549"/>
                </a:solidFill>
                <a:latin typeface="Manrope" pitchFamily="34" charset="0"/>
                <a:ea typeface="Manrope" pitchFamily="34" charset="-122"/>
                <a:cs typeface="Manrope" pitchFamily="34" charset="-120"/>
              </a:rPr>
              <a:t>Scale if active time is ≥ [x]% lower, quality is not lower and there are 0 invented figures — otherwise adjust and retest.</a:t>
            </a:r>
            <a:endParaRPr lang="en-US" sz="1100" dirty="0"/>
          </a:p>
        </p:txBody>
      </p:sp>
      <p:sp>
        <p:nvSpPr>
          <p:cNvPr id="28" name="Text 26"/>
          <p:cNvSpPr txBox="1"/>
          <p:nvPr/>
        </p:nvSpPr>
        <p:spPr>
          <a:xfrm>
            <a:off x="548640" y="5212080"/>
            <a:ext cx="11094415" cy="320040"/>
          </a:xfrm>
          <a:prstGeom prst="rect">
            <a:avLst/>
          </a:prstGeom>
          <a:noFill/>
          <a:ln/>
        </p:spPr>
        <p:txBody>
          <a:bodyPr wrap="square" lIns="0" tIns="0" rIns="0" bIns="0" rtlCol="0" anchor="t"/>
          <a:lstStyle/>
          <a:p>
            <a:pPr indent="0" marL="0">
              <a:buNone/>
            </a:pPr>
            <a:r>
              <a:rPr lang="en-US" sz="1300" dirty="0">
                <a:solidFill>
                  <a:srgbClr val="C9D8D6"/>
                </a:solidFill>
                <a:latin typeface="Manrope" pitchFamily="34" charset="0"/>
                <a:ea typeface="Manrope" pitchFamily="34" charset="-122"/>
                <a:cs typeface="Manrope" pitchFamily="34" charset="-120"/>
              </a:rPr>
              <a:t>Adapt, don't reinvent (Furr &amp; Shipilov, 2019): the consultant stays central; AI removes the manual work.</a:t>
            </a:r>
            <a:endParaRPr lang="en-US" sz="1300" dirty="0"/>
          </a:p>
        </p:txBody>
      </p:sp>
      <p:sp>
        <p:nvSpPr>
          <p:cNvPr id="29" name="Shape 27"/>
          <p:cNvSpPr/>
          <p:nvPr/>
        </p:nvSpPr>
        <p:spPr>
          <a:xfrm>
            <a:off x="548640" y="5687568"/>
            <a:ext cx="11094415" cy="512064"/>
          </a:xfrm>
          <a:prstGeom prst="rect">
            <a:avLst/>
          </a:prstGeom>
          <a:solidFill>
            <a:srgbClr val="2F5357"/>
          </a:solidFill>
          <a:ln/>
        </p:spPr>
      </p:sp>
      <p:sp>
        <p:nvSpPr>
          <p:cNvPr id="30" name="Text 28"/>
          <p:cNvSpPr txBox="1"/>
          <p:nvPr/>
        </p:nvSpPr>
        <p:spPr>
          <a:xfrm>
            <a:off x="731520" y="5687568"/>
            <a:ext cx="10728655" cy="512064"/>
          </a:xfrm>
          <a:prstGeom prst="rect">
            <a:avLst/>
          </a:prstGeom>
          <a:noFill/>
          <a:ln/>
        </p:spPr>
        <p:txBody>
          <a:bodyPr wrap="square" lIns="0" tIns="0" rIns="0" bIns="0" rtlCol="0" anchor="ctr"/>
          <a:lstStyle/>
          <a:p>
            <a:pPr indent="0" marL="0">
              <a:buNone/>
            </a:pPr>
            <a:r>
              <a:rPr lang="en-US" sz="1200" b="1" spc="200" kern="0" dirty="0">
                <a:solidFill>
                  <a:srgbClr val="FF9100"/>
                </a:solidFill>
                <a:latin typeface="Manrope" pitchFamily="34" charset="0"/>
                <a:ea typeface="Manrope" pitchFamily="34" charset="-122"/>
                <a:cs typeface="Manrope" pitchFamily="34" charset="-120"/>
              </a:rPr>
              <a:t>OUR CHOICE   </a:t>
            </a:r>
            <a:pPr indent="0" marL="0">
              <a:buNone/>
            </a:pPr>
            <a:r>
              <a:rPr lang="en-US" sz="1400" b="1" dirty="0">
                <a:solidFill>
                  <a:srgbClr val="FFFAF5"/>
                </a:solidFill>
                <a:latin typeface="Manrope" pitchFamily="34" charset="0"/>
                <a:ea typeface="Manrope" pitchFamily="34" charset="-122"/>
                <a:cs typeface="Manrope" pitchFamily="34" charset="-120"/>
              </a:rPr>
              <a:t>Start small, gate on privacy, and let the evidence — not enthusiasm — decide the scale-up.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Strategy Lab — Datavance pre-sales copilot</dc:title>
  <dc:subject>PptxGenJS Presentation</dc:subject>
  <dc:creator>Team [names]</dc:creator>
  <cp:lastModifiedBy>Team [names]</cp:lastModifiedBy>
  <cp:revision>1</cp:revision>
  <dcterms:created xsi:type="dcterms:W3CDTF">2026-09-25T17:45:10Z</dcterms:created>
  <dcterms:modified xsi:type="dcterms:W3CDTF">2026-09-25T17:45:10Z</dcterms:modified>
</cp:coreProperties>
</file>